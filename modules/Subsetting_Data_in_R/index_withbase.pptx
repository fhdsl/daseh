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presProps" Target="presProps.xml" /><Relationship Id="rId1" Type="http://schemas.openxmlformats.org/officeDocument/2006/relationships/slideMaster" Target="slideMasters/slideMaster1.xml" /><Relationship Id="rId60" Type="http://schemas.openxmlformats.org/officeDocument/2006/relationships/tableStyles" Target="tableStyles.xml" /><Relationship Id="rId59" Type="http://schemas.openxmlformats.org/officeDocument/2006/relationships/theme" Target="theme/theme1.xml" /><Relationship Id="rId58"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an.rstudio.com/web/packages/dplyr/vignettes/" TargetMode="External" /><Relationship Id="rId3" Type="http://schemas.openxmlformats.org/officeDocument/2006/relationships/hyperlink" Target="https://htmlpreview.github.io/?https://raw.githubusercontent.com/STAT545-UBC/STAT545-UBC-original-website/master/block009_dplyr-intro.html" TargetMode="External" /><Relationship Id="rId4" Type="http://schemas.openxmlformats.org/officeDocument/2006/relationships/hyperlink" Target="https://www.datacamp.com/courses/dplyr-data-manipulation-r-tutorial"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index.html"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index.html"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index.html"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index.html"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Subsetting</a:t>
            </a:r>
            <a:r>
              <a:rPr/>
              <a:t> </a:t>
            </a:r>
            <a:r>
              <a:rPr/>
              <a:t>Data</a:t>
            </a:r>
            <a:r>
              <a:rPr/>
              <a:t> </a:t>
            </a:r>
            <a:r>
              <a:rPr/>
              <a:t>in</a:t>
            </a:r>
            <a:r>
              <a:rPr/>
              <a:t> </a:t>
            </a:r>
            <a:r>
              <a:rPr/>
              <a:t>R</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r>
              <a:rPr/>
              <a:t>Introduction</a:t>
            </a:r>
            <a:r>
              <a:rPr/>
              <a:t> </a:t>
            </a:r>
            <a:r>
              <a:rPr/>
              <a:t>to</a:t>
            </a:r>
            <a:r>
              <a:rPr/>
              <a:t> </a:t>
            </a:r>
            <a:r>
              <a:rPr/>
              <a:t>R</a:t>
            </a:r>
            <a:r>
              <a:rPr/>
              <a:t> </a:t>
            </a:r>
            <a:r>
              <a:rPr/>
              <a:t>for</a:t>
            </a:r>
            <a:r>
              <a:rPr/>
              <a:t> </a:t>
            </a:r>
            <a:r>
              <a:rPr/>
              <a:t>Public</a:t>
            </a:r>
            <a:r>
              <a:rPr/>
              <a:t> </a:t>
            </a:r>
            <a:r>
              <a:rPr/>
              <a:t>Health</a:t>
            </a:r>
            <a:r>
              <a:rPr/>
              <a:t> </a:t>
            </a:r>
            <a:r>
              <a:rPr/>
              <a:t>Researchers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Overview</a:t>
            </a:r>
          </a:p>
        </p:txBody>
      </p:sp>
      <p:sp>
        <p:nvSpPr>
          <p:cNvPr id="3" name="Content Placeholder 2"/>
          <p:cNvSpPr>
            <a:spLocks noGrp="1"/>
          </p:cNvSpPr>
          <p:nvPr>
            <p:ph idx="1"/>
          </p:nvPr>
        </p:nvSpPr>
        <p:spPr/>
        <p:txBody>
          <a:bodyPr/>
          <a:lstStyle/>
          <a:p>
            <a:pPr lvl="0" marL="0" indent="0">
              <a:buNone/>
            </a:pPr>
            <a:r>
              <a:rPr/>
              <a:t>We showed one way to read data into R using </a:t>
            </a:r>
            <a:r>
              <a:rPr>
                <a:latin typeface="Courier"/>
              </a:rPr>
              <a:t>read_csv</a:t>
            </a:r>
            <a:r>
              <a:rPr/>
              <a:t> and </a:t>
            </a:r>
            <a:r>
              <a:rPr>
                <a:latin typeface="Courier"/>
              </a:rPr>
              <a:t>read.csv</a:t>
            </a:r>
            <a:r>
              <a:rPr/>
              <a:t>. In this module, we will show you how to:</a:t>
            </a:r>
          </a:p>
          <a:p>
            <a:pPr lvl="1">
              <a:buAutoNum type="arabicPeriod"/>
            </a:pPr>
            <a:r>
              <a:rPr/>
              <a:t>Select specific elements of an object by an index or logical condition</a:t>
            </a:r>
          </a:p>
          <a:p>
            <a:pPr lvl="1">
              <a:buAutoNum type="arabicPeriod"/>
            </a:pPr>
            <a:r>
              <a:rPr/>
              <a:t>Renaming columns of a </a:t>
            </a:r>
            <a:r>
              <a:rPr>
                <a:latin typeface="Courier"/>
              </a:rPr>
              <a:t>data.frame</a:t>
            </a:r>
          </a:p>
          <a:p>
            <a:pPr lvl="1">
              <a:buAutoNum type="arabicPeriod"/>
            </a:pPr>
            <a:r>
              <a:rPr/>
              <a:t>Subset rows of a </a:t>
            </a:r>
            <a:r>
              <a:rPr>
                <a:latin typeface="Courier"/>
              </a:rPr>
              <a:t>data.frame</a:t>
            </a:r>
          </a:p>
          <a:p>
            <a:pPr lvl="1">
              <a:buAutoNum type="arabicPeriod"/>
            </a:pPr>
            <a:r>
              <a:rPr/>
              <a:t>Subset columns of a </a:t>
            </a:r>
            <a:r>
              <a:rPr>
                <a:latin typeface="Courier"/>
              </a:rPr>
              <a:t>data.frame</a:t>
            </a:r>
          </a:p>
          <a:p>
            <a:pPr lvl="1">
              <a:buAutoNum type="arabicPeriod"/>
            </a:pPr>
            <a:r>
              <a:rPr/>
              <a:t>Add/remove new columns to a </a:t>
            </a:r>
            <a:r>
              <a:rPr>
                <a:latin typeface="Courier"/>
              </a:rPr>
              <a:t>data.frame</a:t>
            </a:r>
          </a:p>
          <a:p>
            <a:pPr lvl="1">
              <a:buAutoNum type="arabicPeriod"/>
            </a:pPr>
            <a:r>
              <a:rPr/>
              <a:t>Order the columns of a </a:t>
            </a:r>
            <a:r>
              <a:rPr>
                <a:latin typeface="Courier"/>
              </a:rPr>
              <a:t>data.frame</a:t>
            </a:r>
          </a:p>
          <a:p>
            <a:pPr lvl="1">
              <a:buAutoNum type="arabicPeriod"/>
            </a:pPr>
            <a:r>
              <a:rPr/>
              <a:t>Order the rows of a </a:t>
            </a:r>
            <a:r>
              <a:rPr>
                <a:latin typeface="Courier"/>
              </a:rPr>
              <a:t>data.frame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Setup</a:t>
            </a:r>
          </a:p>
        </p:txBody>
      </p:sp>
      <p:sp>
        <p:nvSpPr>
          <p:cNvPr id="3" name="Content Placeholder 2"/>
          <p:cNvSpPr>
            <a:spLocks noGrp="1"/>
          </p:cNvSpPr>
          <p:nvPr>
            <p:ph idx="1"/>
          </p:nvPr>
        </p:nvSpPr>
        <p:spPr/>
        <p:txBody>
          <a:bodyPr/>
          <a:lstStyle/>
          <a:p>
            <a:pPr lvl="0" marL="0" indent="0">
              <a:buNone/>
            </a:pPr>
            <a:r>
              <a:rPr/>
              <a:t>We will show you how to do each operation in base R then show you how to use the </a:t>
            </a:r>
            <a:r>
              <a:rPr>
                <a:latin typeface="Courier"/>
              </a:rPr>
              <a:t>dplyr</a:t>
            </a:r>
            <a:r>
              <a:rPr/>
              <a:t> package to do the same operation (if applicable).</a:t>
            </a:r>
          </a:p>
          <a:p>
            <a:pPr lvl="0" marL="0" indent="0">
              <a:buNone/>
            </a:pPr>
            <a:r>
              <a:rPr/>
              <a:t>Many resources on how to use </a:t>
            </a:r>
            <a:r>
              <a:rPr>
                <a:latin typeface="Courier"/>
              </a:rPr>
              <a:t>dplyr</a:t>
            </a:r>
            <a:r>
              <a:rPr/>
              <a:t> exist and are straightforward:</a:t>
            </a:r>
          </a:p>
          <a:p>
            <a:pPr lvl="1"/>
            <a:r>
              <a:rPr>
                <a:hlinkClick r:id="rId2"/>
              </a:rPr>
              <a:t>https://cran.rstudio.com/web/packages/dplyr/vignettes/</a:t>
            </a:r>
          </a:p>
          <a:p>
            <a:pPr lvl="1"/>
            <a:r>
              <a:rPr>
                <a:hlinkClick r:id="rId3"/>
              </a:rPr>
              <a:t>Stat 545 at University of British Columbia - dplyr module</a:t>
            </a:r>
          </a:p>
          <a:p>
            <a:pPr lvl="1"/>
            <a:r>
              <a:rPr>
                <a:hlinkClick r:id="rId4"/>
              </a:rPr>
              <a:t>https://www.datacamp.com/courses/dplyr-data-manipulation-r-tutorial</a:t>
            </a:r>
          </a:p>
          <a:p>
            <a:pPr lvl="0" marL="0" indent="0">
              <a:buNone/>
            </a:pPr>
            <a:r>
              <a:rPr/>
              <a:t>The </a:t>
            </a:r>
            <a:r>
              <a:rPr>
                <a:latin typeface="Courier"/>
              </a:rPr>
              <a:t>dplyr</a:t>
            </a:r>
            <a:r>
              <a:rPr/>
              <a:t> package also interfaces well with tibbles.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Select</a:t>
            </a:r>
            <a:r>
              <a:rPr/>
              <a:t> </a:t>
            </a:r>
            <a:r>
              <a:rPr/>
              <a:t>specific</a:t>
            </a:r>
            <a:r>
              <a:rPr/>
              <a:t> </a:t>
            </a:r>
            <a:r>
              <a:rPr/>
              <a:t>elements</a:t>
            </a:r>
            <a:r>
              <a:rPr/>
              <a:t> </a:t>
            </a:r>
            <a:r>
              <a:rPr/>
              <a:t>using</a:t>
            </a:r>
            <a:r>
              <a:rPr/>
              <a:t> </a:t>
            </a:r>
            <a:r>
              <a:rPr/>
              <a:t>an</a:t>
            </a:r>
            <a:r>
              <a:rPr/>
              <a:t> </a:t>
            </a:r>
            <a:r>
              <a:rPr/>
              <a:t>index</a:t>
            </a:r>
          </a:p>
        </p:txBody>
      </p:sp>
      <p:sp>
        <p:nvSpPr>
          <p:cNvPr id="3" name="Content Placeholder 2"/>
          <p:cNvSpPr>
            <a:spLocks noGrp="1"/>
          </p:cNvSpPr>
          <p:nvPr>
            <p:ph idx="1"/>
          </p:nvPr>
        </p:nvSpPr>
        <p:spPr/>
        <p:txBody>
          <a:bodyPr/>
          <a:lstStyle/>
          <a:p>
            <a:pPr lvl="0" marL="0" indent="0">
              <a:buNone/>
            </a:pPr>
            <a:r>
              <a:rPr/>
              <a:t>Often you only want to look at subsets of a data set at any given time. As a review, elements of an R object are selected using the brackets (</a:t>
            </a:r>
            <a:r>
              <a:rPr>
                <a:latin typeface="Courier"/>
              </a:rPr>
              <a:t>[</a:t>
            </a:r>
            <a:r>
              <a:rPr/>
              <a:t> and </a:t>
            </a:r>
            <a:r>
              <a:rPr>
                <a:latin typeface="Courier"/>
              </a:rPr>
              <a:t>]</a:t>
            </a:r>
            <a:r>
              <a:rPr/>
              <a:t>).</a:t>
            </a:r>
          </a:p>
          <a:p>
            <a:pPr lvl="0" marL="0" indent="0">
              <a:buNone/>
            </a:pPr>
            <a:r>
              <a:rPr/>
              <a:t>For example, </a:t>
            </a:r>
            <a:r>
              <a:rPr>
                <a:latin typeface="Courier"/>
              </a:rPr>
              <a:t>x</a:t>
            </a:r>
            <a:r>
              <a:rPr/>
              <a:t> is a vector of numbers and we can select the second element of </a:t>
            </a:r>
            <a:r>
              <a:rPr>
                <a:latin typeface="Courier"/>
              </a:rPr>
              <a:t>x</a:t>
            </a:r>
            <a:r>
              <a:rPr/>
              <a:t> using the brackets and an index (2):</a:t>
            </a:r>
          </a:p>
          <a:p>
            <a:pPr lvl="0" indent="0">
              <a:buNone/>
            </a:pPr>
            <a:r>
              <a:rPr>
                <a:latin typeface="Courier"/>
              </a:rPr>
              <a:t>x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A070"/>
                </a:solidFill>
                <a:latin typeface="Courier"/>
              </a:rPr>
              <a:t>1</a:t>
            </a:r>
            <a:r>
              <a:rPr>
                <a:latin typeface="Courier"/>
              </a:rPr>
              <a:t>, </a:t>
            </a:r>
            <a:r>
              <a:rPr>
                <a:solidFill>
                  <a:srgbClr val="40A070"/>
                </a:solidFill>
                <a:latin typeface="Courier"/>
              </a:rPr>
              <a:t>4</a:t>
            </a:r>
            <a:r>
              <a:rPr>
                <a:latin typeface="Courier"/>
              </a:rPr>
              <a:t>, </a:t>
            </a:r>
            <a:r>
              <a:rPr>
                <a:solidFill>
                  <a:srgbClr val="40A070"/>
                </a:solidFill>
                <a:latin typeface="Courier"/>
              </a:rPr>
              <a:t>2</a:t>
            </a:r>
            <a:r>
              <a:rPr>
                <a:latin typeface="Courier"/>
              </a:rPr>
              <a:t>, </a:t>
            </a:r>
            <a:r>
              <a:rPr>
                <a:solidFill>
                  <a:srgbClr val="40A070"/>
                </a:solidFill>
                <a:latin typeface="Courier"/>
              </a:rPr>
              <a:t>8</a:t>
            </a:r>
            <a:r>
              <a:rPr>
                <a:latin typeface="Courier"/>
              </a:rPr>
              <a:t>, </a:t>
            </a:r>
            <a:r>
              <a:rPr>
                <a:solidFill>
                  <a:srgbClr val="40A070"/>
                </a:solidFill>
                <a:latin typeface="Courier"/>
              </a:rPr>
              <a:t>10</a:t>
            </a:r>
            <a:r>
              <a:rPr>
                <a:latin typeface="Courier"/>
              </a:rPr>
              <a:t>)</a:t>
            </a:r>
            <a:br/>
            <a:r>
              <a:rPr>
                <a:latin typeface="Courier"/>
              </a:rPr>
              <a:t>x[</a:t>
            </a:r>
            <a:r>
              <a:rPr>
                <a:solidFill>
                  <a:srgbClr val="40A070"/>
                </a:solidFill>
                <a:latin typeface="Courier"/>
              </a:rPr>
              <a:t>2</a:t>
            </a:r>
            <a:r>
              <a:rPr>
                <a:latin typeface="Courier"/>
              </a:rPr>
              <a:t>]</a:t>
            </a:r>
          </a:p>
          <a:p>
            <a:pPr lvl="0" indent="0">
              <a:buNone/>
            </a:pPr>
            <a:r>
              <a:rPr>
                <a:latin typeface="Courier"/>
              </a:rPr>
              <a:t>[1] 4</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Select</a:t>
            </a:r>
            <a:r>
              <a:rPr/>
              <a:t> </a:t>
            </a:r>
            <a:r>
              <a:rPr/>
              <a:t>specific</a:t>
            </a:r>
            <a:r>
              <a:rPr/>
              <a:t> </a:t>
            </a:r>
            <a:r>
              <a:rPr/>
              <a:t>elements</a:t>
            </a:r>
            <a:r>
              <a:rPr/>
              <a:t> </a:t>
            </a:r>
            <a:r>
              <a:rPr/>
              <a:t>using</a:t>
            </a:r>
            <a:r>
              <a:rPr/>
              <a:t> </a:t>
            </a:r>
            <a:r>
              <a:rPr/>
              <a:t>an</a:t>
            </a:r>
            <a:r>
              <a:rPr/>
              <a:t> </a:t>
            </a:r>
            <a:r>
              <a:rPr/>
              <a:t>index</a:t>
            </a:r>
          </a:p>
        </p:txBody>
      </p:sp>
      <p:sp>
        <p:nvSpPr>
          <p:cNvPr id="3" name="Content Placeholder 2"/>
          <p:cNvSpPr>
            <a:spLocks noGrp="1"/>
          </p:cNvSpPr>
          <p:nvPr>
            <p:ph idx="1"/>
          </p:nvPr>
        </p:nvSpPr>
        <p:spPr/>
        <p:txBody>
          <a:bodyPr/>
          <a:lstStyle/>
          <a:p>
            <a:pPr lvl="0" marL="0" indent="0">
              <a:buNone/>
            </a:pPr>
            <a:r>
              <a:rPr/>
              <a:t>We can select the fifth or second AND fifth elements below:</a:t>
            </a:r>
          </a:p>
          <a:p>
            <a:pPr lvl="0" indent="0">
              <a:buNone/>
            </a:pPr>
            <a:r>
              <a:rPr>
                <a:latin typeface="Courier"/>
              </a:rPr>
              <a:t>x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A070"/>
                </a:solidFill>
                <a:latin typeface="Courier"/>
              </a:rPr>
              <a:t>1</a:t>
            </a:r>
            <a:r>
              <a:rPr>
                <a:latin typeface="Courier"/>
              </a:rPr>
              <a:t>, </a:t>
            </a:r>
            <a:r>
              <a:rPr>
                <a:solidFill>
                  <a:srgbClr val="40A070"/>
                </a:solidFill>
                <a:latin typeface="Courier"/>
              </a:rPr>
              <a:t>2</a:t>
            </a:r>
            <a:r>
              <a:rPr>
                <a:latin typeface="Courier"/>
              </a:rPr>
              <a:t>, </a:t>
            </a:r>
            <a:r>
              <a:rPr>
                <a:solidFill>
                  <a:srgbClr val="40A070"/>
                </a:solidFill>
                <a:latin typeface="Courier"/>
              </a:rPr>
              <a:t>4</a:t>
            </a:r>
            <a:r>
              <a:rPr>
                <a:latin typeface="Courier"/>
              </a:rPr>
              <a:t>, </a:t>
            </a:r>
            <a:r>
              <a:rPr>
                <a:solidFill>
                  <a:srgbClr val="40A070"/>
                </a:solidFill>
                <a:latin typeface="Courier"/>
              </a:rPr>
              <a:t>8</a:t>
            </a:r>
            <a:r>
              <a:rPr>
                <a:latin typeface="Courier"/>
              </a:rPr>
              <a:t>, </a:t>
            </a:r>
            <a:r>
              <a:rPr>
                <a:solidFill>
                  <a:srgbClr val="40A070"/>
                </a:solidFill>
                <a:latin typeface="Courier"/>
              </a:rPr>
              <a:t>10</a:t>
            </a:r>
            <a:r>
              <a:rPr>
                <a:latin typeface="Courier"/>
              </a:rPr>
              <a:t>)</a:t>
            </a:r>
            <a:br/>
            <a:r>
              <a:rPr>
                <a:latin typeface="Courier"/>
              </a:rPr>
              <a:t>x[</a:t>
            </a:r>
            <a:r>
              <a:rPr>
                <a:solidFill>
                  <a:srgbClr val="40A070"/>
                </a:solidFill>
                <a:latin typeface="Courier"/>
              </a:rPr>
              <a:t>5</a:t>
            </a:r>
            <a:r>
              <a:rPr>
                <a:latin typeface="Courier"/>
              </a:rPr>
              <a:t>]</a:t>
            </a:r>
          </a:p>
          <a:p>
            <a:pPr lvl="0" indent="0">
              <a:buNone/>
            </a:pPr>
            <a:r>
              <a:rPr>
                <a:latin typeface="Courier"/>
              </a:rPr>
              <a:t>[1] 10</a:t>
            </a:r>
          </a:p>
          <a:p>
            <a:pPr lvl="0" indent="0">
              <a:buNone/>
            </a:pPr>
            <a:r>
              <a:rPr>
                <a:latin typeface="Courier"/>
              </a:rPr>
              <a:t>x[</a:t>
            </a:r>
            <a:r>
              <a:rPr>
                <a:solidFill>
                  <a:srgbClr val="06287E"/>
                </a:solidFill>
                <a:latin typeface="Courier"/>
              </a:rPr>
              <a:t>c</a:t>
            </a:r>
            <a:r>
              <a:rPr>
                <a:latin typeface="Courier"/>
              </a:rPr>
              <a:t>(</a:t>
            </a:r>
            <a:r>
              <a:rPr>
                <a:solidFill>
                  <a:srgbClr val="40A070"/>
                </a:solidFill>
                <a:latin typeface="Courier"/>
              </a:rPr>
              <a:t>2</a:t>
            </a:r>
            <a:r>
              <a:rPr>
                <a:latin typeface="Courier"/>
              </a:rPr>
              <a:t>, </a:t>
            </a:r>
            <a:r>
              <a:rPr>
                <a:solidFill>
                  <a:srgbClr val="40A070"/>
                </a:solidFill>
                <a:latin typeface="Courier"/>
              </a:rPr>
              <a:t>5</a:t>
            </a:r>
            <a:r>
              <a:rPr>
                <a:latin typeface="Courier"/>
              </a:rPr>
              <a:t>)]</a:t>
            </a:r>
          </a:p>
          <a:p>
            <a:pPr lvl="0" indent="0">
              <a:buNone/>
            </a:pPr>
            <a:r>
              <a:rPr>
                <a:latin typeface="Courier"/>
              </a:rPr>
              <a:t>[1]  2 10</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Subsetting</a:t>
            </a:r>
            <a:r>
              <a:rPr/>
              <a:t> </a:t>
            </a:r>
            <a:r>
              <a:rPr/>
              <a:t>by</a:t>
            </a:r>
            <a:r>
              <a:rPr/>
              <a:t> </a:t>
            </a:r>
            <a:r>
              <a:rPr/>
              <a:t>deletion</a:t>
            </a:r>
            <a:r>
              <a:rPr/>
              <a:t> </a:t>
            </a:r>
            <a:r>
              <a:rPr/>
              <a:t>of</a:t>
            </a:r>
            <a:r>
              <a:rPr/>
              <a:t> </a:t>
            </a:r>
            <a:r>
              <a:rPr/>
              <a:t>entries</a:t>
            </a:r>
          </a:p>
        </p:txBody>
      </p:sp>
      <p:sp>
        <p:nvSpPr>
          <p:cNvPr id="3" name="Content Placeholder 2"/>
          <p:cNvSpPr>
            <a:spLocks noGrp="1"/>
          </p:cNvSpPr>
          <p:nvPr>
            <p:ph idx="1"/>
          </p:nvPr>
        </p:nvSpPr>
        <p:spPr/>
        <p:txBody>
          <a:bodyPr/>
          <a:lstStyle/>
          <a:p>
            <a:pPr lvl="0" marL="0" indent="0">
              <a:buNone/>
            </a:pPr>
            <a:r>
              <a:rPr/>
              <a:t>You can put a minus (</a:t>
            </a:r>
            <a:r>
              <a:rPr>
                <a:latin typeface="Courier"/>
              </a:rPr>
              <a:t>-</a:t>
            </a:r>
            <a:r>
              <a:rPr/>
              <a:t>) before integers inside brackets to remove these indices from the data.</a:t>
            </a:r>
          </a:p>
          <a:p>
            <a:pPr lvl="0" indent="0">
              <a:buNone/>
            </a:pPr>
            <a:r>
              <a:rPr>
                <a:latin typeface="Courier"/>
              </a:rPr>
              <a:t>x[</a:t>
            </a:r>
            <a:r>
              <a:rPr>
                <a:solidFill>
                  <a:srgbClr val="4070A0"/>
                </a:solidFill>
                <a:latin typeface="Courier"/>
              </a:rPr>
              <a:t>-</a:t>
            </a:r>
            <a:r>
              <a:rPr>
                <a:solidFill>
                  <a:srgbClr val="40A070"/>
                </a:solidFill>
                <a:latin typeface="Courier"/>
              </a:rPr>
              <a:t>2</a:t>
            </a:r>
            <a:r>
              <a:rPr>
                <a:latin typeface="Courier"/>
              </a:rPr>
              <a:t>] </a:t>
            </a:r>
            <a:r>
              <a:rPr i="1">
                <a:solidFill>
                  <a:srgbClr val="60A0B0"/>
                </a:solidFill>
                <a:latin typeface="Courier"/>
              </a:rPr>
              <a:t># all but the second</a:t>
            </a:r>
          </a:p>
          <a:p>
            <a:pPr lvl="0" indent="0">
              <a:buNone/>
            </a:pPr>
            <a:r>
              <a:rPr>
                <a:latin typeface="Courier"/>
              </a:rPr>
              <a:t>[1]  1  4  8 10</a:t>
            </a:r>
          </a:p>
          <a:p>
            <a:pPr lvl="0" marL="0" indent="0">
              <a:buNone/>
            </a:pPr>
            <a:r>
              <a:rPr/>
              <a:t>Note that you have to be careful with this syntax when dropping more than 1 element:</a:t>
            </a:r>
          </a:p>
          <a:p>
            <a:pPr lvl="0" indent="0">
              <a:buNone/>
            </a:pPr>
            <a:r>
              <a:rPr>
                <a:latin typeface="Courier"/>
              </a:rPr>
              <a:t>x[</a:t>
            </a:r>
            <a:r>
              <a:rPr>
                <a:solidFill>
                  <a:srgbClr val="4070A0"/>
                </a:solidFill>
                <a:latin typeface="Courier"/>
              </a:rPr>
              <a:t>-</a:t>
            </a:r>
            <a:r>
              <a:rPr>
                <a:solidFill>
                  <a:srgbClr val="06287E"/>
                </a:solidFill>
                <a:latin typeface="Courier"/>
              </a:rPr>
              <a:t>c</a:t>
            </a:r>
            <a:r>
              <a:rPr>
                <a:latin typeface="Courier"/>
              </a:rPr>
              <a:t>(</a:t>
            </a:r>
            <a:r>
              <a:rPr>
                <a:solidFill>
                  <a:srgbClr val="40A070"/>
                </a:solidFill>
                <a:latin typeface="Courier"/>
              </a:rPr>
              <a:t>1</a:t>
            </a:r>
            <a:r>
              <a:rPr>
                <a:latin typeface="Courier"/>
              </a:rPr>
              <a:t>, </a:t>
            </a:r>
            <a:r>
              <a:rPr>
                <a:solidFill>
                  <a:srgbClr val="40A070"/>
                </a:solidFill>
                <a:latin typeface="Courier"/>
              </a:rPr>
              <a:t>2</a:t>
            </a:r>
            <a:r>
              <a:rPr>
                <a:latin typeface="Courier"/>
              </a:rPr>
              <a:t>, </a:t>
            </a:r>
            <a:r>
              <a:rPr>
                <a:solidFill>
                  <a:srgbClr val="40A070"/>
                </a:solidFill>
                <a:latin typeface="Courier"/>
              </a:rPr>
              <a:t>3</a:t>
            </a:r>
            <a:r>
              <a:rPr>
                <a:latin typeface="Courier"/>
              </a:rPr>
              <a:t>)] </a:t>
            </a:r>
            <a:r>
              <a:rPr i="1">
                <a:solidFill>
                  <a:srgbClr val="60A0B0"/>
                </a:solidFill>
                <a:latin typeface="Courier"/>
              </a:rPr>
              <a:t># drop first 3</a:t>
            </a:r>
          </a:p>
          <a:p>
            <a:pPr lvl="0" indent="0">
              <a:buNone/>
            </a:pPr>
            <a:r>
              <a:rPr>
                <a:latin typeface="Courier"/>
              </a:rPr>
              <a:t>[1]  8 10</a:t>
            </a:r>
          </a:p>
          <a:p>
            <a:pPr lvl="0" indent="0">
              <a:buNone/>
            </a:pPr>
            <a:r>
              <a:rPr i="1">
                <a:solidFill>
                  <a:srgbClr val="60A0B0"/>
                </a:solidFill>
                <a:latin typeface="Courier"/>
              </a:rPr>
              <a:t># x[-1:3] # shorthand. R sees as -1 to 3</a:t>
            </a:r>
            <a:br/>
            <a:r>
              <a:rPr>
                <a:latin typeface="Courier"/>
              </a:rPr>
              <a:t>x[</a:t>
            </a:r>
            <a:r>
              <a:rPr>
                <a:solidFill>
                  <a:srgbClr val="4070A0"/>
                </a:solidFill>
                <a:latin typeface="Courier"/>
              </a:rPr>
              <a:t>-</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3</a:t>
            </a:r>
            <a:r>
              <a:rPr>
                <a:latin typeface="Courier"/>
              </a:rPr>
              <a:t>)] </a:t>
            </a:r>
            <a:r>
              <a:rPr i="1">
                <a:solidFill>
                  <a:srgbClr val="60A0B0"/>
                </a:solidFill>
                <a:latin typeface="Courier"/>
              </a:rPr>
              <a:t># needs parentheses</a:t>
            </a:r>
          </a:p>
          <a:p>
            <a:pPr lvl="0" indent="0">
              <a:buNone/>
            </a:pPr>
            <a:r>
              <a:rPr>
                <a:latin typeface="Courier"/>
              </a:rPr>
              <a:t>[1]  8 10</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Select</a:t>
            </a:r>
            <a:r>
              <a:rPr/>
              <a:t> </a:t>
            </a:r>
            <a:r>
              <a:rPr/>
              <a:t>specific</a:t>
            </a:r>
            <a:r>
              <a:rPr/>
              <a:t> </a:t>
            </a:r>
            <a:r>
              <a:rPr/>
              <a:t>elements</a:t>
            </a:r>
            <a:r>
              <a:rPr/>
              <a:t> </a:t>
            </a:r>
            <a:r>
              <a:rPr/>
              <a:t>using</a:t>
            </a:r>
            <a:r>
              <a:rPr/>
              <a:t> </a:t>
            </a:r>
            <a:r>
              <a:rPr/>
              <a:t>logical</a:t>
            </a:r>
            <a:r>
              <a:rPr/>
              <a:t> </a:t>
            </a:r>
            <a:r>
              <a:rPr/>
              <a:t>operators</a:t>
            </a:r>
          </a:p>
        </p:txBody>
      </p:sp>
      <p:sp>
        <p:nvSpPr>
          <p:cNvPr id="3" name="Content Placeholder 2"/>
          <p:cNvSpPr>
            <a:spLocks noGrp="1"/>
          </p:cNvSpPr>
          <p:nvPr>
            <p:ph idx="1"/>
          </p:nvPr>
        </p:nvSpPr>
        <p:spPr/>
        <p:txBody>
          <a:bodyPr/>
          <a:lstStyle/>
          <a:p>
            <a:pPr lvl="0" marL="0" indent="0">
              <a:buNone/>
            </a:pPr>
            <a:r>
              <a:rPr/>
              <a:t>What about selecting rows based on the values of two variables? We use logical statements. Here we select only elements of </a:t>
            </a:r>
            <a:r>
              <a:rPr>
                <a:latin typeface="Courier"/>
              </a:rPr>
              <a:t>x</a:t>
            </a:r>
            <a:r>
              <a:rPr/>
              <a:t> greater than 2:</a:t>
            </a:r>
          </a:p>
          <a:p>
            <a:pPr lvl="0" indent="0">
              <a:buNone/>
            </a:pPr>
            <a:r>
              <a:rPr>
                <a:latin typeface="Courier"/>
              </a:rPr>
              <a:t>x</a:t>
            </a:r>
          </a:p>
          <a:p>
            <a:pPr lvl="0" indent="0">
              <a:buNone/>
            </a:pPr>
            <a:r>
              <a:rPr>
                <a:latin typeface="Courier"/>
              </a:rPr>
              <a:t>[1]  1  2  4  8 10</a:t>
            </a:r>
          </a:p>
          <a:p>
            <a:pPr lvl="0" indent="0">
              <a:buNone/>
            </a:pPr>
            <a:r>
              <a:rPr>
                <a:latin typeface="Courier"/>
              </a:rPr>
              <a:t>x </a:t>
            </a:r>
            <a:r>
              <a:rPr>
                <a:solidFill>
                  <a:srgbClr val="4070A0"/>
                </a:solidFill>
                <a:latin typeface="Courier"/>
              </a:rPr>
              <a:t>&gt;</a:t>
            </a:r>
            <a:r>
              <a:rPr>
                <a:latin typeface="Courier"/>
              </a:rPr>
              <a:t> </a:t>
            </a:r>
            <a:r>
              <a:rPr>
                <a:solidFill>
                  <a:srgbClr val="40A070"/>
                </a:solidFill>
                <a:latin typeface="Courier"/>
              </a:rPr>
              <a:t>2</a:t>
            </a:r>
          </a:p>
          <a:p>
            <a:pPr lvl="0" indent="0">
              <a:buNone/>
            </a:pPr>
            <a:r>
              <a:rPr>
                <a:latin typeface="Courier"/>
              </a:rPr>
              <a:t>[1] FALSE FALSE  TRUE  TRUE  TRUE</a:t>
            </a:r>
          </a:p>
          <a:p>
            <a:pPr lvl="0" indent="0">
              <a:buNone/>
            </a:pPr>
            <a:r>
              <a:rPr>
                <a:latin typeface="Courier"/>
              </a:rPr>
              <a:t>x[x </a:t>
            </a:r>
            <a:r>
              <a:rPr>
                <a:solidFill>
                  <a:srgbClr val="4070A0"/>
                </a:solidFill>
                <a:latin typeface="Courier"/>
              </a:rPr>
              <a:t>&gt;</a:t>
            </a:r>
            <a:r>
              <a:rPr>
                <a:latin typeface="Courier"/>
              </a:rPr>
              <a:t> </a:t>
            </a:r>
            <a:r>
              <a:rPr>
                <a:solidFill>
                  <a:srgbClr val="40A070"/>
                </a:solidFill>
                <a:latin typeface="Courier"/>
              </a:rPr>
              <a:t>2</a:t>
            </a:r>
            <a:r>
              <a:rPr>
                <a:latin typeface="Courier"/>
              </a:rPr>
              <a:t>]</a:t>
            </a:r>
          </a:p>
          <a:p>
            <a:pPr lvl="0" indent="0">
              <a:buNone/>
            </a:pPr>
            <a:r>
              <a:rPr>
                <a:latin typeface="Courier"/>
              </a:rPr>
              <a:t>[1]  4  8 10</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Select</a:t>
            </a:r>
            <a:r>
              <a:rPr/>
              <a:t> </a:t>
            </a:r>
            <a:r>
              <a:rPr/>
              <a:t>specific</a:t>
            </a:r>
            <a:r>
              <a:rPr/>
              <a:t> </a:t>
            </a:r>
            <a:r>
              <a:rPr/>
              <a:t>elements</a:t>
            </a:r>
            <a:r>
              <a:rPr/>
              <a:t> </a:t>
            </a:r>
            <a:r>
              <a:rPr/>
              <a:t>using</a:t>
            </a:r>
            <a:r>
              <a:rPr/>
              <a:t> </a:t>
            </a:r>
            <a:r>
              <a:rPr/>
              <a:t>logical</a:t>
            </a:r>
            <a:r>
              <a:rPr/>
              <a:t> </a:t>
            </a:r>
            <a:r>
              <a:rPr/>
              <a:t>operators</a:t>
            </a:r>
          </a:p>
        </p:txBody>
      </p:sp>
      <p:sp>
        <p:nvSpPr>
          <p:cNvPr id="3" name="Content Placeholder 2"/>
          <p:cNvSpPr>
            <a:spLocks noGrp="1"/>
          </p:cNvSpPr>
          <p:nvPr>
            <p:ph idx="1"/>
          </p:nvPr>
        </p:nvSpPr>
        <p:spPr/>
        <p:txBody>
          <a:bodyPr/>
          <a:lstStyle/>
          <a:p>
            <a:pPr lvl="0" marL="0" indent="0">
              <a:buNone/>
            </a:pPr>
            <a:r>
              <a:rPr/>
              <a:t>You can have multiple logical conditions using the following:</a:t>
            </a:r>
          </a:p>
          <a:p>
            <a:pPr lvl="1"/>
            <a:r>
              <a:rPr>
                <a:latin typeface="Courier"/>
              </a:rPr>
              <a:t>&amp;</a:t>
            </a:r>
            <a:r>
              <a:rPr/>
              <a:t> : AND</a:t>
            </a:r>
          </a:p>
          <a:p>
            <a:pPr lvl="1"/>
            <a:r>
              <a:rPr>
                <a:latin typeface="Courier"/>
              </a:rPr>
              <a:t>|</a:t>
            </a:r>
            <a:r>
              <a:rPr/>
              <a:t> : OR</a:t>
            </a:r>
          </a:p>
          <a:p>
            <a:pPr lvl="0" indent="0">
              <a:buNone/>
            </a:pPr>
            <a:r>
              <a:rPr>
                <a:latin typeface="Courier"/>
              </a:rPr>
              <a:t>x[x </a:t>
            </a:r>
            <a:r>
              <a:rPr>
                <a:solidFill>
                  <a:srgbClr val="4070A0"/>
                </a:solidFill>
                <a:latin typeface="Courier"/>
              </a:rPr>
              <a:t>&gt;</a:t>
            </a:r>
            <a:r>
              <a:rPr>
                <a:latin typeface="Courier"/>
              </a:rPr>
              <a:t> </a:t>
            </a:r>
            <a:r>
              <a:rPr>
                <a:solidFill>
                  <a:srgbClr val="40A070"/>
                </a:solidFill>
                <a:latin typeface="Courier"/>
              </a:rPr>
              <a:t>2</a:t>
            </a:r>
            <a:r>
              <a:rPr>
                <a:latin typeface="Courier"/>
              </a:rPr>
              <a:t> </a:t>
            </a:r>
            <a:r>
              <a:rPr>
                <a:solidFill>
                  <a:srgbClr val="4070A0"/>
                </a:solidFill>
                <a:latin typeface="Courier"/>
              </a:rPr>
              <a:t>&amp;</a:t>
            </a:r>
            <a:r>
              <a:rPr>
                <a:latin typeface="Courier"/>
              </a:rPr>
              <a:t> x </a:t>
            </a:r>
            <a:r>
              <a:rPr>
                <a:solidFill>
                  <a:srgbClr val="4070A0"/>
                </a:solidFill>
                <a:latin typeface="Courier"/>
              </a:rPr>
              <a:t>&lt;</a:t>
            </a:r>
            <a:r>
              <a:rPr>
                <a:latin typeface="Courier"/>
              </a:rPr>
              <a:t> </a:t>
            </a:r>
            <a:r>
              <a:rPr>
                <a:solidFill>
                  <a:srgbClr val="40A070"/>
                </a:solidFill>
                <a:latin typeface="Courier"/>
              </a:rPr>
              <a:t>5</a:t>
            </a:r>
            <a:r>
              <a:rPr>
                <a:latin typeface="Courier"/>
              </a:rPr>
              <a:t>]</a:t>
            </a:r>
          </a:p>
          <a:p>
            <a:pPr lvl="0" indent="0">
              <a:buNone/>
            </a:pPr>
            <a:r>
              <a:rPr>
                <a:latin typeface="Courier"/>
              </a:rPr>
              <a:t>[1] 4</a:t>
            </a:r>
          </a:p>
          <a:p>
            <a:pPr lvl="0" indent="0">
              <a:buNone/>
            </a:pPr>
            <a:r>
              <a:rPr>
                <a:latin typeface="Courier"/>
              </a:rPr>
              <a:t>x[x </a:t>
            </a:r>
            <a:r>
              <a:rPr>
                <a:solidFill>
                  <a:srgbClr val="4070A0"/>
                </a:solidFill>
                <a:latin typeface="Courier"/>
              </a:rPr>
              <a:t>&gt;</a:t>
            </a:r>
            <a:r>
              <a:rPr>
                <a:latin typeface="Courier"/>
              </a:rPr>
              <a:t> </a:t>
            </a:r>
            <a:r>
              <a:rPr>
                <a:solidFill>
                  <a:srgbClr val="40A070"/>
                </a:solidFill>
                <a:latin typeface="Courier"/>
              </a:rPr>
              <a:t>5</a:t>
            </a:r>
            <a:r>
              <a:rPr>
                <a:latin typeface="Courier"/>
              </a:rPr>
              <a:t> </a:t>
            </a:r>
            <a:r>
              <a:rPr>
                <a:solidFill>
                  <a:srgbClr val="4070A0"/>
                </a:solidFill>
                <a:latin typeface="Courier"/>
              </a:rPr>
              <a:t>|</a:t>
            </a:r>
            <a:r>
              <a:rPr>
                <a:latin typeface="Courier"/>
              </a:rPr>
              <a:t> x </a:t>
            </a:r>
            <a:r>
              <a:rPr>
                <a:solidFill>
                  <a:srgbClr val="4070A0"/>
                </a:solidFill>
                <a:latin typeface="Courier"/>
              </a:rPr>
              <a:t>==</a:t>
            </a:r>
            <a:r>
              <a:rPr>
                <a:latin typeface="Courier"/>
              </a:rPr>
              <a:t> </a:t>
            </a:r>
            <a:r>
              <a:rPr>
                <a:solidFill>
                  <a:srgbClr val="40A070"/>
                </a:solidFill>
                <a:latin typeface="Courier"/>
              </a:rPr>
              <a:t>2</a:t>
            </a:r>
            <a:r>
              <a:rPr>
                <a:latin typeface="Courier"/>
              </a:rPr>
              <a:t>]</a:t>
            </a:r>
          </a:p>
          <a:p>
            <a:pPr lvl="0" indent="0">
              <a:buNone/>
            </a:pPr>
            <a:r>
              <a:rPr>
                <a:latin typeface="Courier"/>
              </a:rPr>
              <a:t>[1]  2  8 10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which</a:t>
            </a:r>
            <a:r>
              <a:rPr/>
              <a:t> </a:t>
            </a:r>
            <a:r>
              <a:rPr/>
              <a:t>function</a:t>
            </a:r>
          </a:p>
        </p:txBody>
      </p:sp>
      <p:sp>
        <p:nvSpPr>
          <p:cNvPr id="3" name="Content Placeholder 2"/>
          <p:cNvSpPr>
            <a:spLocks noGrp="1"/>
          </p:cNvSpPr>
          <p:nvPr>
            <p:ph idx="1"/>
          </p:nvPr>
        </p:nvSpPr>
        <p:spPr/>
        <p:txBody>
          <a:bodyPr/>
          <a:lstStyle/>
          <a:p>
            <a:pPr lvl="0" marL="0" indent="0">
              <a:buNone/>
            </a:pPr>
            <a:r>
              <a:rPr/>
              <a:t>The </a:t>
            </a:r>
            <a:r>
              <a:rPr>
                <a:latin typeface="Courier"/>
              </a:rPr>
              <a:t>which</a:t>
            </a:r>
            <a:r>
              <a:rPr/>
              <a:t> functions takes in logical vectors and returns the index for the elements where the logical value is </a:t>
            </a:r>
            <a:r>
              <a:rPr>
                <a:latin typeface="Courier"/>
              </a:rPr>
              <a:t>TRUE</a:t>
            </a:r>
            <a:r>
              <a:rPr/>
              <a:t>.</a:t>
            </a:r>
          </a:p>
          <a:p>
            <a:pPr lvl="0" indent="0">
              <a:buNone/>
            </a:pPr>
            <a:r>
              <a:rPr>
                <a:solidFill>
                  <a:srgbClr val="06287E"/>
                </a:solidFill>
                <a:latin typeface="Courier"/>
              </a:rPr>
              <a:t>which</a:t>
            </a:r>
            <a:r>
              <a:rPr>
                <a:latin typeface="Courier"/>
              </a:rPr>
              <a:t>(x </a:t>
            </a:r>
            <a:r>
              <a:rPr>
                <a:solidFill>
                  <a:srgbClr val="4070A0"/>
                </a:solidFill>
                <a:latin typeface="Courier"/>
              </a:rPr>
              <a:t>&gt;</a:t>
            </a:r>
            <a:r>
              <a:rPr>
                <a:latin typeface="Courier"/>
              </a:rPr>
              <a:t> </a:t>
            </a:r>
            <a:r>
              <a:rPr>
                <a:solidFill>
                  <a:srgbClr val="40A070"/>
                </a:solidFill>
                <a:latin typeface="Courier"/>
              </a:rPr>
              <a:t>5</a:t>
            </a:r>
            <a:r>
              <a:rPr>
                <a:latin typeface="Courier"/>
              </a:rPr>
              <a:t> </a:t>
            </a:r>
            <a:r>
              <a:rPr>
                <a:solidFill>
                  <a:srgbClr val="4070A0"/>
                </a:solidFill>
                <a:latin typeface="Courier"/>
              </a:rPr>
              <a:t>|</a:t>
            </a:r>
            <a:r>
              <a:rPr>
                <a:latin typeface="Courier"/>
              </a:rPr>
              <a:t> x </a:t>
            </a:r>
            <a:r>
              <a:rPr>
                <a:solidFill>
                  <a:srgbClr val="4070A0"/>
                </a:solidFill>
                <a:latin typeface="Courier"/>
              </a:rPr>
              <a:t>==</a:t>
            </a:r>
            <a:r>
              <a:rPr>
                <a:latin typeface="Courier"/>
              </a:rPr>
              <a:t> </a:t>
            </a:r>
            <a:r>
              <a:rPr>
                <a:solidFill>
                  <a:srgbClr val="40A070"/>
                </a:solidFill>
                <a:latin typeface="Courier"/>
              </a:rPr>
              <a:t>2</a:t>
            </a:r>
            <a:r>
              <a:rPr>
                <a:latin typeface="Courier"/>
              </a:rPr>
              <a:t>) </a:t>
            </a:r>
            <a:r>
              <a:rPr i="1">
                <a:solidFill>
                  <a:srgbClr val="60A0B0"/>
                </a:solidFill>
                <a:latin typeface="Courier"/>
              </a:rPr>
              <a:t># returns index</a:t>
            </a:r>
          </a:p>
          <a:p>
            <a:pPr lvl="0" indent="0">
              <a:buNone/>
            </a:pPr>
            <a:r>
              <a:rPr>
                <a:latin typeface="Courier"/>
              </a:rPr>
              <a:t>[1] 2 4 5</a:t>
            </a:r>
          </a:p>
          <a:p>
            <a:pPr lvl="0" indent="0">
              <a:buNone/>
            </a:pPr>
            <a:r>
              <a:rPr>
                <a:latin typeface="Courier"/>
              </a:rPr>
              <a:t>x[</a:t>
            </a:r>
            <a:r>
              <a:rPr>
                <a:solidFill>
                  <a:srgbClr val="06287E"/>
                </a:solidFill>
                <a:latin typeface="Courier"/>
              </a:rPr>
              <a:t>which</a:t>
            </a:r>
            <a:r>
              <a:rPr>
                <a:latin typeface="Courier"/>
              </a:rPr>
              <a:t>(x </a:t>
            </a:r>
            <a:r>
              <a:rPr>
                <a:solidFill>
                  <a:srgbClr val="4070A0"/>
                </a:solidFill>
                <a:latin typeface="Courier"/>
              </a:rPr>
              <a:t>&gt;</a:t>
            </a:r>
            <a:r>
              <a:rPr>
                <a:latin typeface="Courier"/>
              </a:rPr>
              <a:t> </a:t>
            </a:r>
            <a:r>
              <a:rPr>
                <a:solidFill>
                  <a:srgbClr val="40A070"/>
                </a:solidFill>
                <a:latin typeface="Courier"/>
              </a:rPr>
              <a:t>5</a:t>
            </a:r>
            <a:r>
              <a:rPr>
                <a:latin typeface="Courier"/>
              </a:rPr>
              <a:t> </a:t>
            </a:r>
            <a:r>
              <a:rPr>
                <a:solidFill>
                  <a:srgbClr val="4070A0"/>
                </a:solidFill>
                <a:latin typeface="Courier"/>
              </a:rPr>
              <a:t>|</a:t>
            </a:r>
            <a:r>
              <a:rPr>
                <a:latin typeface="Courier"/>
              </a:rPr>
              <a:t> x </a:t>
            </a:r>
            <a:r>
              <a:rPr>
                <a:solidFill>
                  <a:srgbClr val="4070A0"/>
                </a:solidFill>
                <a:latin typeface="Courier"/>
              </a:rPr>
              <a:t>==</a:t>
            </a:r>
            <a:r>
              <a:rPr>
                <a:latin typeface="Courier"/>
              </a:rPr>
              <a:t> </a:t>
            </a:r>
            <a:r>
              <a:rPr>
                <a:solidFill>
                  <a:srgbClr val="40A070"/>
                </a:solidFill>
                <a:latin typeface="Courier"/>
              </a:rPr>
              <a:t>2</a:t>
            </a:r>
            <a:r>
              <a:rPr>
                <a:latin typeface="Courier"/>
              </a:rPr>
              <a:t>)]</a:t>
            </a:r>
          </a:p>
          <a:p>
            <a:pPr lvl="0" indent="0">
              <a:buNone/>
            </a:pPr>
            <a:r>
              <a:rPr>
                <a:latin typeface="Courier"/>
              </a:rPr>
              <a:t>[1]  2  8 10</a:t>
            </a:r>
          </a:p>
          <a:p>
            <a:pPr lvl="0" indent="0">
              <a:buNone/>
            </a:pPr>
            <a:r>
              <a:rPr>
                <a:latin typeface="Courier"/>
              </a:rPr>
              <a:t>x[x </a:t>
            </a:r>
            <a:r>
              <a:rPr>
                <a:solidFill>
                  <a:srgbClr val="4070A0"/>
                </a:solidFill>
                <a:latin typeface="Courier"/>
              </a:rPr>
              <a:t>&gt;</a:t>
            </a:r>
            <a:r>
              <a:rPr>
                <a:latin typeface="Courier"/>
              </a:rPr>
              <a:t> </a:t>
            </a:r>
            <a:r>
              <a:rPr>
                <a:solidFill>
                  <a:srgbClr val="40A070"/>
                </a:solidFill>
                <a:latin typeface="Courier"/>
              </a:rPr>
              <a:t>5</a:t>
            </a:r>
            <a:r>
              <a:rPr>
                <a:latin typeface="Courier"/>
              </a:rPr>
              <a:t> </a:t>
            </a:r>
            <a:r>
              <a:rPr>
                <a:solidFill>
                  <a:srgbClr val="4070A0"/>
                </a:solidFill>
                <a:latin typeface="Courier"/>
              </a:rPr>
              <a:t>|</a:t>
            </a:r>
            <a:r>
              <a:rPr>
                <a:latin typeface="Courier"/>
              </a:rPr>
              <a:t> x </a:t>
            </a:r>
            <a:r>
              <a:rPr>
                <a:solidFill>
                  <a:srgbClr val="4070A0"/>
                </a:solidFill>
                <a:latin typeface="Courier"/>
              </a:rPr>
              <a:t>==</a:t>
            </a:r>
            <a:r>
              <a:rPr>
                <a:latin typeface="Courier"/>
              </a:rPr>
              <a:t> </a:t>
            </a:r>
            <a:r>
              <a:rPr>
                <a:solidFill>
                  <a:srgbClr val="40A070"/>
                </a:solidFill>
                <a:latin typeface="Courier"/>
              </a:rPr>
              <a:t>2</a:t>
            </a:r>
            <a:r>
              <a:rPr>
                <a:latin typeface="Courier"/>
              </a:rPr>
              <a:t>]</a:t>
            </a:r>
          </a:p>
          <a:p>
            <a:pPr lvl="0" indent="0">
              <a:buNone/>
            </a:pPr>
            <a:r>
              <a:rPr>
                <a:latin typeface="Courier"/>
              </a:rPr>
              <a:t>[1]  2  8 10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Creating</a:t>
            </a:r>
            <a:r>
              <a:rPr/>
              <a:t> </a:t>
            </a:r>
            <a:r>
              <a:rPr/>
              <a:t>a</a:t>
            </a:r>
            <a:r>
              <a:rPr/>
              <a:t> </a:t>
            </a:r>
            <a:r>
              <a:rPr>
                <a:latin typeface="Courier"/>
              </a:rPr>
              <a:t>data.frame</a:t>
            </a:r>
            <a:r>
              <a:rPr/>
              <a:t> </a:t>
            </a:r>
            <a:r>
              <a:rPr/>
              <a:t>to</a:t>
            </a:r>
            <a:r>
              <a:rPr/>
              <a:t> </a:t>
            </a:r>
            <a:r>
              <a:rPr/>
              <a:t>work</a:t>
            </a:r>
            <a:r>
              <a:rPr/>
              <a:t> </a:t>
            </a:r>
            <a:r>
              <a:rPr/>
              <a:t>with</a:t>
            </a:r>
          </a:p>
        </p:txBody>
      </p:sp>
      <p:sp>
        <p:nvSpPr>
          <p:cNvPr id="3" name="Content Placeholder 2"/>
          <p:cNvSpPr>
            <a:spLocks noGrp="1"/>
          </p:cNvSpPr>
          <p:nvPr>
            <p:ph idx="1"/>
          </p:nvPr>
        </p:nvSpPr>
        <p:spPr/>
        <p:txBody>
          <a:bodyPr/>
          <a:lstStyle/>
          <a:p>
            <a:pPr lvl="0" marL="0" indent="0">
              <a:buNone/>
            </a:pPr>
            <a:r>
              <a:rPr/>
              <a:t>Here we use one of the datasets that comes with R called </a:t>
            </a:r>
            <a:r>
              <a:rPr>
                <a:latin typeface="Courier"/>
              </a:rPr>
              <a:t>mtcars</a:t>
            </a:r>
            <a:r>
              <a:rPr/>
              <a:t> create a toy data.frame named </a:t>
            </a:r>
            <a:r>
              <a:rPr>
                <a:latin typeface="Courier"/>
              </a:rPr>
              <a:t>df</a:t>
            </a:r>
            <a:r>
              <a:rPr/>
              <a:t> using random data:</a:t>
            </a:r>
          </a:p>
          <a:p>
            <a:pPr lvl="0" indent="0">
              <a:buNone/>
            </a:pPr>
            <a:r>
              <a:rPr>
                <a:solidFill>
                  <a:srgbClr val="06287E"/>
                </a:solidFill>
                <a:latin typeface="Courier"/>
              </a:rPr>
              <a:t>data</a:t>
            </a:r>
            <a:r>
              <a:rPr>
                <a:latin typeface="Courier"/>
              </a:rPr>
              <a:t>(mtcars)</a:t>
            </a:r>
            <a:br/>
            <a:r>
              <a:rPr>
                <a:latin typeface="Courier"/>
              </a:rPr>
              <a:t>df </a:t>
            </a:r>
            <a:r>
              <a:rPr>
                <a:solidFill>
                  <a:srgbClr val="007020"/>
                </a:solidFill>
                <a:latin typeface="Courier"/>
              </a:rPr>
              <a:t>&lt;-</a:t>
            </a:r>
            <a:r>
              <a:rPr>
                <a:latin typeface="Courier"/>
              </a:rPr>
              <a:t> mtcars</a:t>
            </a:r>
            <a:br/>
            <a:r>
              <a:rPr>
                <a:latin typeface="Courier"/>
              </a:rPr>
              <a:t>tbl </a:t>
            </a:r>
            <a:r>
              <a:rPr>
                <a:solidFill>
                  <a:srgbClr val="007020"/>
                </a:solidFill>
                <a:latin typeface="Courier"/>
              </a:rPr>
              <a:t>&lt;-</a:t>
            </a:r>
            <a:r>
              <a:rPr>
                <a:latin typeface="Courier"/>
              </a:rPr>
              <a:t> </a:t>
            </a:r>
            <a:r>
              <a:rPr>
                <a:solidFill>
                  <a:srgbClr val="06287E"/>
                </a:solidFill>
                <a:latin typeface="Courier"/>
              </a:rPr>
              <a:t>as.tbl</a:t>
            </a:r>
            <a:r>
              <a:rPr>
                <a:latin typeface="Courier"/>
              </a:rPr>
              <a:t>(df)</a:t>
            </a:r>
          </a:p>
          <a:p>
            <a:pPr lvl="0" indent="0">
              <a:buNone/>
            </a:pPr>
            <a:r>
              <a:rPr>
                <a:latin typeface="Courier"/>
              </a:rPr>
              <a:t>Warning: `as.tbl()` was deprecated in dplyr 1.0.0.
ℹ Please use `tibble::as_tibble()` instead.
Call `lifecycle::last_lifecycle_warnings()` to see where this warning was
generated.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Renaming</a:t>
            </a:r>
            <a:r>
              <a:rPr/>
              <a:t> </a:t>
            </a:r>
            <a:r>
              <a:rPr/>
              <a:t>Columns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Renaming</a:t>
            </a:r>
            <a:r>
              <a:rPr/>
              <a:t> </a:t>
            </a:r>
            <a:r>
              <a:rPr/>
              <a:t>Columns</a:t>
            </a:r>
            <a:r>
              <a:rPr/>
              <a:t> </a:t>
            </a:r>
            <a:r>
              <a:rPr/>
              <a:t>of</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We can use the </a:t>
            </a:r>
            <a:r>
              <a:rPr>
                <a:latin typeface="Courier"/>
              </a:rPr>
              <a:t>colnames</a:t>
            </a:r>
            <a:r>
              <a:rPr/>
              <a:t> function to directly reassign column names of </a:t>
            </a:r>
            <a:r>
              <a:rPr>
                <a:latin typeface="Courier"/>
              </a:rPr>
              <a:t>df</a:t>
            </a:r>
            <a:r>
              <a:rPr/>
              <a:t>:</a:t>
            </a:r>
          </a:p>
          <a:p>
            <a:pPr lvl="0" indent="0">
              <a:buNone/>
            </a:pPr>
            <a:r>
              <a:rPr>
                <a:solidFill>
                  <a:srgbClr val="06287E"/>
                </a:solidFill>
                <a:latin typeface="Courier"/>
              </a:rPr>
              <a:t>colnames</a:t>
            </a:r>
            <a:r>
              <a:rPr>
                <a:latin typeface="Courier"/>
              </a:rPr>
              <a:t>(df)[</a:t>
            </a:r>
            <a:r>
              <a:rPr>
                <a:solidFill>
                  <a:srgbClr val="40A070"/>
                </a:solidFill>
                <a:latin typeface="Courier"/>
              </a:rPr>
              <a:t>1</a:t>
            </a:r>
            <a:r>
              <a:rPr>
                <a:solidFill>
                  <a:srgbClr val="4070A0"/>
                </a:solidFill>
                <a:latin typeface="Courier"/>
              </a:rPr>
              <a:t>:</a:t>
            </a:r>
            <a:r>
              <a:rPr>
                <a:solidFill>
                  <a:srgbClr val="40A070"/>
                </a:solidFill>
                <a:latin typeface="Courier"/>
              </a:rPr>
              <a:t>3</a:t>
            </a:r>
            <a:r>
              <a:rPr>
                <a:latin typeface="Courier"/>
              </a:rPr>
              <a:t>]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"MPG"</a:t>
            </a:r>
            <a:r>
              <a:rPr>
                <a:latin typeface="Courier"/>
              </a:rPr>
              <a:t>, </a:t>
            </a:r>
            <a:r>
              <a:rPr>
                <a:solidFill>
                  <a:srgbClr val="4070A0"/>
                </a:solidFill>
                <a:latin typeface="Courier"/>
              </a:rPr>
              <a:t>"CYL"</a:t>
            </a:r>
            <a:r>
              <a:rPr>
                <a:latin typeface="Courier"/>
              </a:rPr>
              <a:t>, </a:t>
            </a:r>
            <a:r>
              <a:rPr>
                <a:solidFill>
                  <a:srgbClr val="4070A0"/>
                </a:solidFill>
                <a:latin typeface="Courier"/>
              </a:rPr>
              <a:t>"DISP"</a:t>
            </a:r>
            <a:r>
              <a:rPr>
                <a:latin typeface="Courier"/>
              </a:rPr>
              <a:t>)</a:t>
            </a:r>
            <a:br/>
            <a:r>
              <a:rPr>
                <a:solidFill>
                  <a:srgbClr val="06287E"/>
                </a:solidFill>
                <a:latin typeface="Courier"/>
              </a:rPr>
              <a:t>head</a:t>
            </a:r>
            <a:r>
              <a:rPr>
                <a:latin typeface="Courier"/>
              </a:rPr>
              <a:t>(df)</a:t>
            </a:r>
          </a:p>
          <a:p>
            <a:pPr lvl="0" indent="0">
              <a:buNone/>
            </a:pPr>
            <a:r>
              <a:rPr>
                <a:latin typeface="Courier"/>
              </a:rPr>
              <a:t>                   MPG CYL DISP  hp drat    wt  qsec vs am gear carb
Mazda RX4         21.0   6  160 110 3.90 2.620 16.46  0  1    4    4
Mazda RX4 Wag     21.0   6  160 110 3.90 2.875 17.02  0  1    4    4
Datsun 710        22.8   4  108  93 3.85 2.320 18.61  1  1    4    1
Hornet 4 Drive    21.4   6  258 110 3.08 3.215 19.44  1  0    3    1
Hornet Sportabout 18.7   8  360 175 3.15 3.440 17.02  0  0    3    2
Valiant           18.1   6  225 105 2.76 3.460 20.22  1  0    3    1</a:t>
            </a:r>
          </a:p>
          <a:p>
            <a:pPr lvl="0" indent="0">
              <a:buNone/>
            </a:pPr>
            <a:r>
              <a:rPr>
                <a:solidFill>
                  <a:srgbClr val="06287E"/>
                </a:solidFill>
                <a:latin typeface="Courier"/>
              </a:rPr>
              <a:t>colnames</a:t>
            </a:r>
            <a:r>
              <a:rPr>
                <a:latin typeface="Courier"/>
              </a:rPr>
              <a:t>(df)[</a:t>
            </a:r>
            <a:r>
              <a:rPr>
                <a:solidFill>
                  <a:srgbClr val="40A070"/>
                </a:solidFill>
                <a:latin typeface="Courier"/>
              </a:rPr>
              <a:t>1</a:t>
            </a:r>
            <a:r>
              <a:rPr>
                <a:solidFill>
                  <a:srgbClr val="4070A0"/>
                </a:solidFill>
                <a:latin typeface="Courier"/>
              </a:rPr>
              <a:t>:</a:t>
            </a:r>
            <a:r>
              <a:rPr>
                <a:solidFill>
                  <a:srgbClr val="40A070"/>
                </a:solidFill>
                <a:latin typeface="Courier"/>
              </a:rPr>
              <a:t>3</a:t>
            </a:r>
            <a:r>
              <a:rPr>
                <a:latin typeface="Courier"/>
              </a:rPr>
              <a:t>]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"mpg"</a:t>
            </a:r>
            <a:r>
              <a:rPr>
                <a:latin typeface="Courier"/>
              </a:rPr>
              <a:t>, </a:t>
            </a:r>
            <a:r>
              <a:rPr>
                <a:solidFill>
                  <a:srgbClr val="4070A0"/>
                </a:solidFill>
                <a:latin typeface="Courier"/>
              </a:rPr>
              <a:t>"cyl"</a:t>
            </a:r>
            <a:r>
              <a:rPr>
                <a:latin typeface="Courier"/>
              </a:rPr>
              <a:t>, </a:t>
            </a:r>
            <a:r>
              <a:rPr>
                <a:solidFill>
                  <a:srgbClr val="4070A0"/>
                </a:solidFill>
                <a:latin typeface="Courier"/>
              </a:rPr>
              <a:t>"disp"</a:t>
            </a:r>
            <a:r>
              <a:rPr>
                <a:latin typeface="Courier"/>
              </a:rPr>
              <a:t>) </a:t>
            </a:r>
            <a:r>
              <a:rPr i="1">
                <a:solidFill>
                  <a:srgbClr val="60A0B0"/>
                </a:solidFill>
                <a:latin typeface="Courier"/>
              </a:rPr>
              <a:t># reset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Renaming</a:t>
            </a:r>
            <a:r>
              <a:rPr/>
              <a:t> </a:t>
            </a:r>
            <a:r>
              <a:rPr/>
              <a:t>Columns</a:t>
            </a:r>
            <a:r>
              <a:rPr/>
              <a:t> </a:t>
            </a:r>
            <a:r>
              <a:rPr/>
              <a:t>of</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We can assign the column names, change the ones we want, and then re-assign the column names:</a:t>
            </a:r>
          </a:p>
          <a:p>
            <a:pPr lvl="0" indent="0">
              <a:buNone/>
            </a:pPr>
            <a:r>
              <a:rPr>
                <a:latin typeface="Courier"/>
              </a:rPr>
              <a:t>cn </a:t>
            </a:r>
            <a:r>
              <a:rPr>
                <a:solidFill>
                  <a:srgbClr val="007020"/>
                </a:solidFill>
                <a:latin typeface="Courier"/>
              </a:rPr>
              <a:t>&lt;-</a:t>
            </a:r>
            <a:r>
              <a:rPr>
                <a:latin typeface="Courier"/>
              </a:rPr>
              <a:t> </a:t>
            </a:r>
            <a:r>
              <a:rPr>
                <a:solidFill>
                  <a:srgbClr val="06287E"/>
                </a:solidFill>
                <a:latin typeface="Courier"/>
              </a:rPr>
              <a:t>colnames</a:t>
            </a:r>
            <a:r>
              <a:rPr>
                <a:latin typeface="Courier"/>
              </a:rPr>
              <a:t>(df)</a:t>
            </a:r>
            <a:br/>
            <a:r>
              <a:rPr>
                <a:latin typeface="Courier"/>
              </a:rPr>
              <a:t>cn[cn </a:t>
            </a:r>
            <a:r>
              <a:rPr>
                <a:solidFill>
                  <a:srgbClr val="4070A0"/>
                </a:solidFill>
                <a:latin typeface="Courier"/>
              </a:rPr>
              <a:t>==</a:t>
            </a:r>
            <a:r>
              <a:rPr>
                <a:latin typeface="Courier"/>
              </a:rPr>
              <a:t> </a:t>
            </a:r>
            <a:r>
              <a:rPr>
                <a:solidFill>
                  <a:srgbClr val="4070A0"/>
                </a:solidFill>
                <a:latin typeface="Courier"/>
              </a:rPr>
              <a:t>"drat"</a:t>
            </a:r>
            <a:r>
              <a:rPr>
                <a:latin typeface="Courier"/>
              </a:rPr>
              <a:t>] </a:t>
            </a:r>
            <a:r>
              <a:rPr>
                <a:solidFill>
                  <a:srgbClr val="007020"/>
                </a:solidFill>
                <a:latin typeface="Courier"/>
              </a:rPr>
              <a:t>&lt;-</a:t>
            </a:r>
            <a:r>
              <a:rPr>
                <a:latin typeface="Courier"/>
              </a:rPr>
              <a:t> </a:t>
            </a:r>
            <a:r>
              <a:rPr>
                <a:solidFill>
                  <a:srgbClr val="4070A0"/>
                </a:solidFill>
                <a:latin typeface="Courier"/>
              </a:rPr>
              <a:t>"DRAT"</a:t>
            </a:r>
            <a:br/>
            <a:r>
              <a:rPr>
                <a:solidFill>
                  <a:srgbClr val="06287E"/>
                </a:solidFill>
                <a:latin typeface="Courier"/>
              </a:rPr>
              <a:t>colnames</a:t>
            </a:r>
            <a:r>
              <a:rPr>
                <a:latin typeface="Courier"/>
              </a:rPr>
              <a:t>(df) </a:t>
            </a:r>
            <a:r>
              <a:rPr>
                <a:solidFill>
                  <a:srgbClr val="007020"/>
                </a:solidFill>
                <a:latin typeface="Courier"/>
              </a:rPr>
              <a:t>&lt;-</a:t>
            </a:r>
            <a:r>
              <a:rPr>
                <a:latin typeface="Courier"/>
              </a:rPr>
              <a:t> cn</a:t>
            </a:r>
            <a:br/>
            <a:r>
              <a:rPr>
                <a:solidFill>
                  <a:srgbClr val="06287E"/>
                </a:solidFill>
                <a:latin typeface="Courier"/>
              </a:rPr>
              <a:t>head</a:t>
            </a:r>
            <a:r>
              <a:rPr>
                <a:latin typeface="Courier"/>
              </a:rPr>
              <a:t>(df)</a:t>
            </a:r>
          </a:p>
          <a:p>
            <a:pPr lvl="0" indent="0">
              <a:buNone/>
            </a:pPr>
            <a:r>
              <a:rPr>
                <a:latin typeface="Courier"/>
              </a:rPr>
              <a:t>                   mpg cyl disp  hp DRAT    wt  qsec vs am gear carb
Mazda RX4         21.0   6  160 110 3.90 2.620 16.46  0  1    4    4
Mazda RX4 Wag     21.0   6  160 110 3.90 2.875 17.02  0  1    4    4
Datsun 710        22.8   4  108  93 3.85 2.320 18.61  1  1    4    1
Hornet 4 Drive    21.4   6  258 110 3.08 3.215 19.44  1  0    3    1
Hornet Sportabout 18.7   8  360 175 3.15 3.440 17.02  0  0    3    2
Valiant           18.1   6  225 105 2.76 3.460 20.22  1  0    3    1</a:t>
            </a:r>
          </a:p>
          <a:p>
            <a:pPr lvl="0" indent="0">
              <a:buNone/>
            </a:pPr>
            <a:r>
              <a:rPr>
                <a:solidFill>
                  <a:srgbClr val="06287E"/>
                </a:solidFill>
                <a:latin typeface="Courier"/>
              </a:rPr>
              <a:t>colnames</a:t>
            </a:r>
            <a:r>
              <a:rPr>
                <a:latin typeface="Courier"/>
              </a:rPr>
              <a:t>(df)[</a:t>
            </a:r>
            <a:r>
              <a:rPr>
                <a:solidFill>
                  <a:srgbClr val="06287E"/>
                </a:solidFill>
                <a:latin typeface="Courier"/>
              </a:rPr>
              <a:t>colnames</a:t>
            </a:r>
            <a:r>
              <a:rPr>
                <a:latin typeface="Courier"/>
              </a:rPr>
              <a:t>(df) </a:t>
            </a:r>
            <a:r>
              <a:rPr>
                <a:solidFill>
                  <a:srgbClr val="4070A0"/>
                </a:solidFill>
                <a:latin typeface="Courier"/>
              </a:rPr>
              <a:t>==</a:t>
            </a:r>
            <a:r>
              <a:rPr>
                <a:latin typeface="Courier"/>
              </a:rPr>
              <a:t> </a:t>
            </a:r>
            <a:r>
              <a:rPr>
                <a:solidFill>
                  <a:srgbClr val="4070A0"/>
                </a:solidFill>
                <a:latin typeface="Courier"/>
              </a:rPr>
              <a:t>"DRAT"</a:t>
            </a:r>
            <a:r>
              <a:rPr>
                <a:latin typeface="Courier"/>
              </a:rPr>
              <a:t>] </a:t>
            </a:r>
            <a:r>
              <a:rPr>
                <a:solidFill>
                  <a:srgbClr val="007020"/>
                </a:solidFill>
                <a:latin typeface="Courier"/>
              </a:rPr>
              <a:t>&lt;-</a:t>
            </a:r>
            <a:r>
              <a:rPr>
                <a:latin typeface="Courier"/>
              </a:rPr>
              <a:t> </a:t>
            </a:r>
            <a:r>
              <a:rPr>
                <a:solidFill>
                  <a:srgbClr val="4070A0"/>
                </a:solidFill>
                <a:latin typeface="Courier"/>
              </a:rPr>
              <a:t>"drat"</a:t>
            </a:r>
            <a:r>
              <a:rPr>
                <a:latin typeface="Courier"/>
              </a:rPr>
              <a:t> </a:t>
            </a:r>
            <a:r>
              <a:rPr i="1">
                <a:solidFill>
                  <a:srgbClr val="60A0B0"/>
                </a:solidFill>
                <a:latin typeface="Courier"/>
              </a:rPr>
              <a:t># reset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Renaming</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indent="0">
              <a:buNone/>
            </a:pPr>
            <a:r>
              <a:rPr>
                <a:solidFill>
                  <a:srgbClr val="06287E"/>
                </a:solidFill>
                <a:latin typeface="Courier"/>
              </a:rPr>
              <a:t>library</a:t>
            </a:r>
            <a:r>
              <a:rPr>
                <a:latin typeface="Courier"/>
              </a:rPr>
              <a:t>(dplyr)</a:t>
            </a:r>
          </a:p>
          <a:p>
            <a:pPr lvl="0" marL="0" indent="0">
              <a:buNone/>
            </a:pPr>
            <a:r>
              <a:rPr/>
              <a:t>Note, when loading </a:t>
            </a:r>
            <a:r>
              <a:rPr>
                <a:latin typeface="Courier"/>
              </a:rPr>
              <a:t>dplyr</a:t>
            </a:r>
            <a:r>
              <a:rPr/>
              <a:t>, it says objects can be “masked”. That means if you use a function defined in 2 places, it uses the one that is loaded in </a:t>
            </a:r>
            <a:r>
              <a:rPr b="1"/>
              <a:t>last</a:t>
            </a:r>
            <a: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Renaming</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For example, if we print </a:t>
            </a:r>
            <a:r>
              <a:rPr>
                <a:latin typeface="Courier"/>
              </a:rPr>
              <a:t>filter</a:t>
            </a:r>
            <a:r>
              <a:rPr/>
              <a:t>, then we see at the bottom </a:t>
            </a:r>
            <a:r>
              <a:rPr>
                <a:latin typeface="Courier"/>
              </a:rPr>
              <a:t>namespace:dplyr</a:t>
            </a:r>
            <a:r>
              <a:rPr/>
              <a:t>, which means when you type </a:t>
            </a:r>
            <a:r>
              <a:rPr>
                <a:latin typeface="Courier"/>
              </a:rPr>
              <a:t>filter</a:t>
            </a:r>
            <a:r>
              <a:rPr/>
              <a:t>, it will use the one from the </a:t>
            </a:r>
            <a:r>
              <a:rPr>
                <a:latin typeface="Courier"/>
              </a:rPr>
              <a:t>dplyr</a:t>
            </a:r>
            <a:r>
              <a:rPr/>
              <a:t> package.</a:t>
            </a:r>
          </a:p>
          <a:p>
            <a:pPr lvl="0" indent="0">
              <a:buNone/>
            </a:pPr>
            <a:r>
              <a:rPr>
                <a:latin typeface="Courier"/>
              </a:rPr>
              <a:t>filter</a:t>
            </a:r>
          </a:p>
          <a:p>
            <a:pPr lvl="0" indent="0">
              <a:buNone/>
            </a:pPr>
            <a:r>
              <a:rPr>
                <a:latin typeface="Courier"/>
              </a:rPr>
              <a:t>function (.data, ..., .by = NULL, .preserve = FALSE) 
{
    check_by_typo(...)
    by &lt;- enquo(.by)
    if (!quo_is_null(by) &amp;&amp; !is_false(.preserve)) {
        abort("Can't supply both `.by` and `.preserve`.")
    }
    UseMethod("filter")
}
&lt;bytecode: 0x564a2a32a180&gt;
&lt;environment: namespace:dplyr&gt;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Renaming</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A </a:t>
            </a:r>
            <a:r>
              <a:rPr>
                <a:latin typeface="Courier"/>
              </a:rPr>
              <a:t>filter</a:t>
            </a:r>
            <a:r>
              <a:rPr/>
              <a:t> function exists by default in the </a:t>
            </a:r>
            <a:r>
              <a:rPr>
                <a:latin typeface="Courier"/>
              </a:rPr>
              <a:t>stats</a:t>
            </a:r>
            <a:r>
              <a:rPr/>
              <a:t> package, however. If you want to make sure you use that one, you use </a:t>
            </a:r>
            <a:r>
              <a:rPr>
                <a:latin typeface="Courier"/>
              </a:rPr>
              <a:t>PackageName::Function</a:t>
            </a:r>
            <a:r>
              <a:rPr/>
              <a:t> with the colon-colon (“</a:t>
            </a:r>
            <a:r>
              <a:rPr>
                <a:latin typeface="Courier"/>
              </a:rPr>
              <a:t>::</a:t>
            </a:r>
            <a:r>
              <a:rPr/>
              <a:t>”) operator.</a:t>
            </a:r>
          </a:p>
          <a:p>
            <a:pPr lvl="0" indent="0">
              <a:buNone/>
            </a:pPr>
            <a:r>
              <a:rPr>
                <a:solidFill>
                  <a:srgbClr val="06287E"/>
                </a:solidFill>
                <a:latin typeface="Courier"/>
              </a:rPr>
              <a:t>head</a:t>
            </a:r>
            <a:r>
              <a:rPr>
                <a:latin typeface="Courier"/>
              </a:rPr>
              <a:t>(stats</a:t>
            </a:r>
            <a:r>
              <a:rPr>
                <a:solidFill>
                  <a:srgbClr val="4070A0"/>
                </a:solidFill>
                <a:latin typeface="Courier"/>
              </a:rPr>
              <a:t>::</a:t>
            </a:r>
            <a:r>
              <a:rPr>
                <a:latin typeface="Courier"/>
              </a:rPr>
              <a:t>filter, </a:t>
            </a:r>
            <a:r>
              <a:rPr>
                <a:solidFill>
                  <a:srgbClr val="40A070"/>
                </a:solidFill>
                <a:latin typeface="Courier"/>
              </a:rPr>
              <a:t>2</a:t>
            </a:r>
            <a:r>
              <a:rPr>
                <a:latin typeface="Courier"/>
              </a:rPr>
              <a:t>)</a:t>
            </a:r>
          </a:p>
          <a:p>
            <a:pPr lvl="0" indent="0">
              <a:buNone/>
            </a:pPr>
            <a:r>
              <a:rPr>
                <a:latin typeface="Courier"/>
              </a:rPr>
              <a:t>                                                               
1 function (x, filter, method = c("convolution", "recursive"), 
2     sides = 2L, circular = FALSE, init = NULL)               </a:t>
            </a:r>
          </a:p>
          <a:p>
            <a:pPr lvl="0" marL="0" indent="0">
              <a:buNone/>
            </a:pPr>
            <a:r>
              <a:rPr/>
              <a:t>This is important when loading many packages, and you may have some conflicts/masking:</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Renaming</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To rename columns in </a:t>
            </a:r>
            <a:r>
              <a:rPr>
                <a:latin typeface="Courier"/>
              </a:rPr>
              <a:t>dplyr</a:t>
            </a:r>
            <a:r>
              <a:rPr/>
              <a:t>, you use the </a:t>
            </a:r>
            <a:r>
              <a:rPr>
                <a:latin typeface="Courier"/>
              </a:rPr>
              <a:t>rename</a:t>
            </a:r>
            <a:r>
              <a:rPr/>
              <a:t> command</a:t>
            </a:r>
          </a:p>
          <a:p>
            <a:pPr lvl="0" indent="0">
              <a:buNone/>
            </a:pPr>
            <a:r>
              <a:rPr>
                <a:latin typeface="Courier"/>
              </a:rPr>
              <a:t>df </a:t>
            </a:r>
            <a:r>
              <a:rPr>
                <a:solidFill>
                  <a:srgbClr val="007020"/>
                </a:solidFill>
                <a:latin typeface="Courier"/>
              </a:rPr>
              <a:t>&lt;-</a:t>
            </a:r>
            <a:r>
              <a:rPr>
                <a:latin typeface="Courier"/>
              </a:rPr>
              <a:t> dplyr</a:t>
            </a:r>
            <a:r>
              <a:rPr>
                <a:solidFill>
                  <a:srgbClr val="4070A0"/>
                </a:solidFill>
                <a:latin typeface="Courier"/>
              </a:rPr>
              <a:t>::</a:t>
            </a:r>
            <a:r>
              <a:rPr>
                <a:solidFill>
                  <a:srgbClr val="06287E"/>
                </a:solidFill>
                <a:latin typeface="Courier"/>
              </a:rPr>
              <a:t>rename</a:t>
            </a:r>
            <a:r>
              <a:rPr>
                <a:latin typeface="Courier"/>
              </a:rPr>
              <a:t>(df, </a:t>
            </a:r>
            <a:r>
              <a:rPr>
                <a:solidFill>
                  <a:srgbClr val="7D9029"/>
                </a:solidFill>
                <a:latin typeface="Courier"/>
              </a:rPr>
              <a:t>MPG =</a:t>
            </a:r>
            <a:r>
              <a:rPr>
                <a:latin typeface="Courier"/>
              </a:rPr>
              <a:t> mpg)</a:t>
            </a:r>
            <a:br/>
            <a:r>
              <a:rPr>
                <a:solidFill>
                  <a:srgbClr val="06287E"/>
                </a:solidFill>
                <a:latin typeface="Courier"/>
              </a:rPr>
              <a:t>head</a:t>
            </a:r>
            <a:r>
              <a:rPr>
                <a:latin typeface="Courier"/>
              </a:rPr>
              <a:t>(df)</a:t>
            </a:r>
          </a:p>
          <a:p>
            <a:pPr lvl="0" indent="0">
              <a:buNone/>
            </a:pPr>
            <a:r>
              <a:rPr>
                <a:latin typeface="Courier"/>
              </a:rPr>
              <a:t>                   MPG cyl disp  hp drat    wt  qsec vs am gear carb
Mazda RX4         21.0   6  160 110 3.90 2.620 16.46  0  1    4    4
Mazda RX4 Wag     21.0   6  160 110 3.90 2.875 17.02  0  1    4    4
Datsun 710        22.8   4  108  93 3.85 2.320 18.61  1  1    4    1
Hornet 4 Drive    21.4   6  258 110 3.08 3.215 19.44  1  0    3    1
Hornet Sportabout 18.7   8  360 175 3.15 3.440 17.02  0  0    3    2
Valiant           18.1   6  225 105 2.76 3.460 20.22  1  0    3    1</a:t>
            </a:r>
          </a:p>
          <a:p>
            <a:pPr lvl="0" indent="0">
              <a:buNone/>
            </a:pPr>
            <a:r>
              <a:rPr>
                <a:latin typeface="Courier"/>
              </a:rPr>
              <a:t>df </a:t>
            </a:r>
            <a:r>
              <a:rPr>
                <a:solidFill>
                  <a:srgbClr val="007020"/>
                </a:solidFill>
                <a:latin typeface="Courier"/>
              </a:rPr>
              <a:t>&lt;-</a:t>
            </a:r>
            <a:r>
              <a:rPr>
                <a:latin typeface="Courier"/>
              </a:rPr>
              <a:t> dplyr</a:t>
            </a:r>
            <a:r>
              <a:rPr>
                <a:solidFill>
                  <a:srgbClr val="4070A0"/>
                </a:solidFill>
                <a:latin typeface="Courier"/>
              </a:rPr>
              <a:t>::</a:t>
            </a:r>
            <a:r>
              <a:rPr>
                <a:solidFill>
                  <a:srgbClr val="06287E"/>
                </a:solidFill>
                <a:latin typeface="Courier"/>
              </a:rPr>
              <a:t>rename</a:t>
            </a:r>
            <a:r>
              <a:rPr>
                <a:latin typeface="Courier"/>
              </a:rPr>
              <a:t>(df, </a:t>
            </a:r>
            <a:r>
              <a:rPr>
                <a:solidFill>
                  <a:srgbClr val="7D9029"/>
                </a:solidFill>
                <a:latin typeface="Courier"/>
              </a:rPr>
              <a:t>mpg =</a:t>
            </a:r>
            <a:r>
              <a:rPr>
                <a:latin typeface="Courier"/>
              </a:rPr>
              <a:t> MPG) </a:t>
            </a:r>
            <a:r>
              <a:rPr i="1">
                <a:solidFill>
                  <a:srgbClr val="60A0B0"/>
                </a:solidFill>
                <a:latin typeface="Courier"/>
              </a:rPr>
              <a:t># reset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Lab</a:t>
            </a:r>
            <a:r>
              <a:rPr/>
              <a:t> </a:t>
            </a:r>
            <a:r>
              <a:rPr/>
              <a:t>Part</a:t>
            </a:r>
            <a:r>
              <a:rPr/>
              <a:t> </a:t>
            </a:r>
            <a:r>
              <a:rPr/>
              <a:t>1</a:t>
            </a:r>
          </a:p>
        </p:txBody>
      </p:sp>
      <p:sp>
        <p:nvSpPr>
          <p:cNvPr id="3" name="Content Placeholder 2"/>
          <p:cNvSpPr>
            <a:spLocks noGrp="1"/>
          </p:cNvSpPr>
          <p:nvPr>
            <p:ph idx="1"/>
          </p:nvPr>
        </p:nvSpPr>
        <p:spPr/>
        <p:txBody>
          <a:bodyPr/>
          <a:lstStyle/>
          <a:p>
            <a:pPr lvl="0" marL="0" indent="0">
              <a:buNone/>
            </a:pPr>
            <a:r>
              <a:rPr>
                <a:hlinkClick r:id="rId2"/>
              </a:rPr>
              <a:t>Website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Subsetting</a:t>
            </a:r>
            <a:r>
              <a:rPr/>
              <a:t> </a:t>
            </a:r>
            <a:r>
              <a:rPr/>
              <a:t>Columns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columns</a:t>
            </a:r>
            <a:r>
              <a:rPr/>
              <a:t> </a:t>
            </a:r>
            <a:r>
              <a:rPr/>
              <a:t>of</a:t>
            </a:r>
            <a:r>
              <a:rPr/>
              <a:t> </a:t>
            </a:r>
            <a:r>
              <a:rPr/>
              <a:t>a</a:t>
            </a:r>
            <a:r>
              <a:rPr/>
              <a:t> </a:t>
            </a:r>
            <a:r>
              <a:rPr>
                <a:latin typeface="Courier"/>
              </a:rPr>
              <a:t>data.frame</a:t>
            </a:r>
            <a:r>
              <a:rPr/>
              <a:t>:</a:t>
            </a:r>
          </a:p>
        </p:txBody>
      </p:sp>
      <p:sp>
        <p:nvSpPr>
          <p:cNvPr id="3" name="Content Placeholder 2"/>
          <p:cNvSpPr>
            <a:spLocks noGrp="1"/>
          </p:cNvSpPr>
          <p:nvPr>
            <p:ph idx="1"/>
          </p:nvPr>
        </p:nvSpPr>
        <p:spPr/>
        <p:txBody>
          <a:bodyPr/>
          <a:lstStyle/>
          <a:p>
            <a:pPr lvl="0" marL="0" indent="0">
              <a:buNone/>
            </a:pPr>
            <a:r>
              <a:rPr/>
              <a:t>We can grab the </a:t>
            </a:r>
            <a:r>
              <a:rPr>
                <a:latin typeface="Courier"/>
              </a:rPr>
              <a:t>carb</a:t>
            </a:r>
            <a:r>
              <a:rPr/>
              <a:t> column using the </a:t>
            </a:r>
            <a:r>
              <a:rPr>
                <a:latin typeface="Courier"/>
              </a:rPr>
              <a:t>$</a:t>
            </a:r>
            <a:r>
              <a:rPr/>
              <a:t> operator.</a:t>
            </a:r>
          </a:p>
          <a:p>
            <a:pPr lvl="0" indent="0">
              <a:buNone/>
            </a:pPr>
            <a:r>
              <a:rPr>
                <a:latin typeface="Courier"/>
              </a:rPr>
              <a:t>df</a:t>
            </a:r>
            <a:r>
              <a:rPr>
                <a:solidFill>
                  <a:srgbClr val="4070A0"/>
                </a:solidFill>
                <a:latin typeface="Courier"/>
              </a:rPr>
              <a:t>$</a:t>
            </a:r>
            <a:r>
              <a:rPr>
                <a:latin typeface="Courier"/>
              </a:rPr>
              <a:t>carb</a:t>
            </a:r>
          </a:p>
          <a:p>
            <a:pPr lvl="0" indent="0">
              <a:buNone/>
            </a:pPr>
            <a:r>
              <a:rPr>
                <a:latin typeface="Courier"/>
              </a:rPr>
              <a:t> [1] 4 4 1 1 2 1 4 2 2 4 4 3 3 3 4 4 4 1 2 1 1 2 2 4 2 1 2 2 4 6 8 2</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columns</a:t>
            </a:r>
            <a:r>
              <a:rPr/>
              <a:t> </a:t>
            </a:r>
            <a:r>
              <a:rPr/>
              <a:t>of</a:t>
            </a:r>
            <a:r>
              <a:rPr/>
              <a:t> </a:t>
            </a:r>
            <a:r>
              <a:rPr/>
              <a:t>a</a:t>
            </a:r>
            <a:r>
              <a:rPr/>
              <a:t> </a:t>
            </a:r>
            <a:r>
              <a:rPr>
                <a:latin typeface="Courier"/>
              </a:rPr>
              <a:t>data.frame</a:t>
            </a:r>
            <a:r>
              <a:rPr/>
              <a:t>:</a:t>
            </a:r>
          </a:p>
        </p:txBody>
      </p:sp>
      <p:sp>
        <p:nvSpPr>
          <p:cNvPr id="3" name="Content Placeholder 2"/>
          <p:cNvSpPr>
            <a:spLocks noGrp="1"/>
          </p:cNvSpPr>
          <p:nvPr>
            <p:ph idx="1"/>
          </p:nvPr>
        </p:nvSpPr>
        <p:spPr/>
        <p:txBody>
          <a:bodyPr/>
          <a:lstStyle/>
          <a:p>
            <a:pPr lvl="0" marL="0" indent="0">
              <a:buNone/>
            </a:pPr>
            <a:r>
              <a:rPr/>
              <a:t>We can also subset a </a:t>
            </a:r>
            <a:r>
              <a:rPr>
                <a:latin typeface="Courier"/>
              </a:rPr>
              <a:t>data.frame</a:t>
            </a:r>
            <a:r>
              <a:rPr/>
              <a:t> using the bracket </a:t>
            </a:r>
            <a:r>
              <a:rPr>
                <a:latin typeface="Courier"/>
              </a:rPr>
              <a:t>[, ]</a:t>
            </a:r>
            <a:r>
              <a:rPr/>
              <a:t> subsetting.</a:t>
            </a:r>
          </a:p>
          <a:p>
            <a:pPr lvl="0" marL="0" indent="0">
              <a:buNone/>
            </a:pPr>
            <a:r>
              <a:rPr/>
              <a:t>For </a:t>
            </a:r>
            <a:r>
              <a:rPr>
                <a:latin typeface="Courier"/>
              </a:rPr>
              <a:t>data.frame</a:t>
            </a:r>
            <a:r>
              <a:rPr/>
              <a:t>s and matrices (2-dimensional objects), the brackets are </a:t>
            </a:r>
            <a:r>
              <a:rPr>
                <a:latin typeface="Courier"/>
              </a:rPr>
              <a:t>[rows, columns]</a:t>
            </a:r>
            <a:r>
              <a:rPr/>
              <a:t> subsetting. We can grab the </a:t>
            </a:r>
            <a:r>
              <a:rPr>
                <a:latin typeface="Courier"/>
              </a:rPr>
              <a:t>x</a:t>
            </a:r>
            <a:r>
              <a:rPr/>
              <a:t> column using the index of the column or the column name (“</a:t>
            </a:r>
            <a:r>
              <a:rPr>
                <a:latin typeface="Courier"/>
              </a:rPr>
              <a:t>carb</a:t>
            </a:r>
            <a:r>
              <a:rPr/>
              <a:t>”)</a:t>
            </a:r>
          </a:p>
          <a:p>
            <a:pPr lvl="0" indent="0">
              <a:buNone/>
            </a:pPr>
            <a:r>
              <a:rPr>
                <a:latin typeface="Courier"/>
              </a:rPr>
              <a:t>df[, </a:t>
            </a:r>
            <a:r>
              <a:rPr>
                <a:solidFill>
                  <a:srgbClr val="40A070"/>
                </a:solidFill>
                <a:latin typeface="Courier"/>
              </a:rPr>
              <a:t>11</a:t>
            </a:r>
            <a:r>
              <a:rPr>
                <a:latin typeface="Courier"/>
              </a:rPr>
              <a:t>]</a:t>
            </a:r>
          </a:p>
          <a:p>
            <a:pPr lvl="0" indent="0">
              <a:buNone/>
            </a:pPr>
            <a:r>
              <a:rPr>
                <a:latin typeface="Courier"/>
              </a:rPr>
              <a:t> [1] 4 4 1 1 2 1 4 2 2 4 4 3 3 3 4 4 4 1 2 1 1 2 2 4 2 1 2 2 4 6 8 2</a:t>
            </a:r>
          </a:p>
          <a:p>
            <a:pPr lvl="0" indent="0">
              <a:buNone/>
            </a:pPr>
            <a:r>
              <a:rPr>
                <a:latin typeface="Courier"/>
              </a:rPr>
              <a:t>df[, </a:t>
            </a:r>
            <a:r>
              <a:rPr>
                <a:solidFill>
                  <a:srgbClr val="4070A0"/>
                </a:solidFill>
                <a:latin typeface="Courier"/>
              </a:rPr>
              <a:t>"carb"</a:t>
            </a:r>
            <a:r>
              <a:rPr>
                <a:latin typeface="Courier"/>
              </a:rPr>
              <a:t>]</a:t>
            </a:r>
          </a:p>
          <a:p>
            <a:pPr lvl="0" indent="0">
              <a:buNone/>
            </a:pPr>
            <a:r>
              <a:rPr>
                <a:latin typeface="Courier"/>
              </a:rPr>
              <a:t> [1] 4 4 1 1 2 1 4 2 2 4 4 3 3 3 4 4 4 1 2 1 1 2 2 4 2 1 2 2 4 6 8 2</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Biggest</a:t>
            </a:r>
            <a:r>
              <a:rPr/>
              <a:t> </a:t>
            </a:r>
            <a:r>
              <a:rPr/>
              <a:t>difference</a:t>
            </a:r>
            <a:r>
              <a:rPr/>
              <a:t> </a:t>
            </a:r>
            <a:r>
              <a:rPr/>
              <a:t>between</a:t>
            </a:r>
            <a:r>
              <a:rPr/>
              <a:t> </a:t>
            </a:r>
            <a:r>
              <a:rPr>
                <a:latin typeface="Courier"/>
              </a:rPr>
              <a:t>tbl</a:t>
            </a:r>
            <a:r>
              <a:rPr/>
              <a:t> </a:t>
            </a:r>
            <a:r>
              <a:rPr/>
              <a:t>and</a:t>
            </a:r>
            <a:r>
              <a:rPr/>
              <a:t> </a:t>
            </a:r>
            <a:r>
              <a:rPr>
                <a:latin typeface="Courier"/>
              </a:rPr>
              <a:t>data.frame</a:t>
            </a:r>
            <a:r>
              <a:rPr/>
              <a:t>:</a:t>
            </a:r>
          </a:p>
        </p:txBody>
      </p:sp>
      <p:sp>
        <p:nvSpPr>
          <p:cNvPr id="3" name="Content Placeholder 2"/>
          <p:cNvSpPr>
            <a:spLocks noGrp="1"/>
          </p:cNvSpPr>
          <p:nvPr>
            <p:ph idx="1"/>
          </p:nvPr>
        </p:nvSpPr>
        <p:spPr/>
        <p:txBody>
          <a:bodyPr/>
          <a:lstStyle/>
          <a:p>
            <a:pPr lvl="0" marL="0" indent="0">
              <a:buNone/>
            </a:pPr>
            <a:r>
              <a:rPr/>
              <a:t>Mostly, </a:t>
            </a:r>
            <a:r>
              <a:rPr>
                <a:latin typeface="Courier"/>
              </a:rPr>
              <a:t>tbl</a:t>
            </a:r>
            <a:r>
              <a:rPr/>
              <a:t> (tibbles) are the same as </a:t>
            </a:r>
            <a:r>
              <a:rPr>
                <a:latin typeface="Courier"/>
              </a:rPr>
              <a:t>data.frame</a:t>
            </a:r>
            <a:r>
              <a:rPr/>
              <a:t>s, except they don’t print all lines. When subsetting only one column using brackets, a </a:t>
            </a:r>
            <a:r>
              <a:rPr>
                <a:latin typeface="Courier"/>
              </a:rPr>
              <a:t>data.frame</a:t>
            </a:r>
            <a:r>
              <a:rPr/>
              <a:t> will return a vector, but a </a:t>
            </a:r>
            <a:r>
              <a:rPr>
                <a:latin typeface="Courier"/>
              </a:rPr>
              <a:t>tbl</a:t>
            </a:r>
            <a:r>
              <a:rPr/>
              <a:t> will return a </a:t>
            </a:r>
            <a:r>
              <a:rPr>
                <a:latin typeface="Courier"/>
              </a:rPr>
              <a:t>tbl</a:t>
            </a:r>
          </a:p>
          <a:p>
            <a:pPr lvl="0" indent="0">
              <a:buNone/>
            </a:pPr>
            <a:r>
              <a:rPr>
                <a:latin typeface="Courier"/>
              </a:rPr>
              <a:t>df[, </a:t>
            </a:r>
            <a:r>
              <a:rPr>
                <a:solidFill>
                  <a:srgbClr val="40A070"/>
                </a:solidFill>
                <a:latin typeface="Courier"/>
              </a:rPr>
              <a:t>1</a:t>
            </a:r>
            <a:r>
              <a:rPr>
                <a:latin typeface="Courier"/>
              </a:rPr>
              <a:t>]</a:t>
            </a:r>
          </a:p>
          <a:p>
            <a:pPr lvl="0" indent="0">
              <a:buNone/>
            </a:pPr>
            <a:r>
              <a:rPr>
                <a:latin typeface="Courier"/>
              </a:rPr>
              <a:t> [1] 21.0 21.0 22.8 21.4 18.7 18.1 14.3 24.4 22.8 19.2 17.8 16.4 17.3 15.2 10.4
[16] 10.4 14.7 32.4 30.4 33.9 21.5 15.5 15.2 13.3 19.2 27.3 26.0 30.4 15.8 19.7
[31] 15.0 21.4</a:t>
            </a:r>
          </a:p>
          <a:p>
            <a:pPr lvl="0" indent="0">
              <a:buNone/>
            </a:pPr>
            <a:r>
              <a:rPr>
                <a:latin typeface="Courier"/>
              </a:rPr>
              <a:t>tbl[, </a:t>
            </a:r>
            <a:r>
              <a:rPr>
                <a:solidFill>
                  <a:srgbClr val="40A070"/>
                </a:solidFill>
                <a:latin typeface="Courier"/>
              </a:rPr>
              <a:t>1</a:t>
            </a:r>
            <a:r>
              <a:rPr>
                <a:latin typeface="Courier"/>
              </a:rPr>
              <a:t>]</a:t>
            </a:r>
          </a:p>
          <a:p>
            <a:pPr lvl="0" indent="0">
              <a:buNone/>
            </a:pPr>
            <a:r>
              <a:rPr>
                <a:latin typeface="Courier"/>
              </a:rPr>
              <a:t># A tibble: 32 × 1
     mpg
   &lt;dbl&gt;
 1  21  
 2  21  
 3  22.8
 4  21.4
 5  18.7
 6  18.1
 7  14.3
 8  24.4
 9  22.8
10  19.2
# ℹ 22 more rows</a:t>
            </a:r>
          </a:p>
          <a:p>
            <a:pPr lvl="0" indent="0">
              <a:buNone/>
            </a:pPr>
            <a:r>
              <a:rPr>
                <a:latin typeface="Courier"/>
              </a:rPr>
              <a:t>tbl[, </a:t>
            </a:r>
            <a:r>
              <a:rPr>
                <a:solidFill>
                  <a:srgbClr val="4070A0"/>
                </a:solidFill>
                <a:latin typeface="Courier"/>
              </a:rPr>
              <a:t>"mpg"</a:t>
            </a:r>
            <a:r>
              <a:rPr>
                <a:latin typeface="Courier"/>
              </a:rPr>
              <a:t>]</a:t>
            </a:r>
          </a:p>
          <a:p>
            <a:pPr lvl="0" indent="0">
              <a:buNone/>
            </a:pPr>
            <a:r>
              <a:rPr>
                <a:latin typeface="Courier"/>
              </a:rPr>
              <a:t># A tibble: 32 × 1
     mpg
   &lt;dbl&gt;
 1  21  
 2  21  
 3  22.8
 4  21.4
 5  18.7
 6  18.1
 7  14.3
 8  24.4
 9  22.8
10  19.2
# ℹ 22 more rows</a:t>
            </a:r>
          </a:p>
          <a:p>
            <a:pPr lvl="0" indent="0">
              <a:buNone/>
            </a:pPr>
            <a:r>
              <a:rPr>
                <a:latin typeface="Courier"/>
              </a:rPr>
              <a:t>df[, </a:t>
            </a:r>
            <a:r>
              <a:rPr>
                <a:solidFill>
                  <a:srgbClr val="40A070"/>
                </a:solidFill>
                <a:latin typeface="Courier"/>
              </a:rPr>
              <a:t>1</a:t>
            </a:r>
            <a:r>
              <a:rPr>
                <a:latin typeface="Courier"/>
              </a:rPr>
              <a:t>, drop </a:t>
            </a:r>
            <a:r>
              <a:rPr>
                <a:solidFill>
                  <a:srgbClr val="007020"/>
                </a:solidFill>
                <a:latin typeface="Courier"/>
              </a:rPr>
              <a:t>=</a:t>
            </a:r>
            <a:r>
              <a:rPr>
                <a:latin typeface="Courier"/>
              </a:rPr>
              <a:t> </a:t>
            </a:r>
            <a:r>
              <a:rPr>
                <a:solidFill>
                  <a:srgbClr val="880000"/>
                </a:solidFill>
                <a:latin typeface="Courier"/>
              </a:rPr>
              <a:t>FALSE</a:t>
            </a:r>
            <a:r>
              <a:rPr>
                <a:latin typeface="Courier"/>
              </a:rPr>
              <a:t>]</a:t>
            </a:r>
          </a:p>
          <a:p>
            <a:pPr lvl="0" indent="0">
              <a:buNone/>
            </a:pPr>
            <a:r>
              <a:rPr>
                <a:latin typeface="Courier"/>
              </a:rPr>
              <a:t>                     mpg
Mazda RX4           21.0
Mazda RX4 Wag       21.0
Datsun 710          22.8
Hornet 4 Drive      21.4
Hornet Sportabout   18.7
Valiant             18.1
Duster 360          14.3
Merc 240D           24.4
Merc 230            22.8
Merc 280            19.2
Merc 280C           17.8
Merc 450SE          16.4
Merc 450SL          17.3
Merc 450SLC         15.2
Cadillac Fleetwood  10.4
Lincoln Continental 10.4
Chrysler Imperial   14.7
Fiat 128            32.4
Honda Civic         30.4
Toyota Corolla      33.9
Toyota Corona       21.5
Dodge Challenger    15.5
AMC Javelin         15.2
Camaro Z28          13.3
Pontiac Firebird    19.2
Fiat X1-9           27.3
Porsche 914-2       26.0
Lotus Europa        30.4
Ford Pantera L      15.8
Ferrari Dino        19.7
Maserati Bora       15.0
Volvo 142E          21.4</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columns</a:t>
            </a:r>
            <a:r>
              <a:rPr/>
              <a:t> </a:t>
            </a:r>
            <a:r>
              <a:rPr/>
              <a:t>of</a:t>
            </a:r>
            <a:r>
              <a:rPr/>
              <a:t> </a:t>
            </a:r>
            <a:r>
              <a:rPr/>
              <a:t>a</a:t>
            </a:r>
            <a:r>
              <a:rPr/>
              <a:t> </a:t>
            </a:r>
            <a:r>
              <a:rPr>
                <a:latin typeface="Courier"/>
              </a:rPr>
              <a:t>data.frame</a:t>
            </a:r>
            <a:r>
              <a:rPr/>
              <a:t>:</a:t>
            </a:r>
          </a:p>
        </p:txBody>
      </p:sp>
      <p:sp>
        <p:nvSpPr>
          <p:cNvPr id="3" name="Content Placeholder 2"/>
          <p:cNvSpPr>
            <a:spLocks noGrp="1"/>
          </p:cNvSpPr>
          <p:nvPr>
            <p:ph idx="1"/>
          </p:nvPr>
        </p:nvSpPr>
        <p:spPr/>
        <p:txBody>
          <a:bodyPr/>
          <a:lstStyle/>
          <a:p>
            <a:pPr lvl="0" marL="0" indent="0">
              <a:buNone/>
            </a:pPr>
            <a:r>
              <a:rPr/>
              <a:t>We can select multiple columns using multiple column names:</a:t>
            </a:r>
          </a:p>
          <a:p>
            <a:pPr lvl="0" indent="0">
              <a:buNone/>
            </a:pPr>
            <a:r>
              <a:rPr>
                <a:latin typeface="Courier"/>
              </a:rPr>
              <a:t>df[, </a:t>
            </a:r>
            <a:r>
              <a:rPr>
                <a:solidFill>
                  <a:srgbClr val="06287E"/>
                </a:solidFill>
                <a:latin typeface="Courier"/>
              </a:rPr>
              <a:t>c</a:t>
            </a:r>
            <a:r>
              <a:rPr>
                <a:latin typeface="Courier"/>
              </a:rPr>
              <a:t>(</a:t>
            </a:r>
            <a:r>
              <a:rPr>
                <a:solidFill>
                  <a:srgbClr val="4070A0"/>
                </a:solidFill>
                <a:latin typeface="Courier"/>
              </a:rPr>
              <a:t>"mpg"</a:t>
            </a:r>
            <a:r>
              <a:rPr>
                <a:latin typeface="Courier"/>
              </a:rPr>
              <a:t>, </a:t>
            </a:r>
            <a:r>
              <a:rPr>
                <a:solidFill>
                  <a:srgbClr val="4070A0"/>
                </a:solidFill>
                <a:latin typeface="Courier"/>
              </a:rPr>
              <a:t>"cyl"</a:t>
            </a:r>
            <a:r>
              <a:rPr>
                <a:latin typeface="Courier"/>
              </a:rPr>
              <a:t>)]</a:t>
            </a:r>
          </a:p>
          <a:p>
            <a:pPr lvl="0" indent="0">
              <a:buNone/>
            </a:pPr>
            <a:r>
              <a:rPr>
                <a:latin typeface="Courier"/>
              </a:rPr>
              <a:t>                     mpg cyl
Mazda RX4           21.0   6
Mazda RX4 Wag       21.0   6
Datsun 710          22.8   4
Hornet 4 Drive      21.4   6
Hornet Sportabout   18.7   8
Valiant             18.1   6
Duster 360          14.3   8
Merc 240D           24.4   4
Merc 230            22.8   4
Merc 280            19.2   6
Merc 280C           17.8   6
Merc 450SE          16.4   8
Merc 450SL          17.3   8
Merc 450SLC         15.2   8
Cadillac Fleetwood  10.4   8
Lincoln Continental 10.4   8
Chrysler Imperial   14.7   8
Fiat 128            32.4   4
Honda Civic         30.4   4
Toyota Corolla      33.9   4
Toyota Corona       21.5   4
Dodge Challenger    15.5   8
AMC Javelin         15.2   8
Camaro Z28          13.3   8
Pontiac Firebird    19.2   8
Fiat X1-9           27.3   4
Porsche 914-2       26.0   4
Lotus Europa        30.4   4
Ford Pantera L      15.8   8
Ferrari Dino        19.7   6
Maserati Bora       15.0   8
Volvo 142E          21.4   4</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a:t>
            </a:r>
            <a:r>
              <a:rPr>
                <a:latin typeface="Courier"/>
              </a:rPr>
              <a:t>select</a:t>
            </a:r>
            <a:r>
              <a:rPr/>
              <a:t> command from </a:t>
            </a:r>
            <a:r>
              <a:rPr>
                <a:latin typeface="Courier"/>
              </a:rPr>
              <a:t>dplyr</a:t>
            </a:r>
            <a:r>
              <a:rPr/>
              <a:t> allows you to subset</a:t>
            </a:r>
          </a:p>
          <a:p>
            <a:pPr lvl="0" indent="0">
              <a:buNone/>
            </a:pPr>
            <a:r>
              <a:rPr>
                <a:solidFill>
                  <a:srgbClr val="06287E"/>
                </a:solidFill>
                <a:latin typeface="Courier"/>
              </a:rPr>
              <a:t>select</a:t>
            </a:r>
            <a:r>
              <a:rPr>
                <a:latin typeface="Courier"/>
              </a:rPr>
              <a:t>(df, mpg)</a:t>
            </a:r>
          </a:p>
          <a:p>
            <a:pPr lvl="0" indent="0">
              <a:buNone/>
            </a:pPr>
            <a:r>
              <a:rPr>
                <a:latin typeface="Courier"/>
              </a:rPr>
              <a:t>                     mpg
Mazda RX4           21.0
Mazda RX4 Wag       21.0
Datsun 710          22.8
Hornet 4 Drive      21.4
Hornet Sportabout   18.7
Valiant             18.1
Duster 360          14.3
Merc 240D           24.4
Merc 230            22.8
Merc 280            19.2
Merc 280C           17.8
Merc 450SE          16.4
Merc 450SL          17.3
Merc 450SLC         15.2
Cadillac Fleetwood  10.4
Lincoln Continental 10.4
Chrysler Imperial   14.7
Fiat 128            32.4
Honda Civic         30.4
Toyota Corolla      33.9
Toyota Corona       21.5
Dodge Challenger    15.5
AMC Javelin         15.2
Camaro Z28          13.3
Pontiac Firebird    19.2
Fiat X1-9           27.3
Porsche 914-2       26.0
Lotus Europa        30.4
Ford Pantera L      15.8
Ferrari Dino        19.7
Maserati Bora       15.0
Volvo 142E          21.4</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Select</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a:t>
            </a:r>
            <a:r>
              <a:rPr>
                <a:latin typeface="Courier"/>
              </a:rPr>
              <a:t>select</a:t>
            </a:r>
            <a:r>
              <a:rPr/>
              <a:t> command from </a:t>
            </a:r>
            <a:r>
              <a:rPr>
                <a:latin typeface="Courier"/>
              </a:rPr>
              <a:t>dplyr</a:t>
            </a:r>
            <a:r>
              <a:rPr/>
              <a:t> allows you to subset columns of</a:t>
            </a:r>
          </a:p>
          <a:p>
            <a:pPr lvl="0" indent="0">
              <a:buNone/>
            </a:pPr>
            <a:r>
              <a:rPr>
                <a:solidFill>
                  <a:srgbClr val="06287E"/>
                </a:solidFill>
                <a:latin typeface="Courier"/>
              </a:rPr>
              <a:t>select</a:t>
            </a:r>
            <a:r>
              <a:rPr>
                <a:latin typeface="Courier"/>
              </a:rPr>
              <a:t>(df, mpg, cyl)</a:t>
            </a:r>
          </a:p>
          <a:p>
            <a:pPr lvl="0" indent="0">
              <a:buNone/>
            </a:pPr>
            <a:r>
              <a:rPr>
                <a:latin typeface="Courier"/>
              </a:rPr>
              <a:t>                     mpg cyl
Mazda RX4           21.0   6
Mazda RX4 Wag       21.0   6
Datsun 710          22.8   4
Hornet 4 Drive      21.4   6
Hornet Sportabout   18.7   8
Valiant             18.1   6
Duster 360          14.3   8
Merc 240D           24.4   4
Merc 230            22.8   4
Merc 280            19.2   6
Merc 280C           17.8   6
Merc 450SE          16.4   8
Merc 450SL          17.3   8
Merc 450SLC         15.2   8
Cadillac Fleetwood  10.4   8
Lincoln Continental 10.4   8
Chrysler Imperial   14.7   8
Fiat 128            32.4   4
Honda Civic         30.4   4
Toyota Corolla      33.9   4
Toyota Corona       21.5   4
Dodge Challenger    15.5   8
AMC Javelin         15.2   8
Camaro Z28          13.3   8
Pontiac Firebird    19.2   8
Fiat X1-9           27.3   4
Porsche 914-2       26.0   4
Lotus Europa        30.4   4
Ford Pantera L      15.8   8
Ferrari Dino        19.7   6
Maserati Bora       15.0   8
Volvo 142E          21.4   4</a:t>
            </a:r>
          </a:p>
          <a:p>
            <a:pPr lvl="0" indent="0">
              <a:buNone/>
            </a:pPr>
            <a:r>
              <a:rPr>
                <a:solidFill>
                  <a:srgbClr val="06287E"/>
                </a:solidFill>
                <a:latin typeface="Courier"/>
              </a:rPr>
              <a:t>select</a:t>
            </a:r>
            <a:r>
              <a:rPr>
                <a:latin typeface="Courier"/>
              </a:rPr>
              <a:t>(df, </a:t>
            </a:r>
            <a:r>
              <a:rPr>
                <a:solidFill>
                  <a:srgbClr val="06287E"/>
                </a:solidFill>
                <a:latin typeface="Courier"/>
              </a:rPr>
              <a:t>starts_with</a:t>
            </a:r>
            <a:r>
              <a:rPr>
                <a:latin typeface="Courier"/>
              </a:rPr>
              <a:t>(</a:t>
            </a:r>
            <a:r>
              <a:rPr>
                <a:solidFill>
                  <a:srgbClr val="4070A0"/>
                </a:solidFill>
                <a:latin typeface="Courier"/>
              </a:rPr>
              <a:t>"c"</a:t>
            </a:r>
            <a:r>
              <a:rPr>
                <a:latin typeface="Courier"/>
              </a:rPr>
              <a:t>))</a:t>
            </a:r>
          </a:p>
          <a:p>
            <a:pPr lvl="0" indent="0">
              <a:buNone/>
            </a:pPr>
            <a:r>
              <a:rPr>
                <a:latin typeface="Courier"/>
              </a:rPr>
              <a:t>                    cyl carb
Mazda RX4             6    4
Mazda RX4 Wag         6    4
Datsun 710            4    1
Hornet 4 Drive        6    1
Hornet Sportabout     8    2
Valiant               6    1
Duster 360            8    4
Merc 240D             4    2
Merc 230              4    2
Merc 280              6    4
Merc 280C             6    4
Merc 450SE            8    3
Merc 450SL            8    3
Merc 450SLC           8    3
Cadillac Fleetwood    8    4
Lincoln Continental   8    4
Chrysler Imperial     8    4
Fiat 128              4    1
Honda Civic           4    2
Toyota Corolla        4    1
Toyota Corona         4    1
Dodge Challenger      8    2
AMC Javelin           8    2
Camaro Z28            8    4
Pontiac Firebird      8    2
Fiat X1-9             4    1
Porsche 914-2         4    2
Lotus Europa          4    2
Ford Pantera L        8    4
Ferrari Dino          6    6
Maserati Bora         8    8
Volvo 142E            4    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Lab</a:t>
            </a:r>
            <a:r>
              <a:rPr/>
              <a:t> </a:t>
            </a:r>
            <a:r>
              <a:rPr/>
              <a:t>Part</a:t>
            </a:r>
            <a:r>
              <a:rPr/>
              <a:t> </a:t>
            </a:r>
            <a:r>
              <a:rPr/>
              <a:t>2</a:t>
            </a:r>
          </a:p>
        </p:txBody>
      </p:sp>
      <p:sp>
        <p:nvSpPr>
          <p:cNvPr id="3" name="Content Placeholder 2"/>
          <p:cNvSpPr>
            <a:spLocks noGrp="1"/>
          </p:cNvSpPr>
          <p:nvPr>
            <p:ph idx="1"/>
          </p:nvPr>
        </p:nvSpPr>
        <p:spPr/>
        <p:txBody>
          <a:bodyPr/>
          <a:lstStyle/>
          <a:p>
            <a:pPr lvl="0" marL="0" indent="0">
              <a:buNone/>
            </a:pPr>
            <a:r>
              <a:rPr>
                <a:hlinkClick r:id="rId2"/>
              </a:rPr>
              <a:t>Website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Subsetting</a:t>
            </a:r>
            <a:r>
              <a:rPr/>
              <a:t> </a:t>
            </a:r>
            <a:r>
              <a:rPr/>
              <a:t>Rows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rows</a:t>
            </a:r>
            <a:r>
              <a:rPr/>
              <a:t> </a:t>
            </a:r>
            <a:r>
              <a:rPr/>
              <a:t>of</a:t>
            </a:r>
            <a:r>
              <a:rPr/>
              <a:t> </a:t>
            </a:r>
            <a:r>
              <a:rPr/>
              <a:t>a</a:t>
            </a:r>
            <a:r>
              <a:rPr/>
              <a:t> </a:t>
            </a:r>
            <a:r>
              <a:rPr>
                <a:latin typeface="Courier"/>
              </a:rPr>
              <a:t>data.frame</a:t>
            </a:r>
            <a:r>
              <a:rPr/>
              <a:t> </a:t>
            </a:r>
            <a:r>
              <a:rPr/>
              <a:t>with</a:t>
            </a:r>
            <a:r>
              <a:rPr/>
              <a:t> </a:t>
            </a:r>
            <a:r>
              <a:rPr/>
              <a:t>indices:</a:t>
            </a:r>
          </a:p>
        </p:txBody>
      </p:sp>
      <p:sp>
        <p:nvSpPr>
          <p:cNvPr id="3" name="Content Placeholder 2"/>
          <p:cNvSpPr>
            <a:spLocks noGrp="1"/>
          </p:cNvSpPr>
          <p:nvPr>
            <p:ph idx="1"/>
          </p:nvPr>
        </p:nvSpPr>
        <p:spPr/>
        <p:txBody>
          <a:bodyPr/>
          <a:lstStyle/>
          <a:p>
            <a:pPr lvl="0" marL="0" indent="0">
              <a:buNone/>
            </a:pPr>
            <a:r>
              <a:rPr/>
              <a:t>Let’s select </a:t>
            </a:r>
            <a:r>
              <a:rPr b="1"/>
              <a:t>rows</a:t>
            </a:r>
            <a:r>
              <a:rPr/>
              <a:t> 1 and 3 from </a:t>
            </a:r>
            <a:r>
              <a:rPr>
                <a:latin typeface="Courier"/>
              </a:rPr>
              <a:t>df</a:t>
            </a:r>
            <a:r>
              <a:rPr/>
              <a:t> using brackets:</a:t>
            </a:r>
          </a:p>
          <a:p>
            <a:pPr lvl="0" indent="0">
              <a:buNone/>
            </a:pPr>
            <a:r>
              <a:rPr>
                <a:latin typeface="Courier"/>
              </a:rPr>
              <a:t>df[</a:t>
            </a:r>
            <a:r>
              <a:rPr>
                <a:solidFill>
                  <a:srgbClr val="06287E"/>
                </a:solidFill>
                <a:latin typeface="Courier"/>
              </a:rPr>
              <a:t>c</a:t>
            </a:r>
            <a:r>
              <a:rPr>
                <a:latin typeface="Courier"/>
              </a:rPr>
              <a:t>(</a:t>
            </a:r>
            <a:r>
              <a:rPr>
                <a:solidFill>
                  <a:srgbClr val="40A070"/>
                </a:solidFill>
                <a:latin typeface="Courier"/>
              </a:rPr>
              <a:t>1</a:t>
            </a:r>
            <a:r>
              <a:rPr>
                <a:latin typeface="Courier"/>
              </a:rPr>
              <a:t>, </a:t>
            </a:r>
            <a:r>
              <a:rPr>
                <a:solidFill>
                  <a:srgbClr val="40A070"/>
                </a:solidFill>
                <a:latin typeface="Courier"/>
              </a:rPr>
              <a:t>3</a:t>
            </a:r>
            <a:r>
              <a:rPr>
                <a:latin typeface="Courier"/>
              </a:rPr>
              <a:t>), ]</a:t>
            </a:r>
          </a:p>
          <a:p>
            <a:pPr lvl="0" indent="0">
              <a:buNone/>
            </a:pPr>
            <a:r>
              <a:rPr>
                <a:latin typeface="Courier"/>
              </a:rPr>
              <a:t>            mpg cyl disp  hp drat   wt  qsec vs am gear carb
Mazda RX4  21.0   6  160 110 3.90 2.62 16.46  0  1    4    4
Datsun 710 22.8   4  108  93 3.85 2.32 18.61  1  1    4    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rows</a:t>
            </a:r>
            <a:r>
              <a:rPr/>
              <a:t> </a:t>
            </a:r>
            <a:r>
              <a:rPr/>
              <a:t>of</a:t>
            </a:r>
            <a:r>
              <a:rPr/>
              <a:t> </a:t>
            </a:r>
            <a:r>
              <a:rPr/>
              <a:t>a</a:t>
            </a:r>
            <a:r>
              <a:rPr/>
              <a:t> </a:t>
            </a:r>
            <a:r>
              <a:rPr>
                <a:latin typeface="Courier"/>
              </a:rPr>
              <a:t>data.frame</a:t>
            </a:r>
            <a:r>
              <a:rPr/>
              <a:t>:</a:t>
            </a:r>
          </a:p>
        </p:txBody>
      </p:sp>
      <p:sp>
        <p:nvSpPr>
          <p:cNvPr id="3" name="Content Placeholder 2"/>
          <p:cNvSpPr>
            <a:spLocks noGrp="1"/>
          </p:cNvSpPr>
          <p:nvPr>
            <p:ph idx="1"/>
          </p:nvPr>
        </p:nvSpPr>
        <p:spPr/>
        <p:txBody>
          <a:bodyPr/>
          <a:lstStyle/>
          <a:p>
            <a:pPr lvl="0" marL="0" indent="0">
              <a:buNone/>
            </a:pPr>
            <a:r>
              <a:rPr/>
              <a:t>Let’s select the rows of </a:t>
            </a:r>
            <a:r>
              <a:rPr>
                <a:latin typeface="Courier"/>
              </a:rPr>
              <a:t>df</a:t>
            </a:r>
            <a:r>
              <a:rPr/>
              <a:t> where the </a:t>
            </a:r>
            <a:r>
              <a:rPr>
                <a:latin typeface="Courier"/>
              </a:rPr>
              <a:t>mpg</a:t>
            </a:r>
            <a:r>
              <a:rPr/>
              <a:t> column is greater than 20 or is less than 14. Without any index for columns, all columns are returned:</a:t>
            </a:r>
          </a:p>
          <a:p>
            <a:pPr lvl="0" indent="0">
              <a:buNone/>
            </a:pPr>
            <a:r>
              <a:rPr>
                <a:latin typeface="Courier"/>
              </a:rPr>
              <a:t>df[df</a:t>
            </a:r>
            <a:r>
              <a:rPr>
                <a:solidFill>
                  <a:srgbClr val="4070A0"/>
                </a:solidFill>
                <a:latin typeface="Courier"/>
              </a:rPr>
              <a:t>$</a:t>
            </a:r>
            <a:r>
              <a:rPr>
                <a:latin typeface="Courier"/>
              </a:rPr>
              <a:t>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t>
            </a:r>
            <a:r>
              <a:rPr>
                <a:latin typeface="Courier"/>
              </a:rPr>
              <a:t> df</a:t>
            </a:r>
            <a:r>
              <a:rPr>
                <a:solidFill>
                  <a:srgbClr val="4070A0"/>
                </a:solidFill>
                <a:latin typeface="Courier"/>
              </a:rPr>
              <a:t>$</a:t>
            </a:r>
            <a:r>
              <a:rPr>
                <a:latin typeface="Courier"/>
              </a:rPr>
              <a:t>mpg </a:t>
            </a:r>
            <a:r>
              <a:rPr>
                <a:solidFill>
                  <a:srgbClr val="4070A0"/>
                </a:solidFill>
                <a:latin typeface="Courier"/>
              </a:rPr>
              <a:t>&lt;</a:t>
            </a:r>
            <a:r>
              <a:rPr>
                <a:latin typeface="Courier"/>
              </a:rPr>
              <a:t> </a:t>
            </a:r>
            <a:r>
              <a:rPr>
                <a:solidFill>
                  <a:srgbClr val="40A070"/>
                </a:solidFill>
                <a:latin typeface="Courier"/>
              </a:rPr>
              <a:t>14</a:t>
            </a:r>
            <a:r>
              <a:rPr>
                <a:latin typeface="Courier"/>
              </a:rPr>
              <a:t>, ]</a:t>
            </a:r>
          </a:p>
          <a:p>
            <a:pPr lvl="0" indent="0">
              <a:buNone/>
            </a:pPr>
            <a:r>
              <a:rPr>
                <a:latin typeface="Courier"/>
              </a:rPr>
              <a:t>                     mpg cyl  disp  hp drat    wt  qsec vs am gear carb
Mazda RX4           21.0   6 160.0 110 3.90 2.620 16.46  0  1    4    4
Mazda RX4 Wag       21.0   6 160.0 110 3.90 2.875 17.02  0  1    4    4
Datsun 710          22.8   4 108.0  93 3.85 2.320 18.61  1  1    4    1
Hornet 4 Drive      21.4   6 258.0 110 3.08 3.215 19.44  1  0    3    1
Merc 240D           24.4   4 146.7  62 3.69 3.190 20.00  1  0    4    2
Merc 230            22.8   4 140.8  95 3.92 3.150 22.90  1  0    4    2
Cadillac Fleetwood  10.4   8 472.0 205 2.93 5.250 17.98  0  0    3    4
Lincoln Continental 10.4   8 460.0 215 3.00 5.424 17.82  0  0    3    4
Fiat 128            32.4   4  78.7  66 4.08 2.200 19.47  1  1    4    1
Honda Civic         30.4   4  75.7  52 4.93 1.615 18.52  1  1    4    2
Toyota Corolla      33.9   4  71.1  65 4.22 1.835 19.90  1  1    4    1
Toyota Corona       21.5   4 120.1  97 3.70 2.465 20.01  1  0    3    1
Camaro Z28          13.3   8 350.0 245 3.73 3.840 15.41  0  0    3    4
Fiat X1-9           27.3   4  79.0  66 4.08 1.935 18.90  1  1    4    1
Porsche 914-2       26.0   4 120.3  91 4.43 2.140 16.70  0  1    5    2
Lotus Europa        30.4   4  95.1 113 3.77 1.513 16.90  1  1    5    2
Volvo 142E          21.4   4 121.0 109 4.11 2.780 18.60  1  1    4    2</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rows</a:t>
            </a:r>
            <a:r>
              <a:rPr/>
              <a:t> </a:t>
            </a:r>
            <a:r>
              <a:rPr/>
              <a:t>of</a:t>
            </a:r>
            <a:r>
              <a:rPr/>
              <a:t> </a:t>
            </a:r>
            <a:r>
              <a:rPr/>
              <a:t>a</a:t>
            </a:r>
            <a:r>
              <a:rPr/>
              <a:t> </a:t>
            </a:r>
            <a:r>
              <a:rPr>
                <a:latin typeface="Courier"/>
              </a:rPr>
              <a:t>data.frame</a:t>
            </a:r>
            <a:r>
              <a:rPr/>
              <a:t>:</a:t>
            </a:r>
          </a:p>
        </p:txBody>
      </p:sp>
      <p:sp>
        <p:nvSpPr>
          <p:cNvPr id="3" name="Content Placeholder 2"/>
          <p:cNvSpPr>
            <a:spLocks noGrp="1"/>
          </p:cNvSpPr>
          <p:nvPr>
            <p:ph idx="1"/>
          </p:nvPr>
        </p:nvSpPr>
        <p:spPr/>
        <p:txBody>
          <a:bodyPr/>
          <a:lstStyle/>
          <a:p>
            <a:pPr lvl="0" marL="0" indent="0">
              <a:buNone/>
            </a:pPr>
            <a:r>
              <a:rPr/>
              <a:t>We can subset both rows and columns at the same time:</a:t>
            </a:r>
          </a:p>
          <a:p>
            <a:pPr lvl="0" indent="0">
              <a:buNone/>
            </a:pPr>
            <a:r>
              <a:rPr>
                <a:latin typeface="Courier"/>
              </a:rPr>
              <a:t>df[df</a:t>
            </a:r>
            <a:r>
              <a:rPr>
                <a:solidFill>
                  <a:srgbClr val="4070A0"/>
                </a:solidFill>
                <a:latin typeface="Courier"/>
              </a:rPr>
              <a:t>$</a:t>
            </a:r>
            <a:r>
              <a:rPr>
                <a:latin typeface="Courier"/>
              </a:rPr>
              <a:t>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t>
            </a:r>
            <a:r>
              <a:rPr>
                <a:latin typeface="Courier"/>
              </a:rPr>
              <a:t> df</a:t>
            </a:r>
            <a:r>
              <a:rPr>
                <a:solidFill>
                  <a:srgbClr val="4070A0"/>
                </a:solidFill>
                <a:latin typeface="Courier"/>
              </a:rPr>
              <a:t>$</a:t>
            </a:r>
            <a:r>
              <a:rPr>
                <a:latin typeface="Courier"/>
              </a:rPr>
              <a:t>mpg </a:t>
            </a:r>
            <a:r>
              <a:rPr>
                <a:solidFill>
                  <a:srgbClr val="4070A0"/>
                </a:solidFill>
                <a:latin typeface="Courier"/>
              </a:rPr>
              <a:t>&lt;</a:t>
            </a:r>
            <a:r>
              <a:rPr>
                <a:latin typeface="Courier"/>
              </a:rPr>
              <a:t> </a:t>
            </a:r>
            <a:r>
              <a:rPr>
                <a:solidFill>
                  <a:srgbClr val="40A070"/>
                </a:solidFill>
                <a:latin typeface="Courier"/>
              </a:rPr>
              <a:t>14</a:t>
            </a:r>
            <a:r>
              <a:rPr>
                <a:latin typeface="Courier"/>
              </a:rPr>
              <a:t>, </a:t>
            </a:r>
            <a:r>
              <a:rPr>
                <a:solidFill>
                  <a:srgbClr val="06287E"/>
                </a:solidFill>
                <a:latin typeface="Courier"/>
              </a:rPr>
              <a:t>c</a:t>
            </a:r>
            <a:r>
              <a:rPr>
                <a:latin typeface="Courier"/>
              </a:rPr>
              <a:t>(</a:t>
            </a:r>
            <a:r>
              <a:rPr>
                <a:solidFill>
                  <a:srgbClr val="4070A0"/>
                </a:solidFill>
                <a:latin typeface="Courier"/>
              </a:rPr>
              <a:t>"cyl"</a:t>
            </a:r>
            <a:r>
              <a:rPr>
                <a:latin typeface="Courier"/>
              </a:rPr>
              <a:t>, </a:t>
            </a:r>
            <a:r>
              <a:rPr>
                <a:solidFill>
                  <a:srgbClr val="4070A0"/>
                </a:solidFill>
                <a:latin typeface="Courier"/>
              </a:rPr>
              <a:t>"hp"</a:t>
            </a:r>
            <a:r>
              <a:rPr>
                <a:latin typeface="Courier"/>
              </a:rPr>
              <a:t>)]</a:t>
            </a:r>
          </a:p>
          <a:p>
            <a:pPr lvl="0" indent="0">
              <a:buNone/>
            </a:pPr>
            <a:r>
              <a:rPr>
                <a:latin typeface="Courier"/>
              </a:rPr>
              <a:t>                    cyl  hp
Mazda RX4             6 110
Mazda RX4 Wag         6 110
Datsun 710            4  93
Hornet 4 Drive        6 110
Merc 240D             4  62
Merc 230              4  95
Cadillac Fleetwood    8 205
Lincoln Continental   8 215
Fiat 128              4  66
Honda Civic           4  52
Toyota Corolla        4  65
Toyota Corona         4  97
Camaro Z28            8 245
Fiat X1-9             4  66
Porsche 914-2         4  91
Lotus Europa          4 113
Volvo 142E            4 109</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rows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command in </a:t>
            </a:r>
            <a:r>
              <a:rPr>
                <a:latin typeface="Courier"/>
              </a:rPr>
              <a:t>dplyr</a:t>
            </a:r>
            <a:r>
              <a:rPr/>
              <a:t> for subsetting rows is </a:t>
            </a:r>
            <a:r>
              <a:rPr>
                <a:latin typeface="Courier"/>
              </a:rPr>
              <a:t>filter</a:t>
            </a:r>
            <a:r>
              <a:rPr/>
              <a:t>. Try </a:t>
            </a:r>
            <a:r>
              <a:rPr>
                <a:latin typeface="Courier"/>
              </a:rPr>
              <a:t>?filter</a:t>
            </a:r>
          </a:p>
          <a:p>
            <a:pPr lvl="0" indent="0">
              <a:buNone/>
            </a:pPr>
            <a:r>
              <a:rPr>
                <a:solidFill>
                  <a:srgbClr val="06287E"/>
                </a:solidFill>
                <a:latin typeface="Courier"/>
              </a:rPr>
              <a:t>filter</a:t>
            </a:r>
            <a:r>
              <a:rPr>
                <a:latin typeface="Courier"/>
              </a:rPr>
              <a:t>(df, 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t>
            </a:r>
            <a:r>
              <a:rPr>
                <a:latin typeface="Courier"/>
              </a:rPr>
              <a:t> mpg </a:t>
            </a:r>
            <a:r>
              <a:rPr>
                <a:solidFill>
                  <a:srgbClr val="4070A0"/>
                </a:solidFill>
                <a:latin typeface="Courier"/>
              </a:rPr>
              <a:t>&lt;</a:t>
            </a:r>
            <a:r>
              <a:rPr>
                <a:latin typeface="Courier"/>
              </a:rPr>
              <a:t> </a:t>
            </a:r>
            <a:r>
              <a:rPr>
                <a:solidFill>
                  <a:srgbClr val="40A070"/>
                </a:solidFill>
                <a:latin typeface="Courier"/>
              </a:rPr>
              <a:t>14</a:t>
            </a:r>
            <a:r>
              <a:rPr>
                <a:latin typeface="Courier"/>
              </a:rPr>
              <a:t>)</a:t>
            </a:r>
          </a:p>
          <a:p>
            <a:pPr lvl="0" indent="0">
              <a:buNone/>
            </a:pPr>
            <a:r>
              <a:rPr>
                <a:latin typeface="Courier"/>
              </a:rPr>
              <a:t>                     mpg cyl  disp  hp drat    wt  qsec vs am gear carb
Mazda RX4           21.0   6 160.0 110 3.90 2.620 16.46  0  1    4    4
Mazda RX4 Wag       21.0   6 160.0 110 3.90 2.875 17.02  0  1    4    4
Datsun 710          22.8   4 108.0  93 3.85 2.320 18.61  1  1    4    1
Hornet 4 Drive      21.4   6 258.0 110 3.08 3.215 19.44  1  0    3    1
Merc 240D           24.4   4 146.7  62 3.69 3.190 20.00  1  0    4    2
Merc 230            22.8   4 140.8  95 3.92 3.150 22.90  1  0    4    2
Cadillac Fleetwood  10.4   8 472.0 205 2.93 5.250 17.98  0  0    3    4
Lincoln Continental 10.4   8 460.0 215 3.00 5.424 17.82  0  0    3    4
Fiat 128            32.4   4  78.7  66 4.08 2.200 19.47  1  1    4    1
Honda Civic         30.4   4  75.7  52 4.93 1.615 18.52  1  1    4    2
Toyota Corolla      33.9   4  71.1  65 4.22 1.835 19.90  1  1    4    1
Toyota Corona       21.5   4 120.1  97 3.70 2.465 20.01  1  0    3    1
Camaro Z28          13.3   8 350.0 245 3.73 3.840 15.41  0  0    3    4
Fiat X1-9           27.3   4  79.0  66 4.08 1.935 18.90  1  1    4    1
Porsche 914-2       26.0   4 120.3  91 4.43 2.140 16.70  0  1    5    2
Lotus Europa        30.4   4  95.1 113 3.77 1.513 16.90  1  1    5    2
Volvo 142E          21.4   4 121.0 109 4.11 2.780 18.60  1  1    4    2</a:t>
            </a:r>
          </a:p>
          <a:p>
            <a:pPr lvl="0" marL="0" indent="0">
              <a:buNone/>
            </a:pPr>
            <a:r>
              <a:rPr/>
              <a:t>Note, no </a:t>
            </a:r>
            <a:r>
              <a:rPr>
                <a:latin typeface="Courier"/>
              </a:rPr>
              <a:t>$</a:t>
            </a:r>
            <a:r>
              <a:rPr/>
              <a:t> or subsetting is necessary. R “knows” </a:t>
            </a:r>
            <a:r>
              <a:rPr>
                <a:latin typeface="Courier"/>
              </a:rPr>
              <a:t>mpg</a:t>
            </a:r>
            <a:r>
              <a:rPr/>
              <a:t> refers to a column of </a:t>
            </a:r>
            <a:r>
              <a:rPr>
                <a:latin typeface="Courier"/>
              </a:rPr>
              <a:t>df</a:t>
            </a:r>
            <a:r>
              <a:rPr/>
              <a: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Subset</a:t>
            </a:r>
            <a:r>
              <a:rPr/>
              <a:t> </a:t>
            </a:r>
            <a:r>
              <a:rPr/>
              <a:t>rows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By default, you can separate conditions by commas, and </a:t>
            </a:r>
            <a:r>
              <a:rPr>
                <a:latin typeface="Courier"/>
              </a:rPr>
              <a:t>filter</a:t>
            </a:r>
            <a:r>
              <a:rPr/>
              <a:t> assumes these statements are joined by </a:t>
            </a:r>
            <a:r>
              <a:rPr>
                <a:latin typeface="Courier"/>
              </a:rPr>
              <a:t>&amp;</a:t>
            </a:r>
          </a:p>
          <a:p>
            <a:pPr lvl="0" indent="0">
              <a:buNone/>
            </a:pPr>
            <a:r>
              <a:rPr>
                <a:solidFill>
                  <a:srgbClr val="06287E"/>
                </a:solidFill>
                <a:latin typeface="Courier"/>
              </a:rPr>
              <a:t>filter</a:t>
            </a:r>
            <a:r>
              <a:rPr>
                <a:latin typeface="Courier"/>
              </a:rPr>
              <a:t>(df, 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&amp;</a:t>
            </a:r>
            <a:r>
              <a:rPr>
                <a:latin typeface="Courier"/>
              </a:rPr>
              <a:t> cyl </a:t>
            </a:r>
            <a:r>
              <a:rPr>
                <a:solidFill>
                  <a:srgbClr val="4070A0"/>
                </a:solidFill>
                <a:latin typeface="Courier"/>
              </a:rPr>
              <a:t>==</a:t>
            </a:r>
            <a:r>
              <a:rPr>
                <a:latin typeface="Courier"/>
              </a:rPr>
              <a:t> </a:t>
            </a:r>
            <a:r>
              <a:rPr>
                <a:solidFill>
                  <a:srgbClr val="40A070"/>
                </a:solidFill>
                <a:latin typeface="Courier"/>
              </a:rPr>
              <a:t>4</a:t>
            </a:r>
            <a:r>
              <a:rPr>
                <a:latin typeface="Courier"/>
              </a:rPr>
              <a:t>)</a:t>
            </a:r>
          </a:p>
          <a:p>
            <a:pPr lvl="0" indent="0">
              <a:buNone/>
            </a:pPr>
            <a:r>
              <a:rPr>
                <a:latin typeface="Courier"/>
              </a:rPr>
              <a:t>                mpg cyl  disp  hp drat    wt  qsec vs am gear carb
Datsun 710     22.8   4 108.0  93 3.85 2.320 18.61  1  1    4    1
Merc 240D      24.4   4 146.7  62 3.69 3.190 20.00  1  0    4    2
Merc 230       22.8   4 140.8  95 3.92 3.150 22.90  1  0    4    2
Fiat 128       32.4   4  78.7  66 4.08 2.200 19.47  1  1    4    1
Honda Civic    30.4   4  75.7  52 4.93 1.615 18.52  1  1    4    2
Toyota Corolla 33.9   4  71.1  65 4.22 1.835 19.90  1  1    4    1
Toyota Corona  21.5   4 120.1  97 3.70 2.465 20.01  1  0    3    1
Fiat X1-9      27.3   4  79.0  66 4.08 1.935 18.90  1  1    4    1
Porsche 914-2  26.0   4 120.3  91 4.43 2.140 16.70  0  1    5    2
Lotus Europa   30.4   4  95.1 113 3.77 1.513 16.90  1  1    5    2
Volvo 142E     21.4   4 121.0 109 4.11 2.780 18.60  1  1    4    2</a:t>
            </a:r>
          </a:p>
          <a:p>
            <a:pPr lvl="0" indent="0">
              <a:buNone/>
            </a:pPr>
            <a:r>
              <a:rPr>
                <a:solidFill>
                  <a:srgbClr val="06287E"/>
                </a:solidFill>
                <a:latin typeface="Courier"/>
              </a:rPr>
              <a:t>filter</a:t>
            </a:r>
            <a:r>
              <a:rPr>
                <a:latin typeface="Courier"/>
              </a:rPr>
              <a:t>(df, mpg </a:t>
            </a:r>
            <a:r>
              <a:rPr>
                <a:solidFill>
                  <a:srgbClr val="4070A0"/>
                </a:solidFill>
                <a:latin typeface="Courier"/>
              </a:rPr>
              <a:t>&gt;</a:t>
            </a:r>
            <a:r>
              <a:rPr>
                <a:latin typeface="Courier"/>
              </a:rPr>
              <a:t> </a:t>
            </a:r>
            <a:r>
              <a:rPr>
                <a:solidFill>
                  <a:srgbClr val="40A070"/>
                </a:solidFill>
                <a:latin typeface="Courier"/>
              </a:rPr>
              <a:t>20</a:t>
            </a:r>
            <a:r>
              <a:rPr>
                <a:latin typeface="Courier"/>
              </a:rPr>
              <a:t>, cyl </a:t>
            </a:r>
            <a:r>
              <a:rPr>
                <a:solidFill>
                  <a:srgbClr val="4070A0"/>
                </a:solidFill>
                <a:latin typeface="Courier"/>
              </a:rPr>
              <a:t>==</a:t>
            </a:r>
            <a:r>
              <a:rPr>
                <a:latin typeface="Courier"/>
              </a:rPr>
              <a:t> </a:t>
            </a:r>
            <a:r>
              <a:rPr>
                <a:solidFill>
                  <a:srgbClr val="40A070"/>
                </a:solidFill>
                <a:latin typeface="Courier"/>
              </a:rPr>
              <a:t>4</a:t>
            </a:r>
            <a:r>
              <a:rPr>
                <a:latin typeface="Courier"/>
              </a:rPr>
              <a:t>)</a:t>
            </a:r>
          </a:p>
          <a:p>
            <a:pPr lvl="0" indent="0">
              <a:buNone/>
            </a:pPr>
            <a:r>
              <a:rPr>
                <a:latin typeface="Courier"/>
              </a:rPr>
              <a:t>                mpg cyl  disp  hp drat    wt  qsec vs am gear carb
Datsun 710     22.8   4 108.0  93 3.85 2.320 18.61  1  1    4    1
Merc 240D      24.4   4 146.7  62 3.69 3.190 20.00  1  0    4    2
Merc 230       22.8   4 140.8  95 3.92 3.150 22.90  1  0    4    2
Fiat 128       32.4   4  78.7  66 4.08 2.200 19.47  1  1    4    1
Honda Civic    30.4   4  75.7  52 4.93 1.615 18.52  1  1    4    2
Toyota Corolla 33.9   4  71.1  65 4.22 1.835 19.90  1  1    4    1
Toyota Corona  21.5   4 120.1  97 3.70 2.465 20.01  1  0    3    1
Fiat X1-9      27.3   4  79.0  66 4.08 1.935 18.90  1  1    4    1
Porsche 914-2  26.0   4 120.3  91 4.43 2.140 16.70  0  1    5    2
Lotus Europa   30.4   4  95.1 113 3.77 1.513 16.90  1  1    5    2
Volvo 142E     21.4   4 121.0 109 4.11 2.780 18.60  1  1    4    2</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Lab</a:t>
            </a:r>
            <a:r>
              <a:rPr/>
              <a:t> </a:t>
            </a:r>
            <a:r>
              <a:rPr/>
              <a:t>Part</a:t>
            </a:r>
            <a:r>
              <a:rPr/>
              <a:t> </a:t>
            </a:r>
            <a:r>
              <a:rPr/>
              <a:t>3</a:t>
            </a:r>
          </a:p>
        </p:txBody>
      </p:sp>
      <p:sp>
        <p:nvSpPr>
          <p:cNvPr id="3" name="Content Placeholder 2"/>
          <p:cNvSpPr>
            <a:spLocks noGrp="1"/>
          </p:cNvSpPr>
          <p:nvPr>
            <p:ph idx="1"/>
          </p:nvPr>
        </p:nvSpPr>
        <p:spPr/>
        <p:txBody>
          <a:bodyPr/>
          <a:lstStyle/>
          <a:p>
            <a:pPr lvl="0" marL="0" indent="0">
              <a:buNone/>
            </a:pPr>
            <a:r>
              <a:rPr>
                <a:hlinkClick r:id="rId2"/>
              </a:rPr>
              <a:t>Website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Combining</a:t>
            </a:r>
            <a:r>
              <a:rPr/>
              <a:t> </a:t>
            </a:r>
            <a:r>
              <a:rPr>
                <a:latin typeface="Courier"/>
              </a:rPr>
              <a:t>filter</a:t>
            </a:r>
            <a:r>
              <a:rPr/>
              <a:t> </a:t>
            </a:r>
            <a:r>
              <a:rPr/>
              <a:t>and</a:t>
            </a:r>
            <a:r>
              <a:rPr/>
              <a:t> </a:t>
            </a:r>
            <a:r>
              <a:rPr>
                <a:latin typeface="Courier"/>
              </a:rPr>
              <a:t>select</a:t>
            </a:r>
          </a:p>
        </p:txBody>
      </p:sp>
      <p:sp>
        <p:nvSpPr>
          <p:cNvPr id="3" name="Content Placeholder 2"/>
          <p:cNvSpPr>
            <a:spLocks noGrp="1"/>
          </p:cNvSpPr>
          <p:nvPr>
            <p:ph idx="1"/>
          </p:nvPr>
        </p:nvSpPr>
        <p:spPr/>
        <p:txBody>
          <a:bodyPr/>
          <a:lstStyle/>
          <a:p>
            <a:pPr lvl="0" marL="0" indent="0">
              <a:buNone/>
            </a:pPr>
            <a:r>
              <a:rPr/>
              <a:t>You can combine </a:t>
            </a:r>
            <a:r>
              <a:rPr>
                <a:latin typeface="Courier"/>
              </a:rPr>
              <a:t>filter</a:t>
            </a:r>
            <a:r>
              <a:rPr/>
              <a:t> and </a:t>
            </a:r>
            <a:r>
              <a:rPr>
                <a:latin typeface="Courier"/>
              </a:rPr>
              <a:t>select</a:t>
            </a:r>
            <a:r>
              <a:rPr/>
              <a:t> to subset the rows and columns, respectively, of a </a:t>
            </a:r>
            <a:r>
              <a:rPr>
                <a:latin typeface="Courier"/>
              </a:rPr>
              <a:t>data.frame</a:t>
            </a:r>
            <a:r>
              <a:rPr/>
              <a:t>:</a:t>
            </a:r>
          </a:p>
          <a:p>
            <a:pPr lvl="0" indent="0">
              <a:buNone/>
            </a:pPr>
            <a:r>
              <a:rPr>
                <a:solidFill>
                  <a:srgbClr val="06287E"/>
                </a:solidFill>
                <a:latin typeface="Courier"/>
              </a:rPr>
              <a:t>select</a:t>
            </a:r>
            <a:r>
              <a:rPr>
                <a:latin typeface="Courier"/>
              </a:rPr>
              <a:t>(</a:t>
            </a:r>
            <a:r>
              <a:rPr>
                <a:solidFill>
                  <a:srgbClr val="06287E"/>
                </a:solidFill>
                <a:latin typeface="Courier"/>
              </a:rPr>
              <a:t>filter</a:t>
            </a:r>
            <a:r>
              <a:rPr>
                <a:latin typeface="Courier"/>
              </a:rPr>
              <a:t>(df, 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&amp;</a:t>
            </a:r>
            <a:r>
              <a:rPr>
                <a:latin typeface="Courier"/>
              </a:rPr>
              <a:t> cyl </a:t>
            </a:r>
            <a:r>
              <a:rPr>
                <a:solidFill>
                  <a:srgbClr val="4070A0"/>
                </a:solidFill>
                <a:latin typeface="Courier"/>
              </a:rPr>
              <a:t>==</a:t>
            </a:r>
            <a:r>
              <a:rPr>
                <a:latin typeface="Courier"/>
              </a:rPr>
              <a:t> </a:t>
            </a:r>
            <a:r>
              <a:rPr>
                <a:solidFill>
                  <a:srgbClr val="40A070"/>
                </a:solidFill>
                <a:latin typeface="Courier"/>
              </a:rPr>
              <a:t>4</a:t>
            </a:r>
            <a:r>
              <a:rPr>
                <a:latin typeface="Courier"/>
              </a:rPr>
              <a:t>), cyl, hp)</a:t>
            </a:r>
          </a:p>
          <a:p>
            <a:pPr lvl="0" indent="0">
              <a:buNone/>
            </a:pPr>
            <a:r>
              <a:rPr>
                <a:latin typeface="Courier"/>
              </a:rPr>
              <a:t>               cyl  hp
Datsun 710       4  93
Merc 240D        4  62
Merc 230         4  95
Fiat 128         4  66
Honda Civic      4  52
Toyota Corolla   4  65
Toyota Corona    4  97
Fiat X1-9        4  66
Porsche 914-2    4  91
Lotus Europa     4 113
Volvo 142E       4 109</a:t>
            </a:r>
          </a:p>
          <a:p>
            <a:pPr lvl="0" marL="0" indent="0">
              <a:buNone/>
            </a:pPr>
            <a:r>
              <a:rPr/>
              <a:t>In </a:t>
            </a:r>
            <a:r>
              <a:rPr>
                <a:latin typeface="Courier"/>
              </a:rPr>
              <a:t>R</a:t>
            </a:r>
            <a:r>
              <a:rPr/>
              <a:t>, the common way to perform multiple operations is to wrap functions around each other in a nested way such as above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Assigning</a:t>
            </a:r>
            <a:r>
              <a:rPr/>
              <a:t> </a:t>
            </a:r>
            <a:r>
              <a:rPr/>
              <a:t>Temporary</a:t>
            </a:r>
            <a:r>
              <a:rPr/>
              <a:t> </a:t>
            </a:r>
            <a:r>
              <a:rPr/>
              <a:t>Objects</a:t>
            </a:r>
          </a:p>
        </p:txBody>
      </p:sp>
      <p:sp>
        <p:nvSpPr>
          <p:cNvPr id="3" name="Content Placeholder 2"/>
          <p:cNvSpPr>
            <a:spLocks noGrp="1"/>
          </p:cNvSpPr>
          <p:nvPr>
            <p:ph idx="1"/>
          </p:nvPr>
        </p:nvSpPr>
        <p:spPr/>
        <p:txBody>
          <a:bodyPr/>
          <a:lstStyle/>
          <a:p>
            <a:pPr lvl="0" marL="0" indent="0">
              <a:buNone/>
            </a:pPr>
            <a:r>
              <a:rPr/>
              <a:t>One can also create temporary objects and reassign them:</a:t>
            </a:r>
          </a:p>
          <a:p>
            <a:pPr lvl="0" indent="0">
              <a:buNone/>
            </a:pPr>
            <a:r>
              <a:rPr>
                <a:latin typeface="Courier"/>
              </a:rPr>
              <a:t>df2 </a:t>
            </a:r>
            <a:r>
              <a:rPr>
                <a:solidFill>
                  <a:srgbClr val="007020"/>
                </a:solidFill>
                <a:latin typeface="Courier"/>
              </a:rPr>
              <a:t>&lt;-</a:t>
            </a:r>
            <a:r>
              <a:rPr>
                <a:latin typeface="Courier"/>
              </a:rPr>
              <a:t> </a:t>
            </a:r>
            <a:r>
              <a:rPr>
                <a:solidFill>
                  <a:srgbClr val="06287E"/>
                </a:solidFill>
                <a:latin typeface="Courier"/>
              </a:rPr>
              <a:t>filter</a:t>
            </a:r>
            <a:r>
              <a:rPr>
                <a:latin typeface="Courier"/>
              </a:rPr>
              <a:t>(df, 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&amp;</a:t>
            </a:r>
            <a:r>
              <a:rPr>
                <a:latin typeface="Courier"/>
              </a:rPr>
              <a:t> cyl </a:t>
            </a:r>
            <a:r>
              <a:rPr>
                <a:solidFill>
                  <a:srgbClr val="4070A0"/>
                </a:solidFill>
                <a:latin typeface="Courier"/>
              </a:rPr>
              <a:t>==</a:t>
            </a:r>
            <a:r>
              <a:rPr>
                <a:latin typeface="Courier"/>
              </a:rPr>
              <a:t> </a:t>
            </a:r>
            <a:r>
              <a:rPr>
                <a:solidFill>
                  <a:srgbClr val="40A070"/>
                </a:solidFill>
                <a:latin typeface="Courier"/>
              </a:rPr>
              <a:t>4</a:t>
            </a:r>
            <a:r>
              <a:rPr>
                <a:latin typeface="Courier"/>
              </a:rPr>
              <a:t>)</a:t>
            </a:r>
            <a:br/>
            <a:r>
              <a:rPr>
                <a:latin typeface="Courier"/>
              </a:rPr>
              <a:t>df2 </a:t>
            </a:r>
            <a:r>
              <a:rPr>
                <a:solidFill>
                  <a:srgbClr val="007020"/>
                </a:solidFill>
                <a:latin typeface="Courier"/>
              </a:rPr>
              <a:t>&lt;-</a:t>
            </a:r>
            <a:r>
              <a:rPr>
                <a:latin typeface="Courier"/>
              </a:rPr>
              <a:t> </a:t>
            </a:r>
            <a:r>
              <a:rPr>
                <a:solidFill>
                  <a:srgbClr val="06287E"/>
                </a:solidFill>
                <a:latin typeface="Courier"/>
              </a:rPr>
              <a:t>select</a:t>
            </a:r>
            <a:r>
              <a:rPr>
                <a:latin typeface="Courier"/>
              </a:rPr>
              <a:t>(df2, cyl, hp)</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Using</a:t>
            </a:r>
            <a:r>
              <a:rPr/>
              <a:t> </a:t>
            </a:r>
            <a:r>
              <a:rPr/>
              <a:t>the</a:t>
            </a:r>
            <a:r>
              <a:rPr/>
              <a:t> </a:t>
            </a:r>
            <a:r>
              <a:rPr>
                <a:latin typeface="Courier"/>
              </a:rPr>
              <a:t>pipe</a:t>
            </a:r>
            <a:r>
              <a:rPr/>
              <a:t> </a:t>
            </a:r>
            <a:r>
              <a:rPr/>
              <a:t>(comes</a:t>
            </a:r>
            <a:r>
              <a:rPr/>
              <a:t> </a:t>
            </a:r>
            <a:r>
              <a:rPr/>
              <a:t>with</a:t>
            </a:r>
            <a:r>
              <a:rPr/>
              <a:t> </a:t>
            </a:r>
            <a:r>
              <a:rPr>
                <a:latin typeface="Courier"/>
              </a:rPr>
              <a:t>dplyr</a:t>
            </a:r>
            <a:r>
              <a:rPr/>
              <a:t>):</a:t>
            </a:r>
          </a:p>
        </p:txBody>
      </p:sp>
      <p:sp>
        <p:nvSpPr>
          <p:cNvPr id="3" name="Content Placeholder 2"/>
          <p:cNvSpPr>
            <a:spLocks noGrp="1"/>
          </p:cNvSpPr>
          <p:nvPr>
            <p:ph idx="1"/>
          </p:nvPr>
        </p:nvSpPr>
        <p:spPr/>
        <p:txBody>
          <a:bodyPr/>
          <a:lstStyle/>
          <a:p>
            <a:pPr lvl="0" marL="0" indent="0">
              <a:buNone/>
            </a:pPr>
            <a:r>
              <a:rPr/>
              <a:t>Recently, the pipe </a:t>
            </a:r>
            <a:r>
              <a:rPr>
                <a:latin typeface="Courier"/>
              </a:rPr>
              <a:t>|&gt;</a:t>
            </a:r>
            <a:r>
              <a:rPr/>
              <a:t> makes things such as this much more readable. It reads left side “pipes” into right side. RStudio </a:t>
            </a:r>
            <a:r>
              <a:rPr>
                <a:latin typeface="Courier"/>
              </a:rPr>
              <a:t>CMD/Ctrl + Shift + M</a:t>
            </a:r>
            <a:r>
              <a:rPr/>
              <a:t> shortcut. Pipe </a:t>
            </a:r>
            <a:r>
              <a:rPr>
                <a:latin typeface="Courier"/>
              </a:rPr>
              <a:t>df</a:t>
            </a:r>
            <a:r>
              <a:rPr/>
              <a:t> into </a:t>
            </a:r>
            <a:r>
              <a:rPr>
                <a:latin typeface="Courier"/>
              </a:rPr>
              <a:t>filter</a:t>
            </a:r>
            <a:r>
              <a:rPr/>
              <a:t>, then pipe that into </a:t>
            </a:r>
            <a:r>
              <a:rPr>
                <a:latin typeface="Courier"/>
              </a:rPr>
              <a:t>select</a:t>
            </a:r>
            <a:r>
              <a:rPr/>
              <a:t>:</a:t>
            </a:r>
          </a:p>
          <a:p>
            <a:pPr lvl="0" indent="0">
              <a:buNone/>
            </a:pPr>
            <a:r>
              <a:rPr>
                <a:latin typeface="Courier"/>
              </a:rPr>
              <a:t>df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(mpg </a:t>
            </a:r>
            <a:r>
              <a:rPr>
                <a:solidFill>
                  <a:srgbClr val="4070A0"/>
                </a:solidFill>
                <a:latin typeface="Courier"/>
              </a:rPr>
              <a:t>&gt;</a:t>
            </a:r>
            <a:r>
              <a:rPr>
                <a:latin typeface="Courier"/>
              </a:rPr>
              <a:t> </a:t>
            </a:r>
            <a:r>
              <a:rPr>
                <a:solidFill>
                  <a:srgbClr val="40A070"/>
                </a:solidFill>
                <a:latin typeface="Courier"/>
              </a:rPr>
              <a:t>20</a:t>
            </a:r>
            <a:r>
              <a:rPr>
                <a:latin typeface="Courier"/>
              </a:rPr>
              <a:t> </a:t>
            </a:r>
            <a:r>
              <a:rPr>
                <a:solidFill>
                  <a:srgbClr val="4070A0"/>
                </a:solidFill>
                <a:latin typeface="Courier"/>
              </a:rPr>
              <a:t>&amp;</a:t>
            </a:r>
            <a:r>
              <a:rPr>
                <a:latin typeface="Courier"/>
              </a:rPr>
              <a:t> cyl </a:t>
            </a:r>
            <a:r>
              <a:rPr>
                <a:solidFill>
                  <a:srgbClr val="4070A0"/>
                </a:solidFill>
                <a:latin typeface="Courier"/>
              </a:rPr>
              <a:t>==</a:t>
            </a:r>
            <a:r>
              <a:rPr>
                <a:latin typeface="Courier"/>
              </a:rPr>
              <a:t> </a:t>
            </a:r>
            <a:r>
              <a:rPr>
                <a:solidFill>
                  <a:srgbClr val="40A070"/>
                </a:solidFill>
                <a:latin typeface="Courier"/>
              </a:rPr>
              <a:t>4</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select</a:t>
            </a:r>
            <a:r>
              <a:rPr>
                <a:latin typeface="Courier"/>
              </a:rPr>
              <a:t>(cyl, hp)</a:t>
            </a:r>
          </a:p>
          <a:p>
            <a:pPr lvl="0" indent="0">
              <a:buNone/>
            </a:pPr>
            <a:r>
              <a:rPr>
                <a:latin typeface="Courier"/>
              </a:rPr>
              <a:t>               cyl  hp
Datsun 710       4  93
Merc 240D        4  62
Merc 230         4  95
Fiat 128         4  66
Honda Civic      4  52
Toyota Corolla   4  65
Toyota Corona    4  97
Fiat X1-9        4  66
Porsche 914-2    4  91
Lotus Europa     4 113
Volvo 142E       4 109</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Adding/Removing</a:t>
            </a:r>
            <a:r>
              <a:rPr/>
              <a:t> </a:t>
            </a:r>
            <a:r>
              <a:rPr/>
              <a:t>Columns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Adding</a:t>
            </a:r>
            <a:r>
              <a:rPr/>
              <a:t> </a:t>
            </a:r>
            <a:r>
              <a:rPr/>
              <a:t>new</a:t>
            </a:r>
            <a:r>
              <a:rPr/>
              <a:t> </a:t>
            </a:r>
            <a:r>
              <a:rPr/>
              <a:t>columns</a:t>
            </a:r>
            <a:r>
              <a:rPr/>
              <a:t> </a:t>
            </a:r>
            <a:r>
              <a:rPr/>
              <a:t>to</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You can add a new column, called </a:t>
            </a:r>
            <a:r>
              <a:rPr>
                <a:latin typeface="Courier"/>
              </a:rPr>
              <a:t>newcol</a:t>
            </a:r>
            <a:r>
              <a:rPr/>
              <a:t> to </a:t>
            </a:r>
            <a:r>
              <a:rPr>
                <a:latin typeface="Courier"/>
              </a:rPr>
              <a:t>df</a:t>
            </a:r>
            <a:r>
              <a:rPr/>
              <a:t>, using the </a:t>
            </a:r>
            <a:r>
              <a:rPr>
                <a:latin typeface="Courier"/>
              </a:rPr>
              <a:t>$</a:t>
            </a:r>
            <a:r>
              <a:rPr/>
              <a:t> operator:</a:t>
            </a:r>
          </a:p>
          <a:p>
            <a:pPr lvl="0" indent="0">
              <a:buNone/>
            </a:pPr>
            <a:r>
              <a:rPr>
                <a:latin typeface="Courier"/>
              </a:rPr>
              <a:t>df</a:t>
            </a:r>
            <a:r>
              <a:rPr>
                <a:solidFill>
                  <a:srgbClr val="4070A0"/>
                </a:solidFill>
                <a:latin typeface="Courier"/>
              </a:rPr>
              <a:t>$</a:t>
            </a:r>
            <a:r>
              <a:rPr>
                <a:latin typeface="Courier"/>
              </a:rPr>
              <a:t>newcol </a:t>
            </a:r>
            <a:r>
              <a:rPr>
                <a:solidFill>
                  <a:srgbClr val="007020"/>
                </a:solidFill>
                <a:latin typeface="Courier"/>
              </a:rPr>
              <a:t>&lt;-</a:t>
            </a:r>
            <a:r>
              <a:rPr>
                <a:latin typeface="Courier"/>
              </a:rPr>
              <a:t> df</a:t>
            </a:r>
            <a:r>
              <a:rPr>
                <a:solidFill>
                  <a:srgbClr val="4070A0"/>
                </a:solidFill>
                <a:latin typeface="Courier"/>
              </a:rPr>
              <a:t>$</a:t>
            </a:r>
            <a:r>
              <a:rPr>
                <a:latin typeface="Courier"/>
              </a:rPr>
              <a:t>wt </a:t>
            </a:r>
            <a:r>
              <a:rPr>
                <a:solidFill>
                  <a:srgbClr val="4070A0"/>
                </a:solidFill>
                <a:latin typeface="Courier"/>
              </a:rPr>
              <a:t>/</a:t>
            </a:r>
            <a:r>
              <a:rPr>
                <a:latin typeface="Courier"/>
              </a:rPr>
              <a:t> </a:t>
            </a:r>
            <a:r>
              <a:rPr>
                <a:solidFill>
                  <a:srgbClr val="40A070"/>
                </a:solidFill>
                <a:latin typeface="Courier"/>
              </a:rPr>
              <a:t>2.2</a:t>
            </a:r>
            <a:br/>
            <a:r>
              <a:rPr>
                <a:solidFill>
                  <a:srgbClr val="06287E"/>
                </a:solidFill>
                <a:latin typeface="Courier"/>
              </a:rPr>
              <a:t>head</a:t>
            </a:r>
            <a:r>
              <a:rPr>
                <a:latin typeface="Courier"/>
              </a:rPr>
              <a:t>(df, </a:t>
            </a:r>
            <a:r>
              <a:rPr>
                <a:solidFill>
                  <a:srgbClr val="40A070"/>
                </a:solidFill>
                <a:latin typeface="Courier"/>
              </a:rPr>
              <a:t>3</a:t>
            </a:r>
            <a:r>
              <a:rPr>
                <a:latin typeface="Courier"/>
              </a:rPr>
              <a:t>)</a:t>
            </a:r>
          </a:p>
          <a:p>
            <a:pPr lvl="0" indent="0">
              <a:buNone/>
            </a:pPr>
            <a:r>
              <a:rPr>
                <a:latin typeface="Courier"/>
              </a:rPr>
              <a:t>               mpg cyl disp  hp drat    wt  qsec vs am gear carb   newcol
Mazda RX4     21.0   6  160 110 3.90 2.620 16.46  0  1    4    4 1.190909
Mazda RX4 Wag 21.0   6  160 110 3.90 2.875 17.02  0  1    4    4 1.306818
Datsun 710    22.8   4  108  93 3.85 2.320 18.61  1  1    4    1 1.054545</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Removing</a:t>
            </a:r>
            <a:r>
              <a:rPr/>
              <a:t> </a:t>
            </a:r>
            <a:r>
              <a:rPr/>
              <a:t>columns</a:t>
            </a:r>
            <a:r>
              <a:rPr/>
              <a:t> </a:t>
            </a:r>
            <a:r>
              <a:rPr/>
              <a:t>to</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You can remove a column by assigning to </a:t>
            </a:r>
            <a:r>
              <a:rPr>
                <a:latin typeface="Courier"/>
              </a:rPr>
              <a:t>NULL</a:t>
            </a:r>
            <a:r>
              <a:rPr/>
              <a:t>:</a:t>
            </a:r>
          </a:p>
          <a:p>
            <a:pPr lvl="0" indent="0">
              <a:buNone/>
            </a:pPr>
            <a:r>
              <a:rPr>
                <a:latin typeface="Courier"/>
              </a:rPr>
              <a:t>df</a:t>
            </a:r>
            <a:r>
              <a:rPr>
                <a:solidFill>
                  <a:srgbClr val="4070A0"/>
                </a:solidFill>
                <a:latin typeface="Courier"/>
              </a:rPr>
              <a:t>$</a:t>
            </a:r>
            <a:r>
              <a:rPr>
                <a:latin typeface="Courier"/>
              </a:rPr>
              <a:t>newcol </a:t>
            </a:r>
            <a:r>
              <a:rPr>
                <a:solidFill>
                  <a:srgbClr val="007020"/>
                </a:solidFill>
                <a:latin typeface="Courier"/>
              </a:rPr>
              <a:t>&lt;-</a:t>
            </a:r>
            <a:r>
              <a:rPr>
                <a:latin typeface="Courier"/>
              </a:rPr>
              <a:t> </a:t>
            </a:r>
            <a:r>
              <a:rPr>
                <a:solidFill>
                  <a:srgbClr val="880000"/>
                </a:solidFill>
                <a:latin typeface="Courier"/>
              </a:rPr>
              <a:t>NULL</a:t>
            </a:r>
          </a:p>
          <a:p>
            <a:pPr lvl="0" marL="0" indent="0">
              <a:buNone/>
            </a:pPr>
            <a:r>
              <a:rPr/>
              <a:t>or selecting only the columns that were not </a:t>
            </a:r>
            <a:r>
              <a:rPr>
                <a:latin typeface="Courier"/>
              </a:rPr>
              <a:t>newcol</a:t>
            </a:r>
            <a:r>
              <a:rPr/>
              <a:t>:</a:t>
            </a:r>
          </a:p>
          <a:p>
            <a:pPr lvl="0" indent="0">
              <a:buNone/>
            </a:pPr>
            <a:r>
              <a:rPr>
                <a:latin typeface="Courier"/>
              </a:rPr>
              <a:t>df </a:t>
            </a:r>
            <a:r>
              <a:rPr>
                <a:solidFill>
                  <a:srgbClr val="007020"/>
                </a:solidFill>
                <a:latin typeface="Courier"/>
              </a:rPr>
              <a:t>&lt;-</a:t>
            </a:r>
            <a:r>
              <a:rPr>
                <a:latin typeface="Courier"/>
              </a:rPr>
              <a:t> df[, </a:t>
            </a:r>
            <a:r>
              <a:rPr>
                <a:solidFill>
                  <a:srgbClr val="06287E"/>
                </a:solidFill>
                <a:latin typeface="Courier"/>
              </a:rPr>
              <a:t>colnames</a:t>
            </a:r>
            <a:r>
              <a:rPr>
                <a:latin typeface="Courier"/>
              </a:rPr>
              <a:t>(df) </a:t>
            </a:r>
            <a:r>
              <a:rPr>
                <a:solidFill>
                  <a:srgbClr val="4070A0"/>
                </a:solidFill>
                <a:latin typeface="Courier"/>
              </a:rPr>
              <a:t>!=</a:t>
            </a:r>
            <a:r>
              <a:rPr>
                <a:latin typeface="Courier"/>
              </a:rPr>
              <a:t> </a:t>
            </a:r>
            <a:r>
              <a:rPr>
                <a:solidFill>
                  <a:srgbClr val="4070A0"/>
                </a:solidFill>
                <a:latin typeface="Courier"/>
              </a:rPr>
              <a:t>"newcol"</a:t>
            </a:r>
            <a:r>
              <a:rPr>
                <a:latin typeface="Courier"/>
              </a:rPr>
              <a:t>]</a:t>
            </a:r>
            <a:br/>
            <a:r>
              <a:rPr>
                <a:solidFill>
                  <a:srgbClr val="06287E"/>
                </a:solidFill>
                <a:latin typeface="Courier"/>
              </a:rPr>
              <a:t>head</a:t>
            </a:r>
            <a:r>
              <a:rPr>
                <a:latin typeface="Courier"/>
              </a:rPr>
              <a:t>(df, </a:t>
            </a:r>
            <a:r>
              <a:rPr>
                <a:solidFill>
                  <a:srgbClr val="40A070"/>
                </a:solidFill>
                <a:latin typeface="Courier"/>
              </a:rPr>
              <a:t>3</a:t>
            </a:r>
            <a:r>
              <a:rPr>
                <a:latin typeface="Courier"/>
              </a:rPr>
              <a:t>)</a:t>
            </a:r>
          </a:p>
          <a:p>
            <a:pPr lvl="0" indent="0">
              <a:buNone/>
            </a:pPr>
            <a:r>
              <a:rPr>
                <a:latin typeface="Courier"/>
              </a:rPr>
              <a:t>               mpg cyl disp  hp drat    wt  qsec vs am gear carb
Mazda RX4     21.0   6  160 110 3.90 2.620 16.46  0  1    4    4
Mazda RX4 Wag 21.0   6  160 110 3.90 2.875 17.02  0  1    4    4
Datsun 710    22.8   4  108  93 3.85 2.320 18.61  1  1    4    1</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Adding</a:t>
            </a:r>
            <a:r>
              <a:rPr/>
              <a:t> </a:t>
            </a:r>
            <a:r>
              <a:rPr/>
              <a:t>new</a:t>
            </a:r>
            <a:r>
              <a:rPr/>
              <a:t> </a:t>
            </a:r>
            <a:r>
              <a:rPr/>
              <a:t>columns</a:t>
            </a:r>
            <a:r>
              <a:rPr/>
              <a:t> </a:t>
            </a:r>
            <a:r>
              <a:rPr/>
              <a:t>to</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You can also “</a:t>
            </a:r>
            <a:r>
              <a:rPr b="1"/>
              <a:t>c</a:t>
            </a:r>
            <a:r>
              <a:rPr/>
              <a:t>olumn </a:t>
            </a:r>
            <a:r>
              <a:rPr b="1"/>
              <a:t>bind</a:t>
            </a:r>
            <a:r>
              <a:rPr/>
              <a:t>” a </a:t>
            </a:r>
            <a:r>
              <a:rPr>
                <a:latin typeface="Courier"/>
              </a:rPr>
              <a:t>data.frame</a:t>
            </a:r>
            <a:r>
              <a:rPr/>
              <a:t> with a vector (or series of vectors), using the </a:t>
            </a:r>
            <a:r>
              <a:rPr>
                <a:latin typeface="Courier"/>
              </a:rPr>
              <a:t>cbind</a:t>
            </a:r>
            <a:r>
              <a:rPr/>
              <a:t> command:</a:t>
            </a:r>
          </a:p>
          <a:p>
            <a:pPr lvl="0" indent="0">
              <a:buNone/>
            </a:pPr>
            <a:r>
              <a:rPr>
                <a:solidFill>
                  <a:srgbClr val="06287E"/>
                </a:solidFill>
                <a:latin typeface="Courier"/>
              </a:rPr>
              <a:t>cbind</a:t>
            </a:r>
            <a:r>
              <a:rPr>
                <a:latin typeface="Courier"/>
              </a:rPr>
              <a:t>(df, </a:t>
            </a:r>
            <a:r>
              <a:rPr>
                <a:solidFill>
                  <a:srgbClr val="7D9029"/>
                </a:solidFill>
                <a:latin typeface="Courier"/>
              </a:rPr>
              <a:t>newcol =</a:t>
            </a:r>
            <a:r>
              <a:rPr>
                <a:latin typeface="Courier"/>
              </a:rPr>
              <a:t> df</a:t>
            </a:r>
            <a:r>
              <a:rPr>
                <a:solidFill>
                  <a:srgbClr val="4070A0"/>
                </a:solidFill>
                <a:latin typeface="Courier"/>
              </a:rPr>
              <a:t>$</a:t>
            </a:r>
            <a:r>
              <a:rPr>
                <a:latin typeface="Courier"/>
              </a:rPr>
              <a:t>wt </a:t>
            </a:r>
            <a:r>
              <a:rPr>
                <a:solidFill>
                  <a:srgbClr val="4070A0"/>
                </a:solidFill>
                <a:latin typeface="Courier"/>
              </a:rPr>
              <a:t>/</a:t>
            </a:r>
            <a:r>
              <a:rPr>
                <a:latin typeface="Courier"/>
              </a:rPr>
              <a:t> </a:t>
            </a:r>
            <a:r>
              <a:rPr>
                <a:solidFill>
                  <a:srgbClr val="40A070"/>
                </a:solidFill>
                <a:latin typeface="Courier"/>
              </a:rPr>
              <a:t>2.2</a:t>
            </a:r>
            <a:r>
              <a:rPr>
                <a:latin typeface="Courier"/>
              </a:rPr>
              <a:t>)</a:t>
            </a:r>
          </a:p>
          <a:p>
            <a:pPr lvl="0" indent="0">
              <a:buNone/>
            </a:pPr>
            <a:r>
              <a:rPr>
                <a:latin typeface="Courier"/>
              </a:rPr>
              <a:t>                     mpg cyl  disp  hp drat    wt  qsec vs am gear carb
Mazda RX4           21.0   6 160.0 110 3.90 2.620 16.46  0  1    4    4
Mazda RX4 Wag       21.0   6 160.0 110 3.90 2.875 17.02  0  1    4    4
Datsun 710          22.8   4 108.0  93 3.85 2.320 18.61  1  1    4    1
Hornet 4 Drive      21.4   6 258.0 110 3.08 3.215 19.44  1  0    3    1
Hornet Sportabout   18.7   8 360.0 175 3.15 3.440 17.02  0  0    3    2
Valiant             18.1   6 225.0 105 2.76 3.460 20.22  1  0    3    1
Duster 360          14.3   8 360.0 245 3.21 3.570 15.84  0  0    3    4
Merc 240D           24.4   4 146.7  62 3.69 3.190 20.00  1  0    4    2
Merc 230            22.8   4 140.8  95 3.92 3.150 22.90  1  0    4    2
Merc 280            19.2   6 167.6 123 3.92 3.440 18.30  1  0    4    4
Merc 280C           17.8   6 167.6 123 3.92 3.440 18.90  1  0    4    4
Merc 450SE          16.4   8 275.8 180 3.07 4.070 17.40  0  0    3    3
Merc 450SL          17.3   8 275.8 180 3.07 3.730 17.60  0  0    3    3
Merc 450SLC         15.2   8 275.8 180 3.07 3.780 18.00  0  0    3    3
Cadillac Fleetwood  10.4   8 472.0 205 2.93 5.250 17.98  0  0    3    4
Lincoln Continental 10.4   8 460.0 215 3.00 5.424 17.82  0  0    3    4
Chrysler Imperial   14.7   8 440.0 230 3.23 5.345 17.42  0  0    3    4
Fiat 128            32.4   4  78.7  66 4.08 2.200 19.47  1  1    4    1
Honda Civic         30.4   4  75.7  52 4.93 1.615 18.52  1  1    4    2
Toyota Corolla      33.9   4  71.1  65 4.22 1.835 19.90  1  1    4    1
Toyota Corona       21.5   4 120.1  97 3.70 2.465 20.01  1  0    3    1
Dodge Challenger    15.5   8 318.0 150 2.76 3.520 16.87  0  0    3    2
AMC Javelin         15.2   8 304.0 150 3.15 3.435 17.30  0  0    3    2
Camaro Z28          13.3   8 350.0 245 3.73 3.840 15.41  0  0    3    4
Pontiac Firebird    19.2   8 400.0 175 3.08 3.845 17.05  0  0    3    2
Fiat X1-9           27.3   4  79.0  66 4.08 1.935 18.90  1  1    4    1
Porsche 914-2       26.0   4 120.3  91 4.43 2.140 16.70  0  1    5    2
Lotus Europa        30.4   4  95.1 113 3.77 1.513 16.90  1  1    5    2
Ford Pantera L      15.8   8 351.0 264 4.22 3.170 14.50  0  1    5    4
Ferrari Dino        19.7   6 145.0 175 3.62 2.770 15.50  0  1    5    6
Maserati Bora       15.0   8 301.0 335 3.54 3.570 14.60  0  1    5    8
Volvo 142E          21.4   4 121.0 109 4.11 2.780 18.60  1  1    4    2
                       newcol
Mazda RX4           1.1909091
Mazda RX4 Wag       1.3068182
Datsun 710          1.0545455
Hornet 4 Drive      1.4613636
Hornet Sportabout   1.5636364
Valiant             1.5727273
Duster 360          1.6227273
Merc 240D           1.4500000
Merc 230            1.4318182
Merc 280            1.5636364
Merc 280C           1.5636364
Merc 450SE          1.8500000
Merc 450SL          1.6954545
Merc 450SLC         1.7181818
Cadillac Fleetwood  2.3863636
Lincoln Continental 2.4654545
Chrysler Imperial   2.4295455
Fiat 128            1.0000000
Honda Civic         0.7340909
Toyota Corolla      0.8340909
Toyota Corona       1.1204545
Dodge Challenger    1.6000000
AMC Javelin         1.5613636
Camaro Z28          1.7454545
Pontiac Firebird    1.7477273
Fiat X1-9           0.8795455
Porsche 914-2       0.9727273
Lotus Europa        0.6877273
Ford Pantera L      1.4409091
Ferrari Dino        1.2590909
Maserati Bora       1.6227273
Volvo 142E          1.2636364</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Adding</a:t>
            </a:r>
            <a:r>
              <a:rPr/>
              <a:t> </a:t>
            </a:r>
            <a:r>
              <a:rPr/>
              <a:t>columns</a:t>
            </a:r>
            <a:r>
              <a:rPr/>
              <a:t> </a:t>
            </a:r>
            <a:r>
              <a:rPr/>
              <a:t>to</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a:t>
            </a:r>
            <a:r>
              <a:rPr>
                <a:latin typeface="Courier"/>
              </a:rPr>
              <a:t>mutate</a:t>
            </a:r>
            <a:r>
              <a:rPr/>
              <a:t> function in </a:t>
            </a:r>
            <a:r>
              <a:rPr>
                <a:latin typeface="Courier"/>
              </a:rPr>
              <a:t>dplyr</a:t>
            </a:r>
            <a:r>
              <a:rPr/>
              <a:t> allows you to add or replace columns of a </a:t>
            </a:r>
            <a:r>
              <a:rPr>
                <a:latin typeface="Courier"/>
              </a:rPr>
              <a:t>data.frame</a:t>
            </a:r>
            <a:r>
              <a:rPr/>
              <a:t>:</a:t>
            </a:r>
          </a:p>
          <a:p>
            <a:pPr lvl="0" indent="0">
              <a:buNone/>
            </a:pPr>
            <a:r>
              <a:rPr>
                <a:latin typeface="Courier"/>
              </a:rPr>
              <a:t>df </a:t>
            </a:r>
            <a:r>
              <a:rPr>
                <a:solidFill>
                  <a:srgbClr val="007020"/>
                </a:solidFill>
                <a:latin typeface="Courier"/>
              </a:rPr>
              <a:t>&lt;-</a:t>
            </a:r>
            <a:r>
              <a:rPr>
                <a:latin typeface="Courier"/>
              </a:rPr>
              <a:t> </a:t>
            </a:r>
            <a:r>
              <a:rPr>
                <a:solidFill>
                  <a:srgbClr val="06287E"/>
                </a:solidFill>
                <a:latin typeface="Courier"/>
              </a:rPr>
              <a:t>mutate</a:t>
            </a:r>
            <a:r>
              <a:rPr>
                <a:latin typeface="Courier"/>
              </a:rPr>
              <a:t>(df, </a:t>
            </a:r>
            <a:r>
              <a:rPr>
                <a:solidFill>
                  <a:srgbClr val="7D9029"/>
                </a:solidFill>
                <a:latin typeface="Courier"/>
              </a:rPr>
              <a:t>newcol =</a:t>
            </a:r>
            <a:r>
              <a:rPr>
                <a:latin typeface="Courier"/>
              </a:rPr>
              <a:t> wt </a:t>
            </a:r>
            <a:r>
              <a:rPr>
                <a:solidFill>
                  <a:srgbClr val="4070A0"/>
                </a:solidFill>
                <a:latin typeface="Courier"/>
              </a:rPr>
              <a:t>/</a:t>
            </a:r>
            <a:r>
              <a:rPr>
                <a:latin typeface="Courier"/>
              </a:rPr>
              <a:t> </a:t>
            </a:r>
            <a:r>
              <a:rPr>
                <a:solidFill>
                  <a:srgbClr val="40A070"/>
                </a:solidFill>
                <a:latin typeface="Courier"/>
              </a:rPr>
              <a:t>2.2</a:t>
            </a:r>
            <a:r>
              <a:rPr>
                <a:latin typeface="Courier"/>
              </a:rPr>
              <a:t>)</a:t>
            </a:r>
          </a:p>
          <a:p>
            <a:pPr lvl="0" indent="0">
              <a:buNone/>
            </a:pPr>
            <a:r>
              <a:rPr>
                <a:latin typeface="Courier"/>
              </a:rPr>
              <a:t>                     mpg cyl  disp  hp drat    wt  qsec vs am gear carb
Mazda RX4           21.0   6 160.0 110 3.90 2.620 16.46  0  1    4    4
Mazda RX4 Wag       21.0   6 160.0 110 3.90 2.875 17.02  0  1    4    4
Datsun 710          22.8   4 108.0  93 3.85 2.320 18.61  1  1    4    1
Hornet 4 Drive      21.4   6 258.0 110 3.08 3.215 19.44  1  0    3    1
Hornet Sportabout   18.7   8 360.0 175 3.15 3.440 17.02  0  0    3    2
Valiant             18.1   6 225.0 105 2.76 3.460 20.22  1  0    3    1
Duster 360          14.3   8 360.0 245 3.21 3.570 15.84  0  0    3    4
Merc 240D           24.4   4 146.7  62 3.69 3.190 20.00  1  0    4    2
Merc 230            22.8   4 140.8  95 3.92 3.150 22.90  1  0    4    2
Merc 280            19.2   6 167.6 123 3.92 3.440 18.30  1  0    4    4
Merc 280C           17.8   6 167.6 123 3.92 3.440 18.90  1  0    4    4
Merc 450SE          16.4   8 275.8 180 3.07 4.070 17.40  0  0    3    3
Merc 450SL          17.3   8 275.8 180 3.07 3.730 17.60  0  0    3    3
Merc 450SLC         15.2   8 275.8 180 3.07 3.780 18.00  0  0    3    3
Cadillac Fleetwood  10.4   8 472.0 205 2.93 5.250 17.98  0  0    3    4
Lincoln Continental 10.4   8 460.0 215 3.00 5.424 17.82  0  0    3    4
Chrysler Imperial   14.7   8 440.0 230 3.23 5.345 17.42  0  0    3    4
Fiat 128            32.4   4  78.7  66 4.08 2.200 19.47  1  1    4    1
Honda Civic         30.4   4  75.7  52 4.93 1.615 18.52  1  1    4    2
Toyota Corolla      33.9   4  71.1  65 4.22 1.835 19.90  1  1    4    1
Toyota Corona       21.5   4 120.1  97 3.70 2.465 20.01  1  0    3    1
Dodge Challenger    15.5   8 318.0 150 2.76 3.520 16.87  0  0    3    2
AMC Javelin         15.2   8 304.0 150 3.15 3.435 17.30  0  0    3    2
Camaro Z28          13.3   8 350.0 245 3.73 3.840 15.41  0  0    3    4
Pontiac Firebird    19.2   8 400.0 175 3.08 3.845 17.05  0  0    3    2
Fiat X1-9           27.3   4  79.0  66 4.08 1.935 18.90  1  1    4    1
Porsche 914-2       26.0   4 120.3  91 4.43 2.140 16.70  0  1    5    2
Lotus Europa        30.4   4  95.1 113 3.77 1.513 16.90  1  1    5    2
Ford Pantera L      15.8   8 351.0 264 4.22 3.170 14.50  0  1    5    4
Ferrari Dino        19.7   6 145.0 175 3.62 2.770 15.50  0  1    5    6
Maserati Bora       15.0   8 301.0 335 3.54 3.570 14.60  0  1    5    8
Volvo 142E          21.4   4 121.0 109 4.11 2.780 18.60  1  1    4    2
                       newcol
Mazda RX4           1.1909091
Mazda RX4 Wag       1.3068182
Datsun 710          1.0545455
Hornet 4 Drive      1.4613636
Hornet Sportabout   1.5636364
Valiant             1.5727273
Duster 360          1.6227273
Merc 240D           1.4500000
Merc 230            1.4318182
Merc 280            1.5636364
Merc 280C           1.5636364
Merc 450SE          1.8500000
Merc 450SL          1.6954545
Merc 450SLC         1.7181818
Cadillac Fleetwood  2.3863636
Lincoln Continental 2.4654545
Chrysler Imperial   2.4295455
Fiat 128            1.0000000
Honda Civic         0.7340909
Toyota Corolla      0.8340909
Toyota Corona       1.1204545
Dodge Challenger    1.6000000
AMC Javelin         1.5613636
Camaro Z28          1.7454545
Pontiac Firebird    1.7477273
Fiat X1-9           0.8795455
Porsche 914-2       0.9727273
Lotus Europa        0.6877273
Ford Pantera L      1.4409091
Ferrari Dino        1.2590909
Maserati Bora       1.6227273
Volvo 142E          1.2636364</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Removing</a:t>
            </a:r>
            <a:r>
              <a:rPr/>
              <a:t> </a:t>
            </a:r>
            <a:r>
              <a:rPr/>
              <a:t>columns</a:t>
            </a:r>
            <a:r>
              <a:rPr/>
              <a:t> </a:t>
            </a:r>
            <a:r>
              <a:rPr/>
              <a:t>to</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a:t>
            </a:r>
            <a:r>
              <a:rPr>
                <a:latin typeface="Courier"/>
              </a:rPr>
              <a:t>NULL</a:t>
            </a:r>
            <a:r>
              <a:rPr/>
              <a:t> method is still very common.</a:t>
            </a:r>
          </a:p>
          <a:p>
            <a:pPr lvl="0" marL="0" indent="0">
              <a:buNone/>
            </a:pPr>
            <a:r>
              <a:rPr/>
              <a:t>The </a:t>
            </a:r>
            <a:r>
              <a:rPr>
                <a:latin typeface="Courier"/>
              </a:rPr>
              <a:t>select</a:t>
            </a:r>
            <a:r>
              <a:rPr/>
              <a:t> function can remove a column with a minus (</a:t>
            </a:r>
            <a:r>
              <a:rPr>
                <a:latin typeface="Courier"/>
              </a:rPr>
              <a:t>-</a:t>
            </a:r>
            <a:r>
              <a:rPr/>
              <a:t>), much like removing rows:</a:t>
            </a:r>
          </a:p>
          <a:p>
            <a:pPr lvl="0" indent="0">
              <a:buNone/>
            </a:pPr>
            <a:r>
              <a:rPr>
                <a:solidFill>
                  <a:srgbClr val="06287E"/>
                </a:solidFill>
                <a:latin typeface="Courier"/>
              </a:rPr>
              <a:t>select</a:t>
            </a:r>
            <a:r>
              <a:rPr>
                <a:latin typeface="Courier"/>
              </a:rPr>
              <a:t>(df, </a:t>
            </a:r>
            <a:r>
              <a:rPr>
                <a:solidFill>
                  <a:srgbClr val="4070A0"/>
                </a:solidFill>
                <a:latin typeface="Courier"/>
              </a:rPr>
              <a:t>-</a:t>
            </a:r>
            <a:r>
              <a:rPr>
                <a:latin typeface="Courier"/>
              </a:rPr>
              <a:t>newcol)</a:t>
            </a:r>
          </a:p>
          <a:p>
            <a:pPr lvl="0" indent="0">
              <a:buNone/>
            </a:pPr>
            <a:r>
              <a:rPr>
                <a:latin typeface="Courier"/>
              </a:rPr>
              <a:t>                     mpg cyl  disp  hp drat    wt  qsec vs am gear carb
Mazda RX4           21.0   6 160.0 110 3.90 2.620 16.46  0  1    4    4
Mazda RX4 Wag       21.0   6 160.0 110 3.90 2.875 17.02  0  1    4    4
Datsun 710          22.8   4 108.0  93 3.85 2.320 18.61  1  1    4    1
Hornet 4 Drive      21.4   6 258.0 110 3.08 3.215 19.44  1  0    3    1
Hornet Sportabout   18.7   8 360.0 175 3.15 3.440 17.02  0  0    3    2
Valiant             18.1   6 225.0 105 2.76 3.460 20.22  1  0    3    1
Duster 360          14.3   8 360.0 245 3.21 3.570 15.84  0  0    3    4
Merc 240D           24.4   4 146.7  62 3.69 3.190 20.00  1  0    4    2
Merc 230            22.8   4 140.8  95 3.92 3.150 22.90  1  0    4    2
Merc 280            19.2   6 167.6 123 3.92 3.440 18.30  1  0    4    4
Merc 280C           17.8   6 167.6 123 3.92 3.440 18.90  1  0    4    4
Merc 450SE          16.4   8 275.8 180 3.07 4.070 17.40  0  0    3    3
Merc 450SL          17.3   8 275.8 180 3.07 3.730 17.60  0  0    3    3
Merc 450SLC         15.2   8 275.8 180 3.07 3.780 18.00  0  0    3    3
Cadillac Fleetwood  10.4   8 472.0 205 2.93 5.250 17.98  0  0    3    4
Lincoln Continental 10.4   8 460.0 215 3.00 5.424 17.82  0  0    3    4
Chrysler Imperial   14.7   8 440.0 230 3.23 5.345 17.42  0  0    3    4
Fiat 128            32.4   4  78.7  66 4.08 2.200 19.47  1  1    4    1
Honda Civic         30.4   4  75.7  52 4.93 1.615 18.52  1  1    4    2
Toyota Corolla      33.9   4  71.1  65 4.22 1.835 19.90  1  1    4    1
Toyota Corona       21.5   4 120.1  97 3.70 2.465 20.01  1  0    3    1
Dodge Challenger    15.5   8 318.0 150 2.76 3.520 16.87  0  0    3    2
AMC Javelin         15.2   8 304.0 150 3.15 3.435 17.30  0  0    3    2
Camaro Z28          13.3   8 350.0 245 3.73 3.840 15.41  0  0    3    4
Pontiac Firebird    19.2   8 400.0 175 3.08 3.845 17.05  0  0    3    2
Fiat X1-9           27.3   4  79.0  66 4.08 1.935 18.90  1  1    4    1
Porsche 914-2       26.0   4 120.3  91 4.43 2.140 16.70  0  1    5    2
Lotus Europa        30.4   4  95.1 113 3.77 1.513 16.90  1  1    5    2
Ford Pantera L      15.8   8 351.0 264 4.22 3.170 14.50  0  1    5    4
Ferrari Dino        19.7   6 145.0 175 3.62 2.770 15.50  0  1    5    6
Maserati Bora       15.0   8 301.0 335 3.54 3.570 14.60  0  1    5    8
Volvo 142E          21.4   4 121.0 109 4.11 2.780 18.60  1  1    4    2</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Removing</a:t>
            </a:r>
            <a:r>
              <a:rPr/>
              <a:t> </a:t>
            </a:r>
            <a:r>
              <a:rPr/>
              <a:t>columns</a:t>
            </a:r>
            <a:r>
              <a:rPr/>
              <a:t> </a:t>
            </a:r>
            <a:r>
              <a:rPr/>
              <a:t>to</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Remove </a:t>
            </a:r>
            <a:r>
              <a:rPr>
                <a:latin typeface="Courier"/>
              </a:rPr>
              <a:t>newcol</a:t>
            </a:r>
            <a:r>
              <a:rPr/>
              <a:t> and </a:t>
            </a:r>
            <a:r>
              <a:rPr>
                <a:latin typeface="Courier"/>
              </a:rPr>
              <a:t>drat</a:t>
            </a:r>
          </a:p>
          <a:p>
            <a:pPr lvl="0" indent="0">
              <a:buNone/>
            </a:pPr>
            <a:r>
              <a:rPr>
                <a:solidFill>
                  <a:srgbClr val="06287E"/>
                </a:solidFill>
                <a:latin typeface="Courier"/>
              </a:rPr>
              <a:t>select</a:t>
            </a:r>
            <a:r>
              <a:rPr>
                <a:latin typeface="Courier"/>
              </a:rPr>
              <a:t>(df, </a:t>
            </a:r>
            <a:r>
              <a:rPr>
                <a:solidFill>
                  <a:srgbClr val="4070A0"/>
                </a:solidFill>
                <a:latin typeface="Courier"/>
              </a:rPr>
              <a:t>-</a:t>
            </a:r>
            <a:r>
              <a:rPr>
                <a:solidFill>
                  <a:srgbClr val="06287E"/>
                </a:solidFill>
                <a:latin typeface="Courier"/>
              </a:rPr>
              <a:t>one_of</a:t>
            </a:r>
            <a:r>
              <a:rPr>
                <a:latin typeface="Courier"/>
              </a:rPr>
              <a:t>(</a:t>
            </a:r>
            <a:r>
              <a:rPr>
                <a:solidFill>
                  <a:srgbClr val="4070A0"/>
                </a:solidFill>
                <a:latin typeface="Courier"/>
              </a:rPr>
              <a:t>"newcol"</a:t>
            </a:r>
            <a:r>
              <a:rPr>
                <a:latin typeface="Courier"/>
              </a:rPr>
              <a:t>, </a:t>
            </a:r>
            <a:r>
              <a:rPr>
                <a:solidFill>
                  <a:srgbClr val="4070A0"/>
                </a:solidFill>
                <a:latin typeface="Courier"/>
              </a:rPr>
              <a:t>"drat"</a:t>
            </a:r>
            <a:r>
              <a:rPr>
                <a:latin typeface="Courier"/>
              </a:rPr>
              <a:t>))</a:t>
            </a:r>
          </a:p>
          <a:p>
            <a:pPr lvl="0" indent="0">
              <a:buNone/>
            </a:pPr>
            <a:r>
              <a:rPr>
                <a:latin typeface="Courier"/>
              </a:rPr>
              <a:t>                     mpg cyl  disp  hp    wt  qsec vs am gear carb
Mazda RX4           21.0   6 160.0 110 2.620 16.46  0  1    4    4
Mazda RX4 Wag       21.0   6 160.0 110 2.875 17.02  0  1    4    4
Datsun 710          22.8   4 108.0  93 2.320 18.61  1  1    4    1
Hornet 4 Drive      21.4   6 258.0 110 3.215 19.44  1  0    3    1
Hornet Sportabout   18.7   8 360.0 175 3.440 17.02  0  0    3    2
Valiant             18.1   6 225.0 105 3.460 20.22  1  0    3    1
Duster 360          14.3   8 360.0 245 3.570 15.84  0  0    3    4
Merc 240D           24.4   4 146.7  62 3.190 20.00  1  0    4    2
Merc 230            22.8   4 140.8  95 3.150 22.90  1  0    4    2
Merc 280            19.2   6 167.6 123 3.440 18.30  1  0    4    4
Merc 280C           17.8   6 167.6 123 3.440 18.90  1  0    4    4
Merc 450SE          16.4   8 275.8 180 4.070 17.40  0  0    3    3
Merc 450SL          17.3   8 275.8 180 3.730 17.60  0  0    3    3
Merc 450SLC         15.2   8 275.8 180 3.780 18.00  0  0    3    3
Cadillac Fleetwood  10.4   8 472.0 205 5.250 17.98  0  0    3    4
Lincoln Continental 10.4   8 460.0 215 5.424 17.82  0  0    3    4
Chrysler Imperial   14.7   8 440.0 230 5.345 17.42  0  0    3    4
Fiat 128            32.4   4  78.7  66 2.200 19.47  1  1    4    1
Honda Civic         30.4   4  75.7  52 1.615 18.52  1  1    4    2
Toyota Corolla      33.9   4  71.1  65 1.835 19.90  1  1    4    1
Toyota Corona       21.5   4 120.1  97 2.465 20.01  1  0    3    1
Dodge Challenger    15.5   8 318.0 150 3.520 16.87  0  0    3    2
AMC Javelin         15.2   8 304.0 150 3.435 17.30  0  0    3    2
Camaro Z28          13.3   8 350.0 245 3.840 15.41  0  0    3    4
Pontiac Firebird    19.2   8 400.0 175 3.845 17.05  0  0    3    2
Fiat X1-9           27.3   4  79.0  66 1.935 18.90  1  1    4    1
Porsche 914-2       26.0   4 120.3  91 2.140 16.70  0  1    5    2
Lotus Europa        30.4   4  95.1 113 1.513 16.90  1  1    5    2
Ford Pantera L      15.8   8 351.0 264 3.170 14.50  0  1    5    4
Ferrari Dino        19.7   6 145.0 175 2.770 15.50  0  1    5    6
Maserati Bora       15.0   8 301.0 335 3.570 14.60  0  1    5    8
Volvo 142E          21.4   4 121.0 109 2.780 18.60  1  1    4    2</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Ordering</a:t>
            </a:r>
            <a:r>
              <a:rPr/>
              <a:t> </a:t>
            </a:r>
            <a:r>
              <a:rPr/>
              <a:t>columns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columns</a:t>
            </a:r>
            <a:r>
              <a:rPr/>
              <a:t> </a:t>
            </a:r>
            <a:r>
              <a:rPr/>
              <a:t>of</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We can use the </a:t>
            </a:r>
            <a:r>
              <a:rPr>
                <a:latin typeface="Courier"/>
              </a:rPr>
              <a:t>colnames</a:t>
            </a:r>
            <a:r>
              <a:rPr/>
              <a:t> function to get the column names of </a:t>
            </a:r>
            <a:r>
              <a:rPr>
                <a:latin typeface="Courier"/>
              </a:rPr>
              <a:t>df</a:t>
            </a:r>
            <a:r>
              <a:rPr/>
              <a:t> and then put </a:t>
            </a:r>
            <a:r>
              <a:rPr>
                <a:latin typeface="Courier"/>
              </a:rPr>
              <a:t>newcol</a:t>
            </a:r>
            <a:r>
              <a:rPr/>
              <a:t> first by subsetting </a:t>
            </a:r>
            <a:r>
              <a:rPr>
                <a:latin typeface="Courier"/>
              </a:rPr>
              <a:t>df</a:t>
            </a:r>
            <a:r>
              <a:rPr/>
              <a:t> using brackets:</a:t>
            </a:r>
          </a:p>
          <a:p>
            <a:pPr lvl="0" indent="0">
              <a:buNone/>
            </a:pPr>
            <a:r>
              <a:rPr>
                <a:latin typeface="Courier"/>
              </a:rPr>
              <a:t>cn </a:t>
            </a:r>
            <a:r>
              <a:rPr>
                <a:solidFill>
                  <a:srgbClr val="007020"/>
                </a:solidFill>
                <a:latin typeface="Courier"/>
              </a:rPr>
              <a:t>&lt;-</a:t>
            </a:r>
            <a:r>
              <a:rPr>
                <a:latin typeface="Courier"/>
              </a:rPr>
              <a:t> </a:t>
            </a:r>
            <a:r>
              <a:rPr>
                <a:solidFill>
                  <a:srgbClr val="06287E"/>
                </a:solidFill>
                <a:latin typeface="Courier"/>
              </a:rPr>
              <a:t>colnames</a:t>
            </a:r>
            <a:r>
              <a:rPr>
                <a:latin typeface="Courier"/>
              </a:rPr>
              <a:t>(df)</a:t>
            </a:r>
            <a:br/>
            <a:r>
              <a:rPr>
                <a:latin typeface="Courier"/>
              </a:rPr>
              <a:t>df[, </a:t>
            </a:r>
            <a:r>
              <a:rPr>
                <a:solidFill>
                  <a:srgbClr val="06287E"/>
                </a:solidFill>
                <a:latin typeface="Courier"/>
              </a:rPr>
              <a:t>c</a:t>
            </a:r>
            <a:r>
              <a:rPr>
                <a:latin typeface="Courier"/>
              </a:rPr>
              <a:t>(</a:t>
            </a:r>
            <a:r>
              <a:rPr>
                <a:solidFill>
                  <a:srgbClr val="4070A0"/>
                </a:solidFill>
                <a:latin typeface="Courier"/>
              </a:rPr>
              <a:t>"newcol"</a:t>
            </a:r>
            <a:r>
              <a:rPr>
                <a:latin typeface="Courier"/>
              </a:rPr>
              <a:t>, cn[cn </a:t>
            </a:r>
            <a:r>
              <a:rPr>
                <a:solidFill>
                  <a:srgbClr val="4070A0"/>
                </a:solidFill>
                <a:latin typeface="Courier"/>
              </a:rPr>
              <a:t>!=</a:t>
            </a:r>
            <a:r>
              <a:rPr>
                <a:latin typeface="Courier"/>
              </a:rPr>
              <a:t> </a:t>
            </a:r>
            <a:r>
              <a:rPr>
                <a:solidFill>
                  <a:srgbClr val="4070A0"/>
                </a:solidFill>
                <a:latin typeface="Courier"/>
              </a:rPr>
              <a:t>"newcol"</a:t>
            </a:r>
            <a:r>
              <a:rPr>
                <a:latin typeface="Courier"/>
              </a:rPr>
              <a:t>])]</a:t>
            </a:r>
          </a:p>
          <a:p>
            <a:pPr lvl="0" indent="0">
              <a:buNone/>
            </a:pPr>
            <a:r>
              <a:rPr>
                <a:latin typeface="Courier"/>
              </a:rPr>
              <a:t>                       newcol  mpg cyl  disp  hp drat    wt  qsec vs am gear
Mazda RX4           1.1909091 21.0   6 160.0 110 3.90 2.620 16.46  0  1    4
Mazda RX4 Wag       1.3068182 21.0   6 160.0 110 3.90 2.875 17.02  0  1    4
Datsun 710          1.0545455 22.8   4 108.0  93 3.85 2.320 18.61  1  1    4
Hornet 4 Drive      1.4613636 21.4   6 258.0 110 3.08 3.215 19.44  1  0    3
Hornet Sportabout   1.5636364 18.7   8 360.0 175 3.15 3.440 17.02  0  0    3
Valiant             1.5727273 18.1   6 225.0 105 2.76 3.460 20.22  1  0    3
Duster 360          1.6227273 14.3   8 360.0 245 3.21 3.570 15.84  0  0    3
Merc 240D           1.4500000 24.4   4 146.7  62 3.69 3.190 20.00  1  0    4
Merc 230            1.4318182 22.8   4 140.8  95 3.92 3.150 22.90  1  0    4
Merc 280            1.5636364 19.2   6 167.6 123 3.92 3.440 18.30  1  0    4
Merc 280C           1.5636364 17.8   6 167.6 123 3.92 3.440 18.90  1  0    4
Merc 450SE          1.8500000 16.4   8 275.8 180 3.07 4.070 17.40  0  0    3
Merc 450SL          1.6954545 17.3   8 275.8 180 3.07 3.730 17.60  0  0    3
Merc 450SLC         1.7181818 15.2   8 275.8 180 3.07 3.780 18.00  0  0    3
Cadillac Fleetwood  2.3863636 10.4   8 472.0 205 2.93 5.250 17.98  0  0    3
Lincoln Continental 2.4654545 10.4   8 460.0 215 3.00 5.424 17.82  0  0    3
Chrysler Imperial   2.4295455 14.7   8 440.0 230 3.23 5.345 17.42  0  0    3
Fiat 128            1.0000000 32.4   4  78.7  66 4.08 2.200 19.47  1  1    4
Honda Civic         0.7340909 30.4   4  75.7  52 4.93 1.615 18.52  1  1    4
Toyota Corolla      0.8340909 33.9   4  71.1  65 4.22 1.835 19.90  1  1    4
Toyota Corona       1.1204545 21.5   4 120.1  97 3.70 2.465 20.01  1  0    3
Dodge Challenger    1.6000000 15.5   8 318.0 150 2.76 3.520 16.87  0  0    3
AMC Javelin         1.5613636 15.2   8 304.0 150 3.15 3.435 17.30  0  0    3
Camaro Z28          1.7454545 13.3   8 350.0 245 3.73 3.840 15.41  0  0    3
Pontiac Firebird    1.7477273 19.2   8 400.0 175 3.08 3.845 17.05  0  0    3
Fiat X1-9           0.8795455 27.3   4  79.0  66 4.08 1.935 18.90  1  1    4
Porsche 914-2       0.9727273 26.0   4 120.3  91 4.43 2.140 16.70  0  1    5
Lotus Europa        0.6877273 30.4   4  95.1 113 3.77 1.513 16.90  1  1    5
Ford Pantera L      1.4409091 15.8   8 351.0 264 4.22 3.170 14.50  0  1    5
Ferrari Dino        1.2590909 19.7   6 145.0 175 3.62 2.770 15.50  0  1    5
Maserati Bora       1.6227273 15.0   8 301.0 335 3.54 3.570 14.60  0  1    5
Volvo 142E          1.2636364 21.4   4 121.0 109 4.11 2.780 18.60  1  1    4
                    carb
Mazda RX4              4
Mazda RX4 Wag          4
Datsun 710             1
Hornet 4 Drive         1
Hornet Sportabout      2
Valiant                1
Duster 360             4
Merc 240D              2
Merc 230               2
Merc 280               4
Merc 280C              4
Merc 450SE             3
Merc 450SL             3
Merc 450SLC            3
Cadillac Fleetwood     4
Lincoln Continental    4
Chrysler Imperial      4
Fiat 128               1
Honda Civic            2
Toyota Corolla         1
Toyota Corona          1
Dodge Challenger       2
AMC Javelin            2
Camaro Z28             4
Pontiac Firebird       2
Fiat X1-9              1
Porsche 914-2          2
Lotus Europa           2
Ford Pantera L         4
Ferrari Dino           6
Maserati Bora          8
Volvo 142E             2</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columns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a:t>
            </a:r>
            <a:r>
              <a:rPr>
                <a:latin typeface="Courier"/>
              </a:rPr>
              <a:t>select</a:t>
            </a:r>
            <a:r>
              <a:rPr/>
              <a:t> function can reorder columns. Put </a:t>
            </a:r>
            <a:r>
              <a:rPr>
                <a:latin typeface="Courier"/>
              </a:rPr>
              <a:t>newcol</a:t>
            </a:r>
            <a:r>
              <a:rPr/>
              <a:t> first, then select the rest of columns:</a:t>
            </a:r>
          </a:p>
          <a:p>
            <a:pPr lvl="0" indent="0">
              <a:buNone/>
            </a:pPr>
            <a:r>
              <a:rPr>
                <a:solidFill>
                  <a:srgbClr val="06287E"/>
                </a:solidFill>
                <a:latin typeface="Courier"/>
              </a:rPr>
              <a:t>select</a:t>
            </a:r>
            <a:r>
              <a:rPr>
                <a:latin typeface="Courier"/>
              </a:rPr>
              <a:t>(df, newcol, </a:t>
            </a:r>
            <a:r>
              <a:rPr>
                <a:solidFill>
                  <a:srgbClr val="06287E"/>
                </a:solidFill>
                <a:latin typeface="Courier"/>
              </a:rPr>
              <a:t>everything</a:t>
            </a:r>
            <a:r>
              <a:rPr>
                <a:latin typeface="Courier"/>
              </a:rPr>
              <a:t>())</a:t>
            </a:r>
          </a:p>
          <a:p>
            <a:pPr lvl="0" indent="0">
              <a:buNone/>
            </a:pPr>
            <a:r>
              <a:rPr>
                <a:latin typeface="Courier"/>
              </a:rPr>
              <a:t>                       newcol  mpg cyl  disp  hp drat    wt  qsec vs am gear
Mazda RX4           1.1909091 21.0   6 160.0 110 3.90 2.620 16.46  0  1    4
Mazda RX4 Wag       1.3068182 21.0   6 160.0 110 3.90 2.875 17.02  0  1    4
Datsun 710          1.0545455 22.8   4 108.0  93 3.85 2.320 18.61  1  1    4
Hornet 4 Drive      1.4613636 21.4   6 258.0 110 3.08 3.215 19.44  1  0    3
Hornet Sportabout   1.5636364 18.7   8 360.0 175 3.15 3.440 17.02  0  0    3
Valiant             1.5727273 18.1   6 225.0 105 2.76 3.460 20.22  1  0    3
Duster 360          1.6227273 14.3   8 360.0 245 3.21 3.570 15.84  0  0    3
Merc 240D           1.4500000 24.4   4 146.7  62 3.69 3.190 20.00  1  0    4
Merc 230            1.4318182 22.8   4 140.8  95 3.92 3.150 22.90  1  0    4
Merc 280            1.5636364 19.2   6 167.6 123 3.92 3.440 18.30  1  0    4
Merc 280C           1.5636364 17.8   6 167.6 123 3.92 3.440 18.90  1  0    4
Merc 450SE          1.8500000 16.4   8 275.8 180 3.07 4.070 17.40  0  0    3
Merc 450SL          1.6954545 17.3   8 275.8 180 3.07 3.730 17.60  0  0    3
Merc 450SLC         1.7181818 15.2   8 275.8 180 3.07 3.780 18.00  0  0    3
Cadillac Fleetwood  2.3863636 10.4   8 472.0 205 2.93 5.250 17.98  0  0    3
Lincoln Continental 2.4654545 10.4   8 460.0 215 3.00 5.424 17.82  0  0    3
Chrysler Imperial   2.4295455 14.7   8 440.0 230 3.23 5.345 17.42  0  0    3
Fiat 128            1.0000000 32.4   4  78.7  66 4.08 2.200 19.47  1  1    4
Honda Civic         0.7340909 30.4   4  75.7  52 4.93 1.615 18.52  1  1    4
Toyota Corolla      0.8340909 33.9   4  71.1  65 4.22 1.835 19.90  1  1    4
Toyota Corona       1.1204545 21.5   4 120.1  97 3.70 2.465 20.01  1  0    3
Dodge Challenger    1.6000000 15.5   8 318.0 150 2.76 3.520 16.87  0  0    3
AMC Javelin         1.5613636 15.2   8 304.0 150 3.15 3.435 17.30  0  0    3
Camaro Z28          1.7454545 13.3   8 350.0 245 3.73 3.840 15.41  0  0    3
Pontiac Firebird    1.7477273 19.2   8 400.0 175 3.08 3.845 17.05  0  0    3
Fiat X1-9           0.8795455 27.3   4  79.0  66 4.08 1.935 18.90  1  1    4
Porsche 914-2       0.9727273 26.0   4 120.3  91 4.43 2.140 16.70  0  1    5
Lotus Europa        0.6877273 30.4   4  95.1 113 3.77 1.513 16.90  1  1    5
Ford Pantera L      1.4409091 15.8   8 351.0 264 4.22 3.170 14.50  0  1    5
Ferrari Dino        1.2590909 19.7   6 145.0 175 3.62 2.770 15.50  0  1    5
Maserati Bora       1.6227273 15.0   8 301.0 335 3.54 3.570 14.60  0  1    5
Volvo 142E          1.2636364 21.4   4 121.0 109 4.11 2.780 18.60  1  1    4
                    carb
Mazda RX4              4
Mazda RX4 Wag          4
Datsun 710             1
Hornet 4 Drive         1
Hornet Sportabout      2
Valiant                1
Duster 360             4
Merc 240D              2
Merc 230               2
Merc 280               4
Merc 280C              4
Merc 450SE             3
Merc 450SL             3
Merc 450SLC            3
Cadillac Fleetwood     4
Lincoln Continental    4
Chrysler Imperial      4
Fiat 128               1
Honda Civic            2
Toyota Corolla         1
Toyota Corona          1
Dodge Challenger       2
AMC Javelin            2
Camaro Z28             4
Pontiac Firebird       2
Fiat X1-9              1
Porsche 914-2          2
Lotus Europa           2
Ford Pantera L         4
Ferrari Dino           6
Maserati Bora          8
Volvo 142E             2</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Ordering</a:t>
            </a:r>
            <a:r>
              <a:rPr/>
              <a:t> </a:t>
            </a:r>
            <a:r>
              <a:rPr/>
              <a:t>rows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rows</a:t>
            </a:r>
            <a:r>
              <a:rPr/>
              <a:t> </a:t>
            </a:r>
            <a:r>
              <a:rPr/>
              <a:t>of</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We use the </a:t>
            </a:r>
            <a:r>
              <a:rPr>
                <a:latin typeface="Courier"/>
              </a:rPr>
              <a:t>order</a:t>
            </a:r>
            <a:r>
              <a:rPr/>
              <a:t> function on a vector or set of vectors, in increasing order:</a:t>
            </a:r>
          </a:p>
          <a:p>
            <a:pPr lvl="0" indent="0">
              <a:buNone/>
            </a:pPr>
            <a:r>
              <a:rPr>
                <a:latin typeface="Courier"/>
              </a:rPr>
              <a:t>df[</a:t>
            </a:r>
            <a:r>
              <a:rPr>
                <a:solidFill>
                  <a:srgbClr val="06287E"/>
                </a:solidFill>
                <a:latin typeface="Courier"/>
              </a:rPr>
              <a:t>order</a:t>
            </a:r>
            <a:r>
              <a:rPr>
                <a:latin typeface="Courier"/>
              </a:rPr>
              <a:t>(df</a:t>
            </a:r>
            <a:r>
              <a:rPr>
                <a:solidFill>
                  <a:srgbClr val="4070A0"/>
                </a:solidFill>
                <a:latin typeface="Courier"/>
              </a:rPr>
              <a:t>$</a:t>
            </a:r>
            <a:r>
              <a:rPr>
                <a:latin typeface="Courier"/>
              </a:rPr>
              <a:t>mpg), ]</a:t>
            </a:r>
          </a:p>
          <a:p>
            <a:pPr lvl="0" indent="0">
              <a:buNone/>
            </a:pPr>
            <a:r>
              <a:rPr>
                <a:latin typeface="Courier"/>
              </a:rPr>
              <a:t>                     mpg cyl  disp  hp drat    wt  qsec vs am gear carb
Cadillac Fleetwood  10.4   8 472.0 205 2.93 5.250 17.98  0  0    3    4
Lincoln Continental 10.4   8 460.0 215 3.00 5.424 17.82  0  0    3    4
Camaro Z28          13.3   8 350.0 245 3.73 3.840 15.41  0  0    3    4
Duster 360          14.3   8 360.0 245 3.21 3.570 15.84  0  0    3    4
Chrysler Imperial   14.7   8 440.0 230 3.23 5.345 17.42  0  0    3    4
Maserati Bora       15.0   8 301.0 335 3.54 3.570 14.60  0  1    5    8
Merc 450SLC         15.2   8 275.8 180 3.07 3.780 18.00  0  0    3    3
AMC Javelin         15.2   8 304.0 150 3.15 3.435 17.30  0  0    3    2
Dodge Challenger    15.5   8 318.0 150 2.76 3.520 16.87  0  0    3    2
Ford Pantera L      15.8   8 351.0 264 4.22 3.170 14.50  0  1    5    4
Merc 450SE          16.4   8 275.8 180 3.07 4.070 17.40  0  0    3    3
Merc 450SL          17.3   8 275.8 180 3.07 3.730 17.60  0  0    3    3
Merc 280C           17.8   6 167.6 123 3.92 3.440 18.90  1  0    4    4
Valiant             18.1   6 225.0 105 2.76 3.460 20.22  1  0    3    1
Hornet Sportabout   18.7   8 360.0 175 3.15 3.440 17.02  0  0    3    2
Merc 280            19.2   6 167.6 123 3.92 3.440 18.30  1  0    4    4
Pontiac Firebird    19.2   8 400.0 175 3.08 3.845 17.05  0  0    3    2
Ferrari Dino        19.7   6 145.0 175 3.62 2.770 15.50  0  1    5    6
Mazda RX4           21.0   6 160.0 110 3.90 2.620 16.46  0  1    4    4
Mazda RX4 Wag       21.0   6 160.0 110 3.90 2.875 17.02  0  1    4    4
Hornet 4 Drive      21.4   6 258.0 110 3.08 3.215 19.44  1  0    3    1
Volvo 142E          21.4   4 121.0 109 4.11 2.780 18.60  1  1    4    2
Toyota Corona       21.5   4 120.1  97 3.70 2.465 20.01  1  0    3    1
Datsun 710          22.8   4 108.0  93 3.85 2.320 18.61  1  1    4    1
Merc 230            22.8   4 140.8  95 3.92 3.150 22.90  1  0    4    2
Merc 240D           24.4   4 146.7  62 3.69 3.190 20.00  1  0    4    2
Porsche 914-2       26.0   4 120.3  91 4.43 2.140 16.70  0  1    5    2
Fiat X1-9           27.3   4  79.0  66 4.08 1.935 18.90  1  1    4    1
Honda Civic         30.4   4  75.7  52 4.93 1.615 18.52  1  1    4    2
Lotus Europa        30.4   4  95.1 113 3.77 1.513 16.90  1  1    5    2
Fiat 128            32.4   4  78.7  66 4.08 2.200 19.47  1  1    4    1
Toyota Corolla      33.9   4  71.1  65 4.22 1.835 19.90  1  1    4    1
                       newcol
Cadillac Fleetwood  2.3863636
Lincoln Continental 2.4654545
Camaro Z28          1.7454545
Duster 360          1.6227273
Chrysler Imperial   2.4295455
Maserati Bora       1.6227273
Merc 450SLC         1.7181818
AMC Javelin         1.5613636
Dodge Challenger    1.6000000
Ford Pantera L      1.4409091
Merc 450SE          1.8500000
Merc 450SL          1.6954545
Merc 280C           1.5636364
Valiant             1.5727273
Hornet Sportabout   1.5636364
Merc 280            1.5636364
Pontiac Firebird    1.7477273
Ferrari Dino        1.2590909
Mazda RX4           1.1909091
Mazda RX4 Wag       1.3068182
Hornet 4 Drive      1.4613636
Volvo 142E          1.2636364
Toyota Corona       1.1204545
Datsun 710          1.0545455
Merc 230            1.4318182
Merc 240D           1.4500000
Porsche 914-2       0.9727273
Fiat X1-9           0.8795455
Honda Civic         0.7340909
Lotus Europa        0.6877273
Fiat 128            1.0000000
Toyota Corolla      0.8340909</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rows</a:t>
            </a:r>
            <a:r>
              <a:rPr/>
              <a:t> </a:t>
            </a:r>
            <a:r>
              <a:rPr/>
              <a:t>of</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The </a:t>
            </a:r>
            <a:r>
              <a:rPr>
                <a:latin typeface="Courier"/>
              </a:rPr>
              <a:t>decreasing</a:t>
            </a:r>
            <a:r>
              <a:rPr/>
              <a:t> argument will order it in decreasing order:</a:t>
            </a:r>
          </a:p>
          <a:p>
            <a:pPr lvl="0" indent="0">
              <a:buNone/>
            </a:pPr>
            <a:r>
              <a:rPr>
                <a:latin typeface="Courier"/>
              </a:rPr>
              <a:t>df[</a:t>
            </a:r>
            <a:r>
              <a:rPr>
                <a:solidFill>
                  <a:srgbClr val="06287E"/>
                </a:solidFill>
                <a:latin typeface="Courier"/>
              </a:rPr>
              <a:t>order</a:t>
            </a:r>
            <a:r>
              <a:rPr>
                <a:latin typeface="Courier"/>
              </a:rPr>
              <a:t>(df</a:t>
            </a:r>
            <a:r>
              <a:rPr>
                <a:solidFill>
                  <a:srgbClr val="4070A0"/>
                </a:solidFill>
                <a:latin typeface="Courier"/>
              </a:rPr>
              <a:t>$</a:t>
            </a:r>
            <a:r>
              <a:rPr>
                <a:latin typeface="Courier"/>
              </a:rPr>
              <a:t>mpg, </a:t>
            </a:r>
            <a:r>
              <a:rPr>
                <a:solidFill>
                  <a:srgbClr val="7D9029"/>
                </a:solidFill>
                <a:latin typeface="Courier"/>
              </a:rPr>
              <a:t>decreasing =</a:t>
            </a:r>
            <a:r>
              <a:rPr>
                <a:latin typeface="Courier"/>
              </a:rPr>
              <a:t> </a:t>
            </a:r>
            <a:r>
              <a:rPr>
                <a:solidFill>
                  <a:srgbClr val="880000"/>
                </a:solidFill>
                <a:latin typeface="Courier"/>
              </a:rPr>
              <a:t>TRUE</a:t>
            </a:r>
            <a:r>
              <a:rPr>
                <a:latin typeface="Courier"/>
              </a:rPr>
              <a:t>), ]</a:t>
            </a:r>
          </a:p>
          <a:p>
            <a:pPr lvl="0" indent="0">
              <a:buNone/>
            </a:pPr>
            <a:r>
              <a:rPr>
                <a:latin typeface="Courier"/>
              </a:rPr>
              <a:t>                     mpg cyl  disp  hp drat    wt  qsec vs am gear carb
Toyota Corolla      33.9   4  71.1  65 4.22 1.835 19.90  1  1    4    1
Fiat 128            32.4   4  78.7  66 4.08 2.200 19.47  1  1    4    1
Honda Civic         30.4   4  75.7  52 4.93 1.615 18.52  1  1    4    2
Lotus Europa        30.4   4  95.1 113 3.77 1.513 16.90  1  1    5    2
Fiat X1-9           27.3   4  79.0  66 4.08 1.935 18.90  1  1    4    1
Porsche 914-2       26.0   4 120.3  91 4.43 2.140 16.70  0  1    5    2
Merc 240D           24.4   4 146.7  62 3.69 3.190 20.00  1  0    4    2
Datsun 710          22.8   4 108.0  93 3.85 2.320 18.61  1  1    4    1
Merc 230            22.8   4 140.8  95 3.92 3.150 22.90  1  0    4    2
Toyota Corona       21.5   4 120.1  97 3.70 2.465 20.01  1  0    3    1
Hornet 4 Drive      21.4   6 258.0 110 3.08 3.215 19.44  1  0    3    1
Volvo 142E          21.4   4 121.0 109 4.11 2.780 18.60  1  1    4    2
Mazda RX4           21.0   6 160.0 110 3.90 2.620 16.46  0  1    4    4
Mazda RX4 Wag       21.0   6 160.0 110 3.90 2.875 17.02  0  1    4    4
Ferrari Dino        19.7   6 145.0 175 3.62 2.770 15.50  0  1    5    6
Merc 280            19.2   6 167.6 123 3.92 3.440 18.30  1  0    4    4
Pontiac Firebird    19.2   8 400.0 175 3.08 3.845 17.05  0  0    3    2
Hornet Sportabout   18.7   8 360.0 175 3.15 3.440 17.02  0  0    3    2
Valiant             18.1   6 225.0 105 2.76 3.460 20.22  1  0    3    1
Merc 280C           17.8   6 167.6 123 3.92 3.440 18.90  1  0    4    4
Merc 450SL          17.3   8 275.8 180 3.07 3.730 17.60  0  0    3    3
Merc 450SE          16.4   8 275.8 180 3.07 4.070 17.40  0  0    3    3
Ford Pantera L      15.8   8 351.0 264 4.22 3.170 14.50  0  1    5    4
Dodge Challenger    15.5   8 318.0 150 2.76 3.520 16.87  0  0    3    2
Merc 450SLC         15.2   8 275.8 180 3.07 3.780 18.00  0  0    3    3
AMC Javelin         15.2   8 304.0 150 3.15 3.435 17.30  0  0    3    2
Maserati Bora       15.0   8 301.0 335 3.54 3.570 14.60  0  1    5    8
Chrysler Imperial   14.7   8 440.0 230 3.23 5.345 17.42  0  0    3    4
Duster 360          14.3   8 360.0 245 3.21 3.570 15.84  0  0    3    4
Camaro Z28          13.3   8 350.0 245 3.73 3.840 15.41  0  0    3    4
Cadillac Fleetwood  10.4   8 472.0 205 2.93 5.250 17.98  0  0    3    4
Lincoln Continental 10.4   8 460.0 215 3.00 5.424 17.82  0  0    3    4
                       newcol
Toyota Corolla      0.8340909
Fiat 128            1.0000000
Honda Civic         0.7340909
Lotus Europa        0.6877273
Fiat X1-9           0.8795455
Porsche 914-2       0.9727273
Merc 240D           1.4500000
Datsun 710          1.0545455
Merc 230            1.4318182
Toyota Corona       1.1204545
Hornet 4 Drive      1.4613636
Volvo 142E          1.2636364
Mazda RX4           1.1909091
Mazda RX4 Wag       1.3068182
Ferrari Dino        1.2590909
Merc 280            1.5636364
Pontiac Firebird    1.7477273
Hornet Sportabout   1.5636364
Valiant             1.5727273
Merc 280C           1.5636364
Merc 450SL          1.6954545
Merc 450SE          1.8500000
Ford Pantera L      1.4409091
Dodge Challenger    1.6000000
Merc 450SLC         1.7181818
AMC Javelin         1.5613636
Maserati Bora       1.6227273
Chrysler Imperial   2.4295455
Duster 360          1.6227273
Camaro Z28          1.7454545
Cadillac Fleetwood  2.3863636
Lincoln Continental 2.4654545</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rows</a:t>
            </a:r>
            <a:r>
              <a:rPr/>
              <a:t> </a:t>
            </a:r>
            <a:r>
              <a:rPr/>
              <a:t>of</a:t>
            </a:r>
            <a:r>
              <a:rPr/>
              <a:t> </a:t>
            </a:r>
            <a:r>
              <a:rPr/>
              <a:t>a</a:t>
            </a:r>
            <a:r>
              <a:rPr/>
              <a:t> </a:t>
            </a:r>
            <a:r>
              <a:rPr>
                <a:latin typeface="Courier"/>
              </a:rPr>
              <a:t>data.frame</a:t>
            </a:r>
            <a:r>
              <a:rPr/>
              <a:t>:</a:t>
            </a:r>
            <a:r>
              <a:rPr/>
              <a:t> </a:t>
            </a:r>
            <a:r>
              <a:rPr/>
              <a:t>base</a:t>
            </a:r>
            <a:r>
              <a:rPr/>
              <a:t> </a:t>
            </a:r>
            <a:r>
              <a:rPr/>
              <a:t>R</a:t>
            </a:r>
          </a:p>
        </p:txBody>
      </p:sp>
      <p:sp>
        <p:nvSpPr>
          <p:cNvPr id="3" name="Content Placeholder 2"/>
          <p:cNvSpPr>
            <a:spLocks noGrp="1"/>
          </p:cNvSpPr>
          <p:nvPr>
            <p:ph idx="1"/>
          </p:nvPr>
        </p:nvSpPr>
        <p:spPr/>
        <p:txBody>
          <a:bodyPr/>
          <a:lstStyle/>
          <a:p>
            <a:pPr lvl="0" marL="0" indent="0">
              <a:buNone/>
            </a:pPr>
            <a:r>
              <a:rPr/>
              <a:t>You can pass multiple vectors, and must use the negative (using </a:t>
            </a:r>
            <a:r>
              <a:rPr>
                <a:latin typeface="Courier"/>
              </a:rPr>
              <a:t>-</a:t>
            </a:r>
            <a:r>
              <a:rPr/>
              <a:t>) to mix decreasing and increasing orderings (sort increasing on </a:t>
            </a:r>
            <a:r>
              <a:rPr>
                <a:latin typeface="Courier"/>
              </a:rPr>
              <a:t>x</a:t>
            </a:r>
            <a:r>
              <a:rPr/>
              <a:t> and decreasing on </a:t>
            </a:r>
            <a:r>
              <a:rPr>
                <a:latin typeface="Courier"/>
              </a:rPr>
              <a:t>y</a:t>
            </a:r>
            <a:r>
              <a:rPr/>
              <a:t>):</a:t>
            </a:r>
          </a:p>
          <a:p>
            <a:pPr lvl="0" indent="0">
              <a:buNone/>
            </a:pPr>
            <a:r>
              <a:rPr>
                <a:latin typeface="Courier"/>
              </a:rPr>
              <a:t>df[</a:t>
            </a:r>
            <a:r>
              <a:rPr>
                <a:solidFill>
                  <a:srgbClr val="06287E"/>
                </a:solidFill>
                <a:latin typeface="Courier"/>
              </a:rPr>
              <a:t>order</a:t>
            </a:r>
            <a:r>
              <a:rPr>
                <a:latin typeface="Courier"/>
              </a:rPr>
              <a:t>(df</a:t>
            </a:r>
            <a:r>
              <a:rPr>
                <a:solidFill>
                  <a:srgbClr val="4070A0"/>
                </a:solidFill>
                <a:latin typeface="Courier"/>
              </a:rPr>
              <a:t>$</a:t>
            </a:r>
            <a:r>
              <a:rPr>
                <a:latin typeface="Courier"/>
              </a:rPr>
              <a:t>mpg, </a:t>
            </a:r>
            <a:r>
              <a:rPr>
                <a:solidFill>
                  <a:srgbClr val="4070A0"/>
                </a:solidFill>
                <a:latin typeface="Courier"/>
              </a:rPr>
              <a:t>-</a:t>
            </a:r>
            <a:r>
              <a:rPr>
                <a:latin typeface="Courier"/>
              </a:rPr>
              <a:t>df</a:t>
            </a:r>
            <a:r>
              <a:rPr>
                <a:solidFill>
                  <a:srgbClr val="4070A0"/>
                </a:solidFill>
                <a:latin typeface="Courier"/>
              </a:rPr>
              <a:t>$</a:t>
            </a:r>
            <a:r>
              <a:rPr>
                <a:latin typeface="Courier"/>
              </a:rPr>
              <a:t>hp), ]</a:t>
            </a:r>
          </a:p>
          <a:p>
            <a:pPr lvl="0" indent="0">
              <a:buNone/>
            </a:pPr>
            <a:r>
              <a:rPr>
                <a:latin typeface="Courier"/>
              </a:rPr>
              <a:t>                     mpg cyl  disp  hp drat    wt  qsec vs am gear carb
Lincoln Continental 10.4   8 460.0 215 3.00 5.424 17.82  0  0    3    4
Cadillac Fleetwood  10.4   8 472.0 205 2.93 5.250 17.98  0  0    3    4
Camaro Z28          13.3   8 350.0 245 3.73 3.840 15.41  0  0    3    4
Duster 360          14.3   8 360.0 245 3.21 3.570 15.84  0  0    3    4
Chrysler Imperial   14.7   8 440.0 230 3.23 5.345 17.42  0  0    3    4
Maserati Bora       15.0   8 301.0 335 3.54 3.570 14.60  0  1    5    8
Merc 450SLC         15.2   8 275.8 180 3.07 3.780 18.00  0  0    3    3
AMC Javelin         15.2   8 304.0 150 3.15 3.435 17.30  0  0    3    2
Dodge Challenger    15.5   8 318.0 150 2.76 3.520 16.87  0  0    3    2
Ford Pantera L      15.8   8 351.0 264 4.22 3.170 14.50  0  1    5    4
Merc 450SE          16.4   8 275.8 180 3.07 4.070 17.40  0  0    3    3
Merc 450SL          17.3   8 275.8 180 3.07 3.730 17.60  0  0    3    3
Merc 280C           17.8   6 167.6 123 3.92 3.440 18.90  1  0    4    4
Valiant             18.1   6 225.0 105 2.76 3.460 20.22  1  0    3    1
Hornet Sportabout   18.7   8 360.0 175 3.15 3.440 17.02  0  0    3    2
Pontiac Firebird    19.2   8 400.0 175 3.08 3.845 17.05  0  0    3    2
Merc 280            19.2   6 167.6 123 3.92 3.440 18.30  1  0    4    4
Ferrari Dino        19.7   6 145.0 175 3.62 2.770 15.50  0  1    5    6
Mazda RX4           21.0   6 160.0 110 3.90 2.620 16.46  0  1    4    4
Mazda RX4 Wag       21.0   6 160.0 110 3.90 2.875 17.02  0  1    4    4
Hornet 4 Drive      21.4   6 258.0 110 3.08 3.215 19.44  1  0    3    1
Volvo 142E          21.4   4 121.0 109 4.11 2.780 18.60  1  1    4    2
Toyota Corona       21.5   4 120.1  97 3.70 2.465 20.01  1  0    3    1
Merc 230            22.8   4 140.8  95 3.92 3.150 22.90  1  0    4    2
Datsun 710          22.8   4 108.0  93 3.85 2.320 18.61  1  1    4    1
Merc 240D           24.4   4 146.7  62 3.69 3.190 20.00  1  0    4    2
Porsche 914-2       26.0   4 120.3  91 4.43 2.140 16.70  0  1    5    2
Fiat X1-9           27.3   4  79.0  66 4.08 1.935 18.90  1  1    4    1
Lotus Europa        30.4   4  95.1 113 3.77 1.513 16.90  1  1    5    2
Honda Civic         30.4   4  75.7  52 4.93 1.615 18.52  1  1    4    2
Fiat 128            32.4   4  78.7  66 4.08 2.200 19.47  1  1    4    1
Toyota Corolla      33.9   4  71.1  65 4.22 1.835 19.90  1  1    4    1
                       newcol
Lincoln Continental 2.4654545
Cadillac Fleetwood  2.3863636
Camaro Z28          1.7454545
Duster 360          1.6227273
Chrysler Imperial   2.4295455
Maserati Bora       1.6227273
Merc 450SLC         1.7181818
AMC Javelin         1.5613636
Dodge Challenger    1.6000000
Ford Pantera L      1.4409091
Merc 450SE          1.8500000
Merc 450SL          1.6954545
Merc 280C           1.5636364
Valiant             1.5727273
Hornet Sportabout   1.5636364
Pontiac Firebird    1.7477273
Merc 280            1.5636364
Ferrari Dino        1.2590909
Mazda RX4           1.1909091
Mazda RX4 Wag       1.3068182
Hornet 4 Drive      1.4613636
Volvo 142E          1.2636364
Toyota Corona       1.1204545
Merc 230            1.4318182
Datsun 710          1.0545455
Merc 240D           1.4500000
Porsche 914-2       0.9727273
Fiat X1-9           0.8795455
Lotus Europa        0.6877273
Honda Civic         0.7340909
Fiat 128            1.0000000
Toyota Corolla      0.8340909</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rows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The </a:t>
            </a:r>
            <a:r>
              <a:rPr>
                <a:latin typeface="Courier"/>
              </a:rPr>
              <a:t>arrange</a:t>
            </a:r>
            <a:r>
              <a:rPr/>
              <a:t> function can reorder rows By default, </a:t>
            </a:r>
            <a:r>
              <a:rPr>
                <a:latin typeface="Courier"/>
              </a:rPr>
              <a:t>arrange</a:t>
            </a:r>
            <a:r>
              <a:rPr/>
              <a:t> orders in ascending order:</a:t>
            </a:r>
          </a:p>
          <a:p>
            <a:pPr lvl="0" indent="0">
              <a:buNone/>
            </a:pPr>
            <a:r>
              <a:rPr>
                <a:solidFill>
                  <a:srgbClr val="06287E"/>
                </a:solidFill>
                <a:latin typeface="Courier"/>
              </a:rPr>
              <a:t>arrange</a:t>
            </a:r>
            <a:r>
              <a:rPr>
                <a:latin typeface="Courier"/>
              </a:rPr>
              <a:t>(df, mpg)</a:t>
            </a:r>
          </a:p>
          <a:p>
            <a:pPr lvl="0" indent="0">
              <a:buNone/>
            </a:pPr>
            <a:r>
              <a:rPr>
                <a:latin typeface="Courier"/>
              </a:rPr>
              <a:t>                     mpg cyl  disp  hp drat    wt  qsec vs am gear carb
Cadillac Fleetwood  10.4   8 472.0 205 2.93 5.250 17.98  0  0    3    4
Lincoln Continental 10.4   8 460.0 215 3.00 5.424 17.82  0  0    3    4
Camaro Z28          13.3   8 350.0 245 3.73 3.840 15.41  0  0    3    4
Duster 360          14.3   8 360.0 245 3.21 3.570 15.84  0  0    3    4
Chrysler Imperial   14.7   8 440.0 230 3.23 5.345 17.42  0  0    3    4
Maserati Bora       15.0   8 301.0 335 3.54 3.570 14.60  0  1    5    8
Merc 450SLC         15.2   8 275.8 180 3.07 3.780 18.00  0  0    3    3
AMC Javelin         15.2   8 304.0 150 3.15 3.435 17.30  0  0    3    2
Dodge Challenger    15.5   8 318.0 150 2.76 3.520 16.87  0  0    3    2
Ford Pantera L      15.8   8 351.0 264 4.22 3.170 14.50  0  1    5    4
Merc 450SE          16.4   8 275.8 180 3.07 4.070 17.40  0  0    3    3
Merc 450SL          17.3   8 275.8 180 3.07 3.730 17.60  0  0    3    3
Merc 280C           17.8   6 167.6 123 3.92 3.440 18.90  1  0    4    4
Valiant             18.1   6 225.0 105 2.76 3.460 20.22  1  0    3    1
Hornet Sportabout   18.7   8 360.0 175 3.15 3.440 17.02  0  0    3    2
Merc 280            19.2   6 167.6 123 3.92 3.440 18.30  1  0    4    4
Pontiac Firebird    19.2   8 400.0 175 3.08 3.845 17.05  0  0    3    2
Ferrari Dino        19.7   6 145.0 175 3.62 2.770 15.50  0  1    5    6
Mazda RX4           21.0   6 160.0 110 3.90 2.620 16.46  0  1    4    4
Mazda RX4 Wag       21.0   6 160.0 110 3.90 2.875 17.02  0  1    4    4
Hornet 4 Drive      21.4   6 258.0 110 3.08 3.215 19.44  1  0    3    1
Volvo 142E          21.4   4 121.0 109 4.11 2.780 18.60  1  1    4    2
Toyota Corona       21.5   4 120.1  97 3.70 2.465 20.01  1  0    3    1
Datsun 710          22.8   4 108.0  93 3.85 2.320 18.61  1  1    4    1
Merc 230            22.8   4 140.8  95 3.92 3.150 22.90  1  0    4    2
Merc 240D           24.4   4 146.7  62 3.69 3.190 20.00  1  0    4    2
Porsche 914-2       26.0   4 120.3  91 4.43 2.140 16.70  0  1    5    2
Fiat X1-9           27.3   4  79.0  66 4.08 1.935 18.90  1  1    4    1
Honda Civic         30.4   4  75.7  52 4.93 1.615 18.52  1  1    4    2
Lotus Europa        30.4   4  95.1 113 3.77 1.513 16.90  1  1    5    2
Fiat 128            32.4   4  78.7  66 4.08 2.200 19.47  1  1    4    1
Toyota Corolla      33.9   4  71.1  65 4.22 1.835 19.90  1  1    4    1
                       newcol
Cadillac Fleetwood  2.3863636
Lincoln Continental 2.4654545
Camaro Z28          1.7454545
Duster 360          1.6227273
Chrysler Imperial   2.4295455
Maserati Bora       1.6227273
Merc 450SLC         1.7181818
AMC Javelin         1.5613636
Dodge Challenger    1.6000000
Ford Pantera L      1.4409091
Merc 450SE          1.8500000
Merc 450SL          1.6954545
Merc 280C           1.5636364
Valiant             1.5727273
Hornet Sportabout   1.5636364
Merc 280            1.5636364
Pontiac Firebird    1.7477273
Ferrari Dino        1.2590909
Mazda RX4           1.1909091
Mazda RX4 Wag       1.3068182
Hornet 4 Drive      1.4613636
Volvo 142E          1.2636364
Toyota Corona       1.1204545
Datsun 710          1.0545455
Merc 230            1.4318182
Merc 240D           1.4500000
Porsche 914-2       0.9727273
Fiat X1-9           0.8795455
Honda Civic         0.7340909
Lotus Europa        0.6877273
Fiat 128            1.0000000
Toyota Corolla      0.8340909</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rows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Use the </a:t>
            </a:r>
            <a:r>
              <a:rPr>
                <a:latin typeface="Courier"/>
              </a:rPr>
              <a:t>desc</a:t>
            </a:r>
            <a:r>
              <a:rPr/>
              <a:t> to arrange the rows in descending order:</a:t>
            </a:r>
          </a:p>
          <a:p>
            <a:pPr lvl="0" indent="0">
              <a:buNone/>
            </a:pPr>
            <a:r>
              <a:rPr>
                <a:solidFill>
                  <a:srgbClr val="06287E"/>
                </a:solidFill>
                <a:latin typeface="Courier"/>
              </a:rPr>
              <a:t>arrange</a:t>
            </a:r>
            <a:r>
              <a:rPr>
                <a:latin typeface="Courier"/>
              </a:rPr>
              <a:t>(df, </a:t>
            </a:r>
            <a:r>
              <a:rPr>
                <a:solidFill>
                  <a:srgbClr val="06287E"/>
                </a:solidFill>
                <a:latin typeface="Courier"/>
              </a:rPr>
              <a:t>desc</a:t>
            </a:r>
            <a:r>
              <a:rPr>
                <a:latin typeface="Courier"/>
              </a:rPr>
              <a:t>(mpg))</a:t>
            </a:r>
          </a:p>
          <a:p>
            <a:pPr lvl="0" indent="0">
              <a:buNone/>
            </a:pPr>
            <a:r>
              <a:rPr>
                <a:latin typeface="Courier"/>
              </a:rPr>
              <a:t>                     mpg cyl  disp  hp drat    wt  qsec vs am gear carb
Toyota Corolla      33.9   4  71.1  65 4.22 1.835 19.90  1  1    4    1
Fiat 128            32.4   4  78.7  66 4.08 2.200 19.47  1  1    4    1
Honda Civic         30.4   4  75.7  52 4.93 1.615 18.52  1  1    4    2
Lotus Europa        30.4   4  95.1 113 3.77 1.513 16.90  1  1    5    2
Fiat X1-9           27.3   4  79.0  66 4.08 1.935 18.90  1  1    4    1
Porsche 914-2       26.0   4 120.3  91 4.43 2.140 16.70  0  1    5    2
Merc 240D           24.4   4 146.7  62 3.69 3.190 20.00  1  0    4    2
Datsun 710          22.8   4 108.0  93 3.85 2.320 18.61  1  1    4    1
Merc 230            22.8   4 140.8  95 3.92 3.150 22.90  1  0    4    2
Toyota Corona       21.5   4 120.1  97 3.70 2.465 20.01  1  0    3    1
Hornet 4 Drive      21.4   6 258.0 110 3.08 3.215 19.44  1  0    3    1
Volvo 142E          21.4   4 121.0 109 4.11 2.780 18.60  1  1    4    2
Mazda RX4           21.0   6 160.0 110 3.90 2.620 16.46  0  1    4    4
Mazda RX4 Wag       21.0   6 160.0 110 3.90 2.875 17.02  0  1    4    4
Ferrari Dino        19.7   6 145.0 175 3.62 2.770 15.50  0  1    5    6
Merc 280            19.2   6 167.6 123 3.92 3.440 18.30  1  0    4    4
Pontiac Firebird    19.2   8 400.0 175 3.08 3.845 17.05  0  0    3    2
Hornet Sportabout   18.7   8 360.0 175 3.15 3.440 17.02  0  0    3    2
Valiant             18.1   6 225.0 105 2.76 3.460 20.22  1  0    3    1
Merc 280C           17.8   6 167.6 123 3.92 3.440 18.90  1  0    4    4
Merc 450SL          17.3   8 275.8 180 3.07 3.730 17.60  0  0    3    3
Merc 450SE          16.4   8 275.8 180 3.07 4.070 17.40  0  0    3    3
Ford Pantera L      15.8   8 351.0 264 4.22 3.170 14.50  0  1    5    4
Dodge Challenger    15.5   8 318.0 150 2.76 3.520 16.87  0  0    3    2
Merc 450SLC         15.2   8 275.8 180 3.07 3.780 18.00  0  0    3    3
AMC Javelin         15.2   8 304.0 150 3.15 3.435 17.30  0  0    3    2
Maserati Bora       15.0   8 301.0 335 3.54 3.570 14.60  0  1    5    8
Chrysler Imperial   14.7   8 440.0 230 3.23 5.345 17.42  0  0    3    4
Duster 360          14.3   8 360.0 245 3.21 3.570 15.84  0  0    3    4
Camaro Z28          13.3   8 350.0 245 3.73 3.840 15.41  0  0    3    4
Cadillac Fleetwood  10.4   8 472.0 205 2.93 5.250 17.98  0  0    3    4
Lincoln Continental 10.4   8 460.0 215 3.00 5.424 17.82  0  0    3    4
                       newcol
Toyota Corolla      0.8340909
Fiat 128            1.0000000
Honda Civic         0.7340909
Lotus Europa        0.6877273
Fiat X1-9           0.8795455
Porsche 914-2       0.9727273
Merc 240D           1.4500000
Datsun 710          1.0545455
Merc 230            1.4318182
Toyota Corona       1.1204545
Hornet 4 Drive      1.4613636
Volvo 142E          1.2636364
Mazda RX4           1.1909091
Mazda RX4 Wag       1.3068182
Ferrari Dino        1.2590909
Merc 280            1.5636364
Pontiac Firebird    1.7477273
Hornet Sportabout   1.5636364
Valiant             1.5727273
Merc 280C           1.5636364
Merc 450SL          1.6954545
Merc 450SE          1.8500000
Ford Pantera L      1.4409091
Dodge Challenger    1.6000000
Merc 450SLC         1.7181818
AMC Javelin         1.5613636
Maserati Bora       1.6227273
Chrysler Imperial   2.4295455
Duster 360          1.6227273
Camaro Z28          1.7454545
Cadillac Fleetwood  2.3863636
Lincoln Continental 2.4654545</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Ordering</a:t>
            </a:r>
            <a:r>
              <a:rPr/>
              <a:t> </a:t>
            </a:r>
            <a:r>
              <a:rPr/>
              <a:t>the</a:t>
            </a:r>
            <a:r>
              <a:rPr/>
              <a:t> </a:t>
            </a:r>
            <a:r>
              <a:rPr/>
              <a:t>rows</a:t>
            </a:r>
            <a:r>
              <a:rPr/>
              <a:t> </a:t>
            </a:r>
            <a:r>
              <a:rPr/>
              <a:t>of</a:t>
            </a:r>
            <a:r>
              <a:rPr/>
              <a:t> </a:t>
            </a:r>
            <a:r>
              <a:rPr/>
              <a:t>a</a:t>
            </a:r>
            <a:r>
              <a:rPr/>
              <a:t> </a:t>
            </a:r>
            <a:r>
              <a:rPr>
                <a:latin typeface="Courier"/>
              </a:rPr>
              <a:t>data.frame</a:t>
            </a:r>
            <a:r>
              <a:rPr/>
              <a:t>:</a:t>
            </a:r>
            <a:r>
              <a:rPr/>
              <a:t> </a:t>
            </a:r>
            <a:r>
              <a:rPr/>
              <a:t>dplyr</a:t>
            </a:r>
          </a:p>
        </p:txBody>
      </p:sp>
      <p:sp>
        <p:nvSpPr>
          <p:cNvPr id="3" name="Content Placeholder 2"/>
          <p:cNvSpPr>
            <a:spLocks noGrp="1"/>
          </p:cNvSpPr>
          <p:nvPr>
            <p:ph idx="1"/>
          </p:nvPr>
        </p:nvSpPr>
        <p:spPr/>
        <p:txBody>
          <a:bodyPr/>
          <a:lstStyle/>
          <a:p>
            <a:pPr lvl="0" marL="0" indent="0">
              <a:buNone/>
            </a:pPr>
            <a:r>
              <a:rPr/>
              <a:t>It is a bit more straightforward to mix increasing and decreasing orderings:</a:t>
            </a:r>
          </a:p>
          <a:p>
            <a:pPr lvl="0" indent="0">
              <a:buNone/>
            </a:pPr>
            <a:r>
              <a:rPr>
                <a:solidFill>
                  <a:srgbClr val="06287E"/>
                </a:solidFill>
                <a:latin typeface="Courier"/>
              </a:rPr>
              <a:t>arrange</a:t>
            </a:r>
            <a:r>
              <a:rPr>
                <a:latin typeface="Courier"/>
              </a:rPr>
              <a:t>(df, mpg, </a:t>
            </a:r>
            <a:r>
              <a:rPr>
                <a:solidFill>
                  <a:srgbClr val="06287E"/>
                </a:solidFill>
                <a:latin typeface="Courier"/>
              </a:rPr>
              <a:t>desc</a:t>
            </a:r>
            <a:r>
              <a:rPr>
                <a:latin typeface="Courier"/>
              </a:rPr>
              <a:t>(hp))</a:t>
            </a:r>
          </a:p>
          <a:p>
            <a:pPr lvl="0" indent="0">
              <a:buNone/>
            </a:pPr>
            <a:r>
              <a:rPr>
                <a:latin typeface="Courier"/>
              </a:rPr>
              <a:t>                     mpg cyl  disp  hp drat    wt  qsec vs am gear carb
Lincoln Continental 10.4   8 460.0 215 3.00 5.424 17.82  0  0    3    4
Cadillac Fleetwood  10.4   8 472.0 205 2.93 5.250 17.98  0  0    3    4
Camaro Z28          13.3   8 350.0 245 3.73 3.840 15.41  0  0    3    4
Duster 360          14.3   8 360.0 245 3.21 3.570 15.84  0  0    3    4
Chrysler Imperial   14.7   8 440.0 230 3.23 5.345 17.42  0  0    3    4
Maserati Bora       15.0   8 301.0 335 3.54 3.570 14.60  0  1    5    8
Merc 450SLC         15.2   8 275.8 180 3.07 3.780 18.00  0  0    3    3
AMC Javelin         15.2   8 304.0 150 3.15 3.435 17.30  0  0    3    2
Dodge Challenger    15.5   8 318.0 150 2.76 3.520 16.87  0  0    3    2
Ford Pantera L      15.8   8 351.0 264 4.22 3.170 14.50  0  1    5    4
Merc 450SE          16.4   8 275.8 180 3.07 4.070 17.40  0  0    3    3
Merc 450SL          17.3   8 275.8 180 3.07 3.730 17.60  0  0    3    3
Merc 280C           17.8   6 167.6 123 3.92 3.440 18.90  1  0    4    4
Valiant             18.1   6 225.0 105 2.76 3.460 20.22  1  0    3    1
Hornet Sportabout   18.7   8 360.0 175 3.15 3.440 17.02  0  0    3    2
Pontiac Firebird    19.2   8 400.0 175 3.08 3.845 17.05  0  0    3    2
Merc 280            19.2   6 167.6 123 3.92 3.440 18.30  1  0    4    4
Ferrari Dino        19.7   6 145.0 175 3.62 2.770 15.50  0  1    5    6
Mazda RX4           21.0   6 160.0 110 3.90 2.620 16.46  0  1    4    4
Mazda RX4 Wag       21.0   6 160.0 110 3.90 2.875 17.02  0  1    4    4
Hornet 4 Drive      21.4   6 258.0 110 3.08 3.215 19.44  1  0    3    1
Volvo 142E          21.4   4 121.0 109 4.11 2.780 18.60  1  1    4    2
Toyota Corona       21.5   4 120.1  97 3.70 2.465 20.01  1  0    3    1
Merc 230            22.8   4 140.8  95 3.92 3.150 22.90  1  0    4    2
Datsun 710          22.8   4 108.0  93 3.85 2.320 18.61  1  1    4    1
Merc 240D           24.4   4 146.7  62 3.69 3.190 20.00  1  0    4    2
Porsche 914-2       26.0   4 120.3  91 4.43 2.140 16.70  0  1    5    2
Fiat X1-9           27.3   4  79.0  66 4.08 1.935 18.90  1  1    4    1
Lotus Europa        30.4   4  95.1 113 3.77 1.513 16.90  1  1    5    2
Honda Civic         30.4   4  75.7  52 4.93 1.615 18.52  1  1    4    2
Fiat 128            32.4   4  78.7  66 4.08 2.200 19.47  1  1    4    1
Toyota Corolla      33.9   4  71.1  65 4.22 1.835 19.90  1  1    4    1
                       newcol
Lincoln Continental 2.4654545
Cadillac Fleetwood  2.3863636
Camaro Z28          1.7454545
Duster 360          1.6227273
Chrysler Imperial   2.4295455
Maserati Bora       1.6227273
Merc 450SLC         1.7181818
AMC Javelin         1.5613636
Dodge Challenger    1.6000000
Ford Pantera L      1.4409091
Merc 450SE          1.8500000
Merc 450SL          1.6954545
Merc 280C           1.5636364
Valiant             1.5727273
Hornet Sportabout   1.5636364
Pontiac Firebird    1.7477273
Merc 280            1.5636364
Ferrari Dino        1.2590909
Mazda RX4           1.1909091
Mazda RX4 Wag       1.3068182
Hornet 4 Drive      1.4613636
Volvo 142E          1.2636364
Toyota Corona       1.1204545
Merc 230            1.4318182
Datsun 710          1.0545455
Merc 240D           1.4500000
Porsche 914-2       0.9727273
Fiat X1-9           0.8795455
Lotus Europa        0.6877273
Honda Civic         0.7340909
Fiat 128            1.0000000
Toyota Corolla      0.8340909</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Transmutation</a:t>
            </a:r>
          </a:p>
        </p:txBody>
      </p:sp>
      <p:sp>
        <p:nvSpPr>
          <p:cNvPr id="3" name="Content Placeholder 2"/>
          <p:cNvSpPr>
            <a:spLocks noGrp="1"/>
          </p:cNvSpPr>
          <p:nvPr>
            <p:ph idx="1"/>
          </p:nvPr>
        </p:nvSpPr>
        <p:spPr/>
        <p:txBody>
          <a:bodyPr/>
          <a:lstStyle/>
          <a:p>
            <a:pPr lvl="0" marL="0" indent="0">
              <a:buNone/>
            </a:pPr>
            <a:r>
              <a:rPr/>
              <a:t>The </a:t>
            </a:r>
            <a:r>
              <a:rPr>
                <a:latin typeface="Courier"/>
              </a:rPr>
              <a:t>transmute</a:t>
            </a:r>
            <a:r>
              <a:rPr/>
              <a:t> function in </a:t>
            </a:r>
            <a:r>
              <a:rPr>
                <a:latin typeface="Courier"/>
              </a:rPr>
              <a:t>dplyr</a:t>
            </a:r>
            <a:r>
              <a:rPr/>
              <a:t> combines both the </a:t>
            </a:r>
            <a:r>
              <a:rPr>
                <a:latin typeface="Courier"/>
              </a:rPr>
              <a:t>mutate</a:t>
            </a:r>
            <a:r>
              <a:rPr/>
              <a:t> and </a:t>
            </a:r>
            <a:r>
              <a:rPr>
                <a:latin typeface="Courier"/>
              </a:rPr>
              <a:t>select</a:t>
            </a:r>
            <a:r>
              <a:rPr/>
              <a:t> functions. One can create new columns and keep the only the columns wanted:</a:t>
            </a:r>
          </a:p>
          <a:p>
            <a:pPr lvl="0" indent="0">
              <a:buNone/>
            </a:pPr>
            <a:r>
              <a:rPr>
                <a:solidFill>
                  <a:srgbClr val="06287E"/>
                </a:solidFill>
                <a:latin typeface="Courier"/>
              </a:rPr>
              <a:t>transmute</a:t>
            </a:r>
            <a:r>
              <a:rPr>
                <a:latin typeface="Courier"/>
              </a:rPr>
              <a:t>(df, </a:t>
            </a:r>
            <a:r>
              <a:rPr>
                <a:solidFill>
                  <a:srgbClr val="7D9029"/>
                </a:solidFill>
                <a:latin typeface="Courier"/>
              </a:rPr>
              <a:t>newcol2 =</a:t>
            </a:r>
            <a:r>
              <a:rPr>
                <a:latin typeface="Courier"/>
              </a:rPr>
              <a:t> wt </a:t>
            </a:r>
            <a:r>
              <a:rPr>
                <a:solidFill>
                  <a:srgbClr val="4070A0"/>
                </a:solidFill>
                <a:latin typeface="Courier"/>
              </a:rPr>
              <a:t>/</a:t>
            </a:r>
            <a:r>
              <a:rPr>
                <a:latin typeface="Courier"/>
              </a:rPr>
              <a:t> </a:t>
            </a:r>
            <a:r>
              <a:rPr>
                <a:solidFill>
                  <a:srgbClr val="40A070"/>
                </a:solidFill>
                <a:latin typeface="Courier"/>
              </a:rPr>
              <a:t>2.2</a:t>
            </a:r>
            <a:r>
              <a:rPr>
                <a:latin typeface="Courier"/>
              </a:rPr>
              <a:t>, mpg, hp)</a:t>
            </a:r>
          </a:p>
          <a:p>
            <a:pPr lvl="0" indent="0">
              <a:buNone/>
            </a:pPr>
            <a:r>
              <a:rPr>
                <a:latin typeface="Courier"/>
              </a:rPr>
              <a:t>                      newcol2  mpg  hp
Mazda RX4           1.1909091 21.0 110
Mazda RX4 Wag       1.3068182 21.0 110
Datsun 710          1.0545455 22.8  93
Hornet 4 Drive      1.4613636 21.4 110
Hornet Sportabout   1.5636364 18.7 175
Valiant             1.5727273 18.1 105
Duster 360          1.6227273 14.3 245
Merc 240D           1.4500000 24.4  62
Merc 230            1.4318182 22.8  95
Merc 280            1.5636364 19.2 123
Merc 280C           1.5636364 17.8 123
Merc 450SE          1.8500000 16.4 180
Merc 450SL          1.6954545 17.3 180
Merc 450SLC         1.7181818 15.2 180
Cadillac Fleetwood  2.3863636 10.4 205
Lincoln Continental 2.4654545 10.4 215
Chrysler Imperial   2.4295455 14.7 230
Fiat 128            1.0000000 32.4  66
Honda Civic         0.7340909 30.4  52
Toyota Corolla      0.8340909 33.9  65
Toyota Corona       1.1204545 21.5  97
Dodge Challenger    1.6000000 15.5 150
AMC Javelin         1.5613636 15.2 150
Camaro Z28          1.7454545 13.3 245
Pontiac Firebird    1.7477273 19.2 175
Fiat X1-9           0.8795455 27.3  66
Porsche 914-2       0.9727273 26.0  91
Lotus Europa        0.6877273 30.4 113
Ford Pantera L      1.4409091 15.8 264
Ferrari Dino        1.2590909 19.7 175
Maserati Bora       1.6227273 15.0 335
Volvo 142E          1.2636364 21.4 109</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Lab</a:t>
            </a:r>
            <a:r>
              <a:rPr/>
              <a:t> </a:t>
            </a:r>
            <a:r>
              <a:rPr/>
              <a:t>Part</a:t>
            </a:r>
            <a:r>
              <a:rPr/>
              <a:t> </a:t>
            </a:r>
            <a:r>
              <a:rPr/>
              <a:t>4</a:t>
            </a:r>
          </a:p>
        </p:txBody>
      </p:sp>
      <p:sp>
        <p:nvSpPr>
          <p:cNvPr id="3" name="Content Placeholder 2"/>
          <p:cNvSpPr>
            <a:spLocks noGrp="1"/>
          </p:cNvSpPr>
          <p:nvPr>
            <p:ph idx="1"/>
          </p:nvPr>
        </p:nvSpPr>
        <p:spPr/>
        <p:txBody>
          <a:bodyPr/>
          <a:lstStyle/>
          <a:p>
            <a:pPr lvl="0" marL="0" indent="0">
              <a:buNone/>
            </a:pPr>
            <a:r>
              <a:rPr>
                <a:hlinkClick r:id="rId2"/>
              </a:rPr>
              <a:t>Website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Subsetting Data in R</dc:title>
  <dc:creator>Introduction to R for Public Health Researchers</dc:creator>
  <cp:keywords/>
  <dcterms:created xsi:type="dcterms:W3CDTF">2026-06-12T16:57:55Z</dcterms:created>
  <dcterms:modified xsi:type="dcterms:W3CDTF">2026-06-12T16:57:55Z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