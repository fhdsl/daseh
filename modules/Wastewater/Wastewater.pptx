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Relationship Id="rId4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dc.gov/nwss/rv/COVID19-statetrend.html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Wastewater</a:t>
            </a:r>
            <a:r>
              <a:rPr/>
              <a:t> </a:t>
            </a:r>
            <a:r>
              <a:rPr/>
              <a:t>Analysis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 this module, we will analyze a wastewater dataset from the CDC to investigate how COVID-19 viral levels change through time.</a:t>
            </a:r>
          </a:p>
          <a:p>
            <a:pPr lvl="0" marL="0" indent="0">
              <a:buNone/>
            </a:pPr>
            <a:r>
              <a:rPr/>
              <a:t>We will learn ways to manipulate dates in R using the library </a:t>
            </a:r>
            <a:r>
              <a:rPr b="1"/>
              <a:t>lubridate</a:t>
            </a:r>
            <a:r>
              <a:rPr/>
              <a:t> (part of the Tidyverse package).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Recap:</a:t>
            </a:r>
            <a:r>
              <a:rPr/>
              <a:t> </a:t>
            </a:r>
            <a:r>
              <a:rPr/>
              <a:t>Dates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Times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There are two most popular R classes used when working with dates and times:</a:t>
            </a:r>
          </a:p>
          <a:p>
            <a:pPr lvl="1"/>
            <a:r>
              <a:rPr>
                <a:latin typeface="Courier"/>
              </a:rPr>
              <a:t>Date</a:t>
            </a:r>
            <a:r>
              <a:rPr/>
              <a:t> class representing a calendar date</a:t>
            </a:r>
          </a:p>
          <a:p>
            <a:pPr lvl="1"/>
            <a:r>
              <a:rPr>
                <a:latin typeface="Courier"/>
              </a:rPr>
              <a:t>POSIXct</a:t>
            </a:r>
            <a:r>
              <a:rPr/>
              <a:t> class representing a calendar date with hours, minutes, seconds</a:t>
            </a:r>
          </a:p>
          <a:p>
            <a:pPr lvl="0" marL="0" indent="0">
              <a:buNone/>
            </a:pPr>
            <a:r>
              <a:rPr/>
              <a:t>A date-time object in R is a point on the timeline stored as the number of seconds since </a:t>
            </a:r>
            <a:r>
              <a:rPr i="1"/>
              <a:t>January 1st, 1970, 00:00 UTC</a:t>
            </a:r>
            <a:r>
              <a:rPr/>
              <a:t>. This date is also called the </a:t>
            </a:r>
            <a:r>
              <a:rPr b="1"/>
              <a:t>Unix epoch</a:t>
            </a:r>
            <a:r>
              <a:rPr/>
              <a:t> and serves as a reference by computer systems to track and operate with time.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>
                <a:latin typeface="Courier"/>
              </a:rPr>
              <a:t>lubridate</a:t>
            </a:r>
            <a:r>
              <a:rPr/>
              <a:t> </a:t>
            </a:r>
            <a:r>
              <a:rPr/>
              <a:t>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lubridate package allows us to work with dates and times in a simple and efficient way.</a:t>
            </a:r>
          </a:p>
          <a:p>
            <a:pPr lvl="0" marL="0" indent="0">
              <a:buNone/>
            </a:pPr>
            <a:r>
              <a:rPr/>
              <a:t>In this module, we will learn to:</a:t>
            </a:r>
          </a:p>
          <a:p>
            <a:pPr lvl="1"/>
            <a:r>
              <a:rPr/>
              <a:t>Input dates in different formats</a:t>
            </a:r>
          </a:p>
          <a:p>
            <a:pPr lvl="1"/>
            <a:r>
              <a:rPr/>
              <a:t>Perform basic operations with dates</a:t>
            </a:r>
          </a:p>
          <a:p>
            <a:pPr lvl="1"/>
            <a:r>
              <a:rPr/>
              <a:t>Extract components of dates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lubridate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Needs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Understand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Date</a:t>
            </a:r>
            <a:r>
              <a:rPr/>
              <a:t> </a:t>
            </a:r>
            <a:r>
              <a:rPr/>
              <a:t>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tell lubridate how to “read” your character object.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YYYY-M-DD</a:t>
            </a:r>
            <a:br/>
            <a:r>
              <a:rPr>
                <a:latin typeface="Courier"/>
              </a:rPr>
              <a:t>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ymd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"2024-9-20"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DD/MM/YYYY</a:t>
            </a:r>
            <a:br/>
            <a:r>
              <a:rPr>
                <a:latin typeface="Courier"/>
              </a:rPr>
              <a:t>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dmy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"20/09/2024"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MM-DD-YY</a:t>
            </a:r>
            <a:br/>
            <a:r>
              <a:rPr>
                <a:latin typeface="Courier"/>
              </a:rPr>
              <a:t>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mdy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"09-20-24"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Extract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Components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Date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lubridate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Year, month, and day of the month (</a:t>
            </a:r>
            <a:r>
              <a:rPr>
                <a:latin typeface="Courier"/>
              </a:rPr>
              <a:t>mday</a:t>
            </a:r>
            <a:r>
              <a:rPr/>
              <a:t>):</a:t>
            </a:r>
          </a:p>
          <a:p>
            <a:pPr lvl="0" indent="0">
              <a:buNone/>
            </a:pPr>
            <a:r>
              <a:rPr>
                <a:latin typeface="Courier"/>
              </a:rPr>
              <a:t>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ymd_hms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"2024-09-20 3:59:01"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2024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month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9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mday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Extract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Components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Date</a:t>
            </a:r>
            <a:r>
              <a:rPr/>
              <a:t> </a:t>
            </a:r>
            <a:r>
              <a:rPr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Day of the year (</a:t>
            </a:r>
            <a:r>
              <a:rPr>
                <a:latin typeface="Courier"/>
              </a:rPr>
              <a:t>yday</a:t>
            </a:r>
            <a:r>
              <a:rPr/>
              <a:t>), day of the week (</a:t>
            </a:r>
            <a:r>
              <a:rPr>
                <a:latin typeface="Courier"/>
              </a:rPr>
              <a:t>wday</a:t>
            </a:r>
            <a:r>
              <a:rPr/>
              <a:t>), hour, minute, and seconds: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yday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264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wday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6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hour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minute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59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second</a:t>
            </a:r>
            <a:r>
              <a:rPr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Perform</a:t>
            </a:r>
            <a:r>
              <a:rPr/>
              <a:t> </a:t>
            </a:r>
            <a:r>
              <a:rPr/>
              <a:t>Operations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ymd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"2024-09-20"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b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ymd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"2025-07-15"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b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a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298 days</a:t>
            </a:r>
          </a:p>
          <a:p>
            <a:pPr lvl="0" indent="0">
              <a:buNone/>
            </a:pPr>
            <a:r>
              <a:rPr>
                <a:latin typeface="Courier"/>
              </a:rPr>
              <a:t>a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ymd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"2024-08-20"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31 days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(a)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1989</a:t>
            </a:r>
          </a:p>
          <a:p>
            <a:pPr lvl="0" indent="0">
              <a:buNone/>
            </a:pPr>
            <a:r>
              <a:rPr>
                <a:latin typeface="Courier"/>
              </a:rPr>
              <a:t>[1] 35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does the package </a:t>
            </a:r>
            <a:r>
              <a:rPr>
                <a:latin typeface="Courier"/>
              </a:rPr>
              <a:t>lubridate</a:t>
            </a:r>
            <a:r>
              <a:rPr/>
              <a:t> allow us to do?</a:t>
            </a:r>
          </a:p>
          <a:p>
            <a:pPr lvl="1"/>
            <a:r>
              <a:rPr/>
              <a:t>Work with dates in R</a:t>
            </a:r>
          </a:p>
          <a:p>
            <a:pPr lvl="1"/>
            <a:r>
              <a:rPr/>
              <a:t>Produce time series data</a:t>
            </a:r>
          </a:p>
          <a:p>
            <a:pPr lvl="1"/>
            <a:r>
              <a:rPr/>
              <a:t>Plot time series data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use data reporting the level of SARS-CoV-2 (the virus responsible for COVID-19) viral particles in wastewater.</a:t>
            </a:r>
          </a:p>
          <a:p>
            <a:pPr lvl="0" marL="0" indent="0">
              <a:buNone/>
            </a:pPr>
            <a:r>
              <a:rPr/>
              <a:t>This data reports the level of SARS-CoV-2 at the state, regional, and national level through time. According to this website, national, regional, and state/territory data represent the median values across all wastewater treatment plants in the respective area.</a:t>
            </a:r>
          </a:p>
          <a:p>
            <a:pPr lvl="0" marL="0" indent="0">
              <a:buNone/>
            </a:pPr>
            <a:r>
              <a:rPr/>
              <a:t>You can read about the data and how it was collected here: </a:t>
            </a:r>
            <a:r>
              <a:rPr>
                <a:hlinkClick r:id="rId2"/>
              </a:rPr>
              <a:t>https://www.cdc.gov/nwss/rv/COVID19-statetrend.html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Download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use the data located here:</a:t>
            </a:r>
          </a:p>
          <a:p>
            <a:pPr lvl="0" indent="0">
              <a:buNone/>
            </a:pPr>
            <a:r>
              <a:rPr>
                <a:latin typeface="Courier"/>
              </a:rPr>
              <a:t>dat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"http://daseh.org/data/wastewater_COVID-19_State_and_Territory_Trends.csv"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Clean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Little</a:t>
            </a:r>
            <a:r>
              <a:rPr/>
              <a:t> </a:t>
            </a:r>
            <a:r>
              <a:rPr/>
              <a:t>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Some column names contain </a:t>
            </a:r>
            <a:r>
              <a:rPr>
                <a:latin typeface="Courier"/>
              </a:rPr>
              <a:t>/</a:t>
            </a:r>
            <a:r>
              <a:rPr/>
              <a:t> and spaces, which are not standard form. We will change them so it is easier to work with them.</a:t>
            </a:r>
          </a:p>
          <a:p>
            <a:pPr lvl="0" marL="0" indent="0">
              <a:buNone/>
            </a:pPr>
            <a:r>
              <a:rPr/>
              <a:t>To do so, we use the function </a:t>
            </a:r>
            <a:r>
              <a:rPr>
                <a:latin typeface="Courier"/>
              </a:rPr>
              <a:t>clean_names</a:t>
            </a:r>
            <a:r>
              <a:rPr/>
              <a:t> in the </a:t>
            </a:r>
            <a:r>
              <a:rPr>
                <a:latin typeface="Courier"/>
              </a:rPr>
              <a:t>janitor</a:t>
            </a:r>
            <a:r>
              <a:rPr/>
              <a:t> package.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(janitor)</a:t>
            </a:r>
            <a:br/>
            <a:r>
              <a:rPr>
                <a:latin typeface="Courier"/>
              </a:rPr>
              <a:t>dat1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clean_names</a:t>
            </a:r>
            <a:r>
              <a:rPr>
                <a:latin typeface="Courier"/>
              </a:rPr>
              <a:t>()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Clean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Little</a:t>
            </a:r>
            <a:r>
              <a:rPr/>
              <a:t> </a:t>
            </a:r>
            <a:r>
              <a:rPr/>
              <a:t>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Look at the column names of the old dataset (called </a:t>
            </a:r>
            <a:r>
              <a:rPr>
                <a:latin typeface="Courier"/>
              </a:rPr>
              <a:t>dat</a:t>
            </a:r>
            <a:r>
              <a:rPr/>
              <a:t>) and the column names of the new dataset (called </a:t>
            </a:r>
            <a:r>
              <a:rPr>
                <a:latin typeface="Courier"/>
              </a:rPr>
              <a:t>dat1</a:t>
            </a:r>
            <a:r>
              <a:rPr/>
              <a:t>). The new names are all in lower case with underscores between words.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colnames</a:t>
            </a:r>
            <a:r>
              <a:rPr>
                <a:latin typeface="Courier"/>
              </a:rPr>
              <a:t>(dat)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"State/Territory"        "Week_Ending_Date"       "Data_Collection_Period"
[4] "State/Territory_WVAL"   "National_WVAL"          "Regional_WVAL"         
[7] "WVAL_Category"          "Coverage"               "date_updated"          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colnames</a:t>
            </a:r>
            <a:r>
              <a:rPr>
                <a:latin typeface="Courier"/>
              </a:rPr>
              <a:t>(dat1)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"state_territory"        "week_ending_date"       "data_collection_period"
[4] "state_territory_wval"   "national_wval"          "regional_wval"         
[7] "wval_category"          "coverage"               "date_updated"          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Mission:</a:t>
            </a:r>
            <a:r>
              <a:rPr/>
              <a:t> </a:t>
            </a:r>
            <a:r>
              <a:rPr/>
              <a:t>Understand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Trends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COVID-19</a:t>
            </a:r>
            <a:r>
              <a:rPr/>
              <a:t> </a:t>
            </a:r>
            <a:r>
              <a:rPr/>
              <a:t>Disease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Time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Different</a:t>
            </a:r>
            <a:r>
              <a:rPr/>
              <a:t> </a:t>
            </a:r>
            <a:r>
              <a:rPr/>
              <a:t>Parts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United</a:t>
            </a:r>
            <a:r>
              <a:rPr/>
              <a:t> </a:t>
            </a:r>
            <a:r>
              <a:rPr/>
              <a:t>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imagine we want to understand how SARS-CoV-2 infections (and hence COVID-19 disease) change through time in three different parts of the US: the East coast, the West coast, and the Midwest. We want to obtain plots that should look like this: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Wastewater/Wastewater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Clean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not be using the columns </a:t>
            </a:r>
            <a:r>
              <a:rPr>
                <a:latin typeface="Courier"/>
              </a:rPr>
              <a:t>Coverage</a:t>
            </a:r>
            <a:r>
              <a:rPr/>
              <a:t> and </a:t>
            </a:r>
            <a:r>
              <a:rPr>
                <a:latin typeface="Courier"/>
              </a:rPr>
              <a:t>date_updated</a:t>
            </a:r>
            <a:r>
              <a:rPr/>
              <a:t>, so we will remove them from our data frame. We will conduct our analysis using all the results available, so we will remove the rows with results at 1 year or every 6 months.</a:t>
            </a:r>
          </a:p>
          <a:p>
            <a:pPr lvl="0" indent="0">
              <a:buNone/>
            </a:pPr>
            <a:r>
              <a:rPr>
                <a:latin typeface="Courier"/>
              </a:rPr>
              <a:t>dat2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dat1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(coverage, date_updated))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(data_collection_period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"All Results"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(dat2)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state_territory week_ending_date data_collection_period state_territory_wval
  &lt;chr&gt;           &lt;date&gt;           &lt;chr&gt;                                 &lt;dbl&gt;
1 Tennessee       2022-04-02       All Results                           0.987
2 Tennessee       2022-02-12       All Results                           2.45 
3 Tennessee       2022-01-01       All Results                           3.37 
4 Tennessee       2022-01-08       All Results                           1.31 
5 Wyoming         2023-09-23       All Results                           3.94 
6 Vermont         2022-05-07       All Results                          13.9  
# ℹ 3 more variables: national_wval &lt;dbl&gt;, regional_wval &lt;dbl&gt;,
#   wval_category &lt;chr&gt;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Select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States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Look</a:t>
            </a:r>
            <a:r>
              <a:rPr/>
              <a:t> </a:t>
            </a:r>
            <a:r>
              <a:rPr/>
              <a:t>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select three states in the US in three different parts (East, Center, West) to look at their wastewater data: South Carolina, Nebraska, and Washington.</a:t>
            </a:r>
          </a:p>
          <a:p>
            <a:pPr lvl="0" indent="0">
              <a:buNone/>
            </a:pPr>
            <a:r>
              <a:rPr>
                <a:latin typeface="Courier"/>
              </a:rPr>
              <a:t>df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 </a:t>
            </a:r>
            <a:r>
              <a:rPr>
                <a:solidFill>
                  <a:srgbClr val="4070A0"/>
                </a:solidFill>
                <a:latin typeface="Courier"/>
              </a:rPr>
              <a:t>%in%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'South Carolina'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'Nebraska'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'Washington'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state_territory week_ending_date data_collection_period state_territory_wval
  &lt;chr&gt;           &lt;date&gt;           &lt;chr&gt;                                 &lt;dbl&gt;
1 South Carolina  2024-02-24       All Results                            8.89
2 South Carolina  2024-03-16       All Results                            1.67
3 South Carolina  2025-01-25       All Results                           10.9 
4 South Carolina  2023-12-30       All Results                            5.99
5 South Carolina  2024-04-06       All Results                            1.53
6 South Carolina  2024-06-01       All Results                            1.91
# ℹ 3 more variables: national_wval &lt;dbl&gt;, regional_wval &lt;dbl&gt;,
#   wval_category &lt;chr&gt;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Look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plot the data using ggplot: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df,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week_ending_date,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state_territory_wval, </a:t>
            </a:r>
            <a:r>
              <a:rPr>
                <a:solidFill>
                  <a:srgbClr val="7D9029"/>
                </a:solidFill>
                <a:latin typeface="Courier"/>
              </a:rPr>
              <a:t>color =</a:t>
            </a:r>
            <a:r>
              <a:rPr>
                <a:latin typeface="Courier"/>
              </a:rPr>
              <a:t> state_territory))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geom_line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linewidth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text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element_text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Wastewater/Wastewater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Split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Plots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See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Patterns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Clearly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df,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week_ending_date,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state_territory_wval, </a:t>
            </a:r>
            <a:r>
              <a:rPr>
                <a:solidFill>
                  <a:srgbClr val="7D9029"/>
                </a:solidFill>
                <a:latin typeface="Courier"/>
              </a:rPr>
              <a:t>color =</a:t>
            </a:r>
            <a:r>
              <a:rPr>
                <a:latin typeface="Courier"/>
              </a:rPr>
              <a:t> state_territory))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geom_line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linewidth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text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element_text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facet_grid</a:t>
            </a:r>
            <a:r>
              <a:rPr>
                <a:latin typeface="Courier"/>
              </a:rPr>
              <a:t>(state_territory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.)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Wastewater/Wastewater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Say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There is a seasonality pattern for each state</a:t>
            </a:r>
          </a:p>
          <a:p>
            <a:pPr lvl="1"/>
            <a:r>
              <a:rPr/>
              <a:t>The peaks of the 2023-2024 winter season occurred at slightly different times in each state</a:t>
            </a:r>
          </a:p>
          <a:p>
            <a:pPr lvl="1"/>
            <a:r>
              <a:rPr/>
              <a:t>Most of the big waves happen in winter time, but all three states had a summer outbreak in 2024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Zoom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Now, we want to investigate the size of the summer outbreak in each state in 2024.</a:t>
            </a:r>
          </a:p>
          <a:p>
            <a:pPr lvl="0" marL="0" indent="0">
              <a:buNone/>
            </a:pPr>
            <a:r>
              <a:rPr/>
              <a:t>We use </a:t>
            </a:r>
            <a:r>
              <a:rPr>
                <a:latin typeface="Courier"/>
              </a:rPr>
              <a:t>lubridate</a:t>
            </a:r>
            <a:r>
              <a:rPr/>
              <a:t> to select only the data from year 2024: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Quick</a:t>
            </a:r>
            <a:r>
              <a:rPr/>
              <a:t> </a:t>
            </a:r>
            <a:r>
              <a:rPr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 you remember how to extract the year from a date called </a:t>
            </a:r>
            <a:r>
              <a:rPr>
                <a:latin typeface="Courier"/>
              </a:rPr>
              <a:t>mydate</a:t>
            </a:r>
            <a:r>
              <a:rPr/>
              <a:t>?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year(mydate)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extract(year, mydate)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mydate.year()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Extract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Year</a:t>
            </a:r>
            <a:r>
              <a:rPr/>
              <a:t> </a:t>
            </a:r>
            <a:r>
              <a:rPr/>
              <a:t>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df2024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(week_ending_date)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2024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(df2024)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state_territory week_ending_date data_collection_period state_territory_wval
  &lt;chr&gt;           &lt;date&gt;           &lt;chr&gt;                                 &lt;dbl&gt;
1 South Carolina  2024-02-24       All Results                            8.89
2 South Carolina  2024-03-16       All Results                            1.67
3 South Carolina  2024-04-06       All Results                            1.53
4 South Carolina  2024-06-01       All Results                            1.91
5 South Carolina  2024-12-28       All Results                            4.01
6 South Carolina  2024-04-27       All Results                            1   
# ℹ 3 more variables: national_wval &lt;dbl&gt;, regional_wval &lt;dbl&gt;,
#   wval_category &lt;chr&gt;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Obtain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Peak</a:t>
            </a:r>
            <a:r>
              <a:rPr/>
              <a:t> </a:t>
            </a:r>
            <a:r>
              <a:rPr/>
              <a:t>Viral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First, we need to group the data by state. We use the function </a:t>
            </a:r>
            <a:r>
              <a:rPr>
                <a:latin typeface="Courier"/>
              </a:rPr>
              <a:t>group_by</a:t>
            </a:r>
            <a:r>
              <a:rPr/>
              <a:t> from </a:t>
            </a:r>
            <a:r>
              <a:rPr>
                <a:latin typeface="Courier"/>
              </a:rPr>
              <a:t>dplyr</a:t>
            </a:r>
            <a:r>
              <a:rPr/>
              <a:t> to do it:</a:t>
            </a:r>
          </a:p>
          <a:p>
            <a:pPr lvl="0" indent="0">
              <a:buNone/>
            </a:pPr>
            <a:r>
              <a:rPr>
                <a:latin typeface="Courier"/>
              </a:rPr>
              <a:t>maxRows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df2024 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(state_territory)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</a:p>
          <a:p>
            <a:pPr lvl="0" marL="0" indent="0">
              <a:buNone/>
            </a:pPr>
            <a:r>
              <a:rPr/>
              <a:t>Then retrieve the rows with the peak level:</a:t>
            </a:r>
          </a:p>
          <a:p>
            <a:pPr lvl="0" indent="0">
              <a:buNone/>
            </a:pPr>
            <a:r>
              <a:rPr>
                <a:latin typeface="Courier"/>
              </a:rPr>
              <a:t>maxRows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df2024 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(state_territory)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???</a:t>
            </a:r>
          </a:p>
          <a:p>
            <a:pPr lvl="0" marL="0" indent="0">
              <a:buNone/>
            </a:pPr>
            <a:r>
              <a:rPr/>
              <a:t>How do we do this?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Quick</a:t>
            </a:r>
            <a:r>
              <a:rPr/>
              <a:t> </a:t>
            </a:r>
            <a:r>
              <a:rPr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 you remember what function to use to obtain the peak level?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max(dat)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min(dat)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unique(dat)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Obtain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Peak</a:t>
            </a:r>
            <a:r>
              <a:rPr/>
              <a:t> </a:t>
            </a:r>
            <a:r>
              <a:rPr/>
              <a:t>Viral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 do this, we need to group the data by state and retrieve the rows with the maximum level:</a:t>
            </a:r>
          </a:p>
          <a:p>
            <a:pPr lvl="0" indent="0">
              <a:buNone/>
            </a:pPr>
            <a:r>
              <a:rPr>
                <a:latin typeface="Courier"/>
              </a:rPr>
              <a:t>maxRows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df2024 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(state_territory)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(state_territory_wval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(state_territory_wval, </a:t>
            </a:r>
            <a:r>
              <a:rPr>
                <a:solidFill>
                  <a:srgbClr val="7D9029"/>
                </a:solidFill>
                <a:latin typeface="Courier"/>
              </a:rPr>
              <a:t>na.rm=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 </a:t>
            </a:r>
            <a:br/>
            <a:r>
              <a:rPr>
                <a:latin typeface="Courier"/>
              </a:rPr>
              <a:t>maxRows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7
# Groups:   state_territory [3]
  state_territory week_ending_date data_collection_period state_territory_wval
  &lt;chr&gt;           &lt;date&gt;           &lt;chr&gt;                                 &lt;dbl&gt;
1 Washington      2024-08-03       All Results                            14.7
2 South Carolina  2024-08-24       All Results                            15.0
3 Nebraska        2024-12-14       All Results                            11.7
# ℹ 3 more variables: national_wval &lt;dbl&gt;, regional_wval &lt;dbl&gt;,
#   wval_category &lt;chr&gt;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Extract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Peak</a:t>
            </a:r>
            <a:r>
              <a:rPr/>
              <a:t> </a:t>
            </a:r>
            <a:r>
              <a:rPr/>
              <a:t>Wastewater</a:t>
            </a:r>
            <a:r>
              <a:rPr/>
              <a:t> </a:t>
            </a:r>
            <a:r>
              <a:rPr/>
              <a:t>Levels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compute the date of the summer peak in each state:</a:t>
            </a:r>
          </a:p>
          <a:p>
            <a:pPr lvl="0" indent="0">
              <a:buNone/>
            </a:pPr>
            <a:r>
              <a:rPr>
                <a:latin typeface="Courier"/>
              </a:rPr>
              <a:t>Nebraska_peak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maxRows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</a:t>
            </a:r>
            <a:r>
              <a:rPr>
                <a:solidFill>
                  <a:srgbClr val="4070A0"/>
                </a:solidFill>
                <a:latin typeface="Courier"/>
              </a:rPr>
              <a:t>=="Nebraska"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(week_ending_date)</a:t>
            </a:r>
            <a:br/>
            <a:r>
              <a:rPr>
                <a:latin typeface="Courier"/>
              </a:rPr>
              <a:t>South_Carolina_peak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maxRows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</a:t>
            </a:r>
            <a:r>
              <a:rPr>
                <a:solidFill>
                  <a:srgbClr val="4070A0"/>
                </a:solidFill>
                <a:latin typeface="Courier"/>
              </a:rPr>
              <a:t>=="South Carolina"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(week_ending_date)</a:t>
            </a:r>
            <a:br/>
            <a:r>
              <a:rPr>
                <a:latin typeface="Courier"/>
              </a:rPr>
              <a:t>Washington_peak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maxRows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</a:t>
            </a:r>
            <a:r>
              <a:rPr>
                <a:solidFill>
                  <a:srgbClr val="4070A0"/>
                </a:solidFill>
                <a:latin typeface="Courier"/>
              </a:rPr>
              <a:t>=="Washington"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(week_ending_date)</a:t>
            </a:r>
            <a:br/>
            <a:r>
              <a:rPr>
                <a:latin typeface="Courier"/>
              </a:rPr>
              <a:t>Nebraska_peak</a:t>
            </a:r>
          </a:p>
          <a:p>
            <a:pPr lvl="0" indent="0">
              <a:buNone/>
            </a:pPr>
            <a:r>
              <a:rPr>
                <a:latin typeface="Courier"/>
              </a:rPr>
              <a:t>[1] "2024-12-14"</a:t>
            </a:r>
          </a:p>
          <a:p>
            <a:pPr lvl="0" indent="0">
              <a:buNone/>
            </a:pPr>
            <a:r>
              <a:rPr>
                <a:latin typeface="Courier"/>
              </a:rPr>
              <a:t>South_Carolina_peak</a:t>
            </a:r>
          </a:p>
          <a:p>
            <a:pPr lvl="0" indent="0">
              <a:buNone/>
            </a:pPr>
            <a:r>
              <a:rPr>
                <a:latin typeface="Courier"/>
              </a:rPr>
              <a:t>[1] "2024-08-24"</a:t>
            </a:r>
          </a:p>
          <a:p>
            <a:pPr lvl="0" indent="0">
              <a:buNone/>
            </a:pPr>
            <a:r>
              <a:rPr>
                <a:latin typeface="Courier"/>
              </a:rPr>
              <a:t>Washington_peak</a:t>
            </a:r>
          </a:p>
          <a:p>
            <a:pPr lvl="0" indent="0">
              <a:buNone/>
            </a:pPr>
            <a:r>
              <a:rPr>
                <a:latin typeface="Courier"/>
              </a:rPr>
              <a:t>[1] "2024-08-03"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Days</a:t>
            </a:r>
            <a:r>
              <a:rPr/>
              <a:t> </a:t>
            </a:r>
            <a:r>
              <a:rPr/>
              <a:t>Between</a:t>
            </a:r>
            <a:r>
              <a:rPr/>
              <a:t> </a:t>
            </a:r>
            <a:r>
              <a:rPr/>
              <a:t>Peaks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Compute the Number of Days Between the Peak Wastewater Levels for Each State During the Summer Wave:</a:t>
            </a:r>
          </a:p>
          <a:p>
            <a:pPr lvl="0" marL="0" indent="0">
              <a:buNone/>
            </a:pPr>
            <a:r>
              <a:rPr/>
              <a:t>Difference between South Carolina and Nebraska:</a:t>
            </a:r>
          </a:p>
          <a:p>
            <a:pPr lvl="0" indent="0">
              <a:buNone/>
            </a:pPr>
            <a:r>
              <a:rPr>
                <a:latin typeface="Courier"/>
              </a:rPr>
              <a:t>Nebraska_peak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South_Carolina_peak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112 days</a:t>
            </a:r>
          </a:p>
          <a:p>
            <a:pPr lvl="0" marL="0" indent="0">
              <a:buNone/>
            </a:pPr>
            <a:r>
              <a:rPr/>
              <a:t>Difference between South Carolina and Washington:</a:t>
            </a:r>
          </a:p>
          <a:p>
            <a:pPr lvl="0" indent="0">
              <a:buNone/>
            </a:pPr>
            <a:r>
              <a:rPr>
                <a:latin typeface="Courier"/>
              </a:rPr>
              <a:t>South_Carolina_peak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Washington_peak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21 days</a:t>
            </a:r>
          </a:p>
          <a:p>
            <a:pPr lvl="0" marL="0" indent="0">
              <a:buNone/>
            </a:pPr>
            <a:r>
              <a:rPr/>
              <a:t>Difference between Nebraska and Washington:</a:t>
            </a:r>
          </a:p>
          <a:p>
            <a:pPr lvl="0" indent="0">
              <a:buNone/>
            </a:pPr>
            <a:r>
              <a:rPr>
                <a:latin typeface="Courier"/>
              </a:rPr>
              <a:t>Nebraska_peak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Washington_peak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133 days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Summer</a:t>
            </a:r>
            <a:r>
              <a:rPr/>
              <a:t> </a:t>
            </a:r>
            <a:r>
              <a:rPr/>
              <a:t>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From this data, we can see that South Carolina and Washington had a summer wave that peaked 21 days apart.</a:t>
            </a:r>
          </a:p>
          <a:p>
            <a:pPr lvl="0" marL="0" indent="0">
              <a:buNone/>
            </a:pPr>
            <a:r>
              <a:rPr/>
              <a:t>However, the maximum calculated for Nebraska corresponds to the winter wave, not to the summer wave.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onfused_emoji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Look</a:t>
            </a:r>
            <a:r>
              <a:rPr/>
              <a:t> </a:t>
            </a:r>
            <a:r>
              <a:rPr/>
              <a:t>Again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Plot,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Time</a:t>
            </a:r>
            <a:r>
              <a:rPr/>
              <a:t> </a:t>
            </a:r>
            <a:r>
              <a:rPr/>
              <a:t>Restricted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Year</a:t>
            </a:r>
            <a:r>
              <a:rPr/>
              <a:t> </a:t>
            </a:r>
            <a:r>
              <a:rPr/>
              <a:t>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df2024,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week_ending_date,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state_territory_wval, </a:t>
            </a:r>
            <a:r>
              <a:rPr>
                <a:solidFill>
                  <a:srgbClr val="7D9029"/>
                </a:solidFill>
                <a:latin typeface="Courier"/>
              </a:rPr>
              <a:t>color =</a:t>
            </a:r>
            <a:r>
              <a:rPr>
                <a:latin typeface="Courier"/>
              </a:rPr>
              <a:t> state_territory))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geom_line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linewidth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text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element_text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facet_grid</a:t>
            </a:r>
            <a:r>
              <a:rPr>
                <a:latin typeface="Courier"/>
              </a:rPr>
              <a:t>(state_territory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Wastewater/Wastewater_files/figure-pptx/unnamed-chunk-2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Summer</a:t>
            </a:r>
            <a:r>
              <a:rPr/>
              <a:t> </a:t>
            </a:r>
            <a:r>
              <a:rPr/>
              <a:t>Wave</a:t>
            </a:r>
            <a:r>
              <a:rPr/>
              <a:t> </a:t>
            </a:r>
            <a:r>
              <a:rPr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 can we obtain the day that the wastewater measurement reached the maximum level for Nebraska in the summer?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Summer</a:t>
            </a:r>
            <a:r>
              <a:rPr/>
              <a:t> </a:t>
            </a:r>
            <a:r>
              <a:rPr/>
              <a:t>Wave</a:t>
            </a:r>
            <a:r>
              <a:rPr/>
              <a:t> </a:t>
            </a:r>
            <a:r>
              <a:rPr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further zoom our attention to the summer months and modify the code to look at the data for the months of June, July, and August 2024:</a:t>
            </a:r>
          </a:p>
          <a:p>
            <a:pPr lvl="0" indent="0">
              <a:buNone/>
            </a:pPr>
            <a:r>
              <a:rPr>
                <a:latin typeface="Courier"/>
              </a:rPr>
              <a:t>maxRows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df2024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month</a:t>
            </a:r>
            <a:r>
              <a:rPr>
                <a:latin typeface="Courier"/>
              </a:rPr>
              <a:t>(week_ending_date) </a:t>
            </a:r>
            <a:r>
              <a:rPr>
                <a:solidFill>
                  <a:srgbClr val="4070A0"/>
                </a:solidFill>
                <a:latin typeface="Courier"/>
              </a:rPr>
              <a:t>%in%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08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(state_territory)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(state_territory_wval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(state_territory_wval, </a:t>
            </a:r>
            <a:r>
              <a:rPr>
                <a:solidFill>
                  <a:srgbClr val="7D9029"/>
                </a:solidFill>
                <a:latin typeface="Courier"/>
              </a:rPr>
              <a:t>na.rm=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                                                      </a:t>
            </a:r>
            <a:br/>
            <a:r>
              <a:rPr>
                <a:latin typeface="Courier"/>
              </a:rPr>
              <a:t>maxRows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7
# Groups:   state_territory [3]
  state_territory week_ending_date data_collection_period state_territory_wval
  &lt;chr&gt;           &lt;date&gt;           &lt;chr&gt;                                 &lt;dbl&gt;
1 Washington      2024-08-03       All Results                           14.7 
2 South Carolina  2024-08-24       All Results                           15.0 
3 Nebraska        2024-08-31       All Results                            7.01
# ℹ 3 more variables: national_wval &lt;dbl&gt;, regional_wval &lt;dbl&gt;,
#   wval_category &lt;chr&gt;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Re-compute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Peaks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Now we can re-compute the number of days between the peak wastewater levels for each state during the summer wave:</a:t>
            </a:r>
          </a:p>
          <a:p>
            <a:pPr lvl="0" indent="0">
              <a:buNone/>
            </a:pPr>
            <a:r>
              <a:rPr>
                <a:latin typeface="Courier"/>
              </a:rPr>
              <a:t>Nebraska_peak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maxRows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</a:t>
            </a:r>
            <a:r>
              <a:rPr>
                <a:solidFill>
                  <a:srgbClr val="4070A0"/>
                </a:solidFill>
                <a:latin typeface="Courier"/>
              </a:rPr>
              <a:t>=="Nebraska"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(week_ending_date)</a:t>
            </a:r>
            <a:br/>
            <a:r>
              <a:rPr>
                <a:latin typeface="Courier"/>
              </a:rPr>
              <a:t>South_Carolina_peak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maxRows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</a:t>
            </a:r>
            <a:r>
              <a:rPr>
                <a:solidFill>
                  <a:srgbClr val="4070A0"/>
                </a:solidFill>
                <a:latin typeface="Courier"/>
              </a:rPr>
              <a:t>=="South Carolina"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(week_ending_date)</a:t>
            </a:r>
            <a:br/>
            <a:r>
              <a:rPr>
                <a:latin typeface="Courier"/>
              </a:rPr>
              <a:t>Washington_peak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maxRows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(state_territory</a:t>
            </a:r>
            <a:r>
              <a:rPr>
                <a:solidFill>
                  <a:srgbClr val="4070A0"/>
                </a:solidFill>
                <a:latin typeface="Courier"/>
              </a:rPr>
              <a:t>=="Washington"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(week_ending_date)</a:t>
            </a:r>
            <a:br/>
            <a:r>
              <a:rPr>
                <a:latin typeface="Courier"/>
              </a:rPr>
              <a:t>Nebraska_peak</a:t>
            </a:r>
          </a:p>
          <a:p>
            <a:pPr lvl="0" indent="0">
              <a:buNone/>
            </a:pPr>
            <a:r>
              <a:rPr>
                <a:latin typeface="Courier"/>
              </a:rPr>
              <a:t>[1] "2024-08-31"</a:t>
            </a:r>
          </a:p>
          <a:p>
            <a:pPr lvl="0" indent="0">
              <a:buNone/>
            </a:pPr>
            <a:r>
              <a:rPr>
                <a:latin typeface="Courier"/>
              </a:rPr>
              <a:t>South_Carolina_peak</a:t>
            </a:r>
          </a:p>
          <a:p>
            <a:pPr lvl="0" indent="0">
              <a:buNone/>
            </a:pPr>
            <a:r>
              <a:rPr>
                <a:latin typeface="Courier"/>
              </a:rPr>
              <a:t>[1] "2024-08-24"</a:t>
            </a:r>
          </a:p>
          <a:p>
            <a:pPr lvl="0" indent="0">
              <a:buNone/>
            </a:pPr>
            <a:r>
              <a:rPr>
                <a:latin typeface="Courier"/>
              </a:rPr>
              <a:t>Washington_peak</a:t>
            </a:r>
          </a:p>
          <a:p>
            <a:pPr lvl="0" indent="0">
              <a:buNone/>
            </a:pPr>
            <a:r>
              <a:rPr>
                <a:latin typeface="Courier"/>
              </a:rPr>
              <a:t>[1] "2024-08-03"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Number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Days</a:t>
            </a:r>
            <a:r>
              <a:rPr/>
              <a:t> </a:t>
            </a:r>
            <a:r>
              <a:rPr/>
              <a:t>Between</a:t>
            </a:r>
            <a:r>
              <a:rPr/>
              <a:t> </a:t>
            </a:r>
            <a:r>
              <a:rPr/>
              <a:t>Summer</a:t>
            </a:r>
            <a:r>
              <a:rPr/>
              <a:t> </a:t>
            </a:r>
            <a:r>
              <a:rPr/>
              <a:t>Peaks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Difference between South Carolina and Nebraska:</a:t>
            </a:r>
          </a:p>
          <a:p>
            <a:pPr lvl="0" indent="0">
              <a:buNone/>
            </a:pPr>
            <a:r>
              <a:rPr>
                <a:latin typeface="Courier"/>
              </a:rPr>
              <a:t>Nebraska_peak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South_Carolina_peak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7 days</a:t>
            </a:r>
          </a:p>
          <a:p>
            <a:pPr lvl="0" marL="0" indent="0">
              <a:buNone/>
            </a:pPr>
            <a:r>
              <a:rPr/>
              <a:t>Difference between South Carolina and Washington:</a:t>
            </a:r>
          </a:p>
          <a:p>
            <a:pPr lvl="0" indent="0">
              <a:buNone/>
            </a:pPr>
            <a:r>
              <a:rPr>
                <a:latin typeface="Courier"/>
              </a:rPr>
              <a:t>South_Carolina_peak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Washington_peak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21 days</a:t>
            </a:r>
          </a:p>
          <a:p>
            <a:pPr lvl="0" marL="0" indent="0">
              <a:buNone/>
            </a:pPr>
            <a:r>
              <a:rPr/>
              <a:t>Difference between Nebraska and Washington:</a:t>
            </a:r>
          </a:p>
          <a:p>
            <a:pPr lvl="0" indent="0">
              <a:buNone/>
            </a:pPr>
            <a:r>
              <a:rPr>
                <a:latin typeface="Courier"/>
              </a:rPr>
              <a:t>Nebraska_peak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Washington_peak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28 days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South Carolina and Washington had a summer wave that peaked 21 days apart</a:t>
            </a:r>
          </a:p>
          <a:p>
            <a:pPr lvl="1"/>
            <a:r>
              <a:rPr/>
              <a:t>Nebraska and Washington had a summer wave that peaked 28 days apart</a:t>
            </a:r>
          </a:p>
          <a:p>
            <a:pPr lvl="1"/>
            <a:r>
              <a:rPr/>
              <a:t>Nebraska and South Carolina had a summer wave that peaked one week apart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Wastewater Analysis Using R</dc:title>
  <dc:creator/>
  <cp:keywords/>
  <dcterms:created xsi:type="dcterms:W3CDTF">2026-05-12T20:11:42Z</dcterms:created>
  <dcterms:modified xsi:type="dcterms:W3CDTF">2026-05-12T20:11:42Z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