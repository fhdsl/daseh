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Relationship Id="rId53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listendata.com/2015/08/how-to-update-r-software.html" TargetMode="External" /><Relationship Id="rId3" Type="http://schemas.openxmlformats.org/officeDocument/2006/relationships/hyperlink" Target="https://bioinformatics.ccr.cancer.gov/docs/rtools/R%20and%20RStudio/2.6_switching_r_version/" TargetMode="External" /><Relationship Id="rId4" Type="http://schemas.openxmlformats.org/officeDocument/2006/relationships/hyperlink" Target="https://r-coder.com/update-r/" TargetMode="External" /><Relationship Id="rId5" Type="http://schemas.openxmlformats.org/officeDocument/2006/relationships/hyperlink" Target="https://www.wikihow.com/Update-R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modules/Basic_R/lab/Basic_R_Lab.html" TargetMode="Externa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upport.posit.co/hc/en-us/articles/200711853-Keyboard-Shortcuts-in-the-RStudio-IDE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Basic_R/lab/Basic_R_Lab.html" TargetMode="External" /><Relationship Id="rId4" Type="http://schemas.openxmlformats.org/officeDocument/2006/relationships/hyperlink" Target="https://daseh.org/modules/cheatsheets/Day-1.pdf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jp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Basic</a:t>
            </a:r>
            <a:r>
              <a:rPr/>
              <a:t> </a:t>
            </a:r>
            <a:r>
              <a:rPr/>
              <a:t>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Working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now, we will be working in the </a:t>
            </a:r>
            <a:r>
              <a:rPr b="1"/>
              <a:t>Console</a:t>
            </a:r>
            <a:r>
              <a:rPr/>
              <a:t> (Pane 1 )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RStudio/images/three_pa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321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FYI:</a:t>
            </a:r>
            <a:r>
              <a:rPr/>
              <a:t> </a:t>
            </a:r>
            <a:r>
              <a:rPr/>
              <a:t>Changing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Check your R version.</a:t>
            </a:r>
          </a:p>
          <a:p>
            <a:pPr lvl="0" marL="0" indent="0">
              <a:buNone/>
            </a:pPr>
            <a:r>
              <a:rPr/>
              <a:t>You might change it later today if you aren’t up to date with us.</a:t>
            </a:r>
          </a:p>
          <a:p>
            <a:pPr lvl="0" marL="0" indent="0">
              <a:buNone/>
            </a:pPr>
            <a:r>
              <a:rPr/>
              <a:t>Go to Tools &gt; Global Options &gt; General. Next to “R version”, click Change, choose the newest version from the list, click Apply, and restart RStudio. (</a:t>
            </a:r>
            <a:r>
              <a:rPr>
                <a:hlinkClick r:id="rId2"/>
              </a:rPr>
              <a:t>1</a:t>
            </a:r>
            <a:r>
              <a:rPr/>
              <a:t>, </a:t>
            </a:r>
            <a:r>
              <a:rPr>
                <a:hlinkClick r:id="rId3"/>
              </a:rPr>
              <a:t>2</a:t>
            </a:r>
            <a:r>
              <a:rPr/>
              <a:t>, </a:t>
            </a:r>
            <a:r>
              <a:rPr>
                <a:hlinkClick r:id="rId4"/>
              </a:rPr>
              <a:t>3</a:t>
            </a:r>
            <a:r>
              <a:rPr/>
              <a:t>, </a:t>
            </a:r>
            <a:r>
              <a:rPr>
                <a:hlinkClick r:id="rId5"/>
              </a:rPr>
              <a:t>4</a:t>
            </a:r>
            <a:r>
              <a:rPr/>
              <a:t>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R console is a full calculator</a:t>
            </a:r>
          </a:p>
          <a:p>
            <a:pPr lvl="1"/>
            <a:r>
              <a:rPr/>
              <a:t>Try to play around with it:</a:t>
            </a:r>
          </a:p>
          <a:p>
            <a:pPr lvl="2"/>
            <a:r>
              <a:rPr/>
              <a:t>+, -, /, * are add, subtract, divide and multiply</a:t>
            </a:r>
          </a:p>
          <a:p>
            <a:pPr lvl="2"/>
            <a:r>
              <a:rPr/>
              <a:t>^ or ** is power</a:t>
            </a:r>
          </a:p>
          <a:p>
            <a:pPr lvl="2"/>
            <a:r>
              <a:rPr/>
              <a:t>parentheses – ( and ) – work with order of operations</a:t>
            </a:r>
          </a:p>
          <a:p>
            <a:pPr lvl="2"/>
            <a:r>
              <a:rPr/>
              <a:t>%% finds the remainder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Try evaluating the following. Type these in the Console and press </a:t>
            </a:r>
            <a:r>
              <a:rPr i="1"/>
              <a:t>return</a:t>
            </a:r>
            <a:r>
              <a:rPr/>
              <a:t> to evaluate:</a:t>
            </a:r>
          </a:p>
          <a:p>
            <a:pPr lvl="1"/>
            <a:r>
              <a:rPr>
                <a:latin typeface="Courier"/>
              </a:rPr>
              <a:t>2 + 2</a:t>
            </a:r>
          </a:p>
          <a:p>
            <a:pPr lvl="1"/>
            <a:r>
              <a:rPr>
                <a:latin typeface="Courier"/>
              </a:rPr>
              <a:t>2 * 3 / 4</a:t>
            </a:r>
          </a:p>
          <a:p>
            <a:pPr lvl="1"/>
            <a:r>
              <a:rPr>
                <a:latin typeface="Courier"/>
              </a:rPr>
              <a:t>2^4 - 1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Basic_R_calculato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49600" y="1193800"/>
            <a:ext cx="2857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Basic</a:t>
            </a:r>
            <a:r>
              <a:rPr/>
              <a:t> </a:t>
            </a:r>
            <a:r>
              <a:rPr/>
              <a:t>terms:</a:t>
            </a:r>
            <a:r>
              <a:rPr/>
              <a:t> </a:t>
            </a:r>
            <a:r>
              <a:rPr/>
              <a:t>“</a:t>
            </a:r>
            <a:r>
              <a:rPr/>
              <a:t>object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Object</a:t>
            </a:r>
            <a:r>
              <a:rPr/>
              <a:t> - an object is something that can be worked with or on in R - can be lots of different things!</a:t>
            </a:r>
          </a:p>
          <a:p>
            <a:pPr lvl="0" marL="0" indent="0">
              <a:buNone/>
            </a:pPr>
            <a:r>
              <a:rPr/>
              <a:t>You can think of objects as </a:t>
            </a:r>
            <a:r>
              <a:rPr b="1"/>
              <a:t>nouns</a:t>
            </a:r>
            <a:r>
              <a:rPr/>
              <a:t> in R.</a:t>
            </a:r>
          </a:p>
          <a:p>
            <a:pPr lvl="1"/>
            <a:r>
              <a:rPr/>
              <a:t>a variable</a:t>
            </a:r>
          </a:p>
          <a:p>
            <a:pPr lvl="1"/>
            <a:r>
              <a:rPr/>
              <a:t>a dataset</a:t>
            </a:r>
          </a:p>
          <a:p>
            <a:pPr lvl="1"/>
            <a:r>
              <a:rPr/>
              <a:t>a plot</a:t>
            </a:r>
          </a:p>
          <a:p>
            <a:pPr lvl="0" marL="0" indent="0">
              <a:buNone/>
            </a:pPr>
            <a:r>
              <a:rPr/>
              <a:t>… many more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Assigning</a:t>
            </a:r>
            <a:r>
              <a:rPr/>
              <a:t> </a:t>
            </a:r>
            <a:r>
              <a:rPr/>
              <a:t>values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You can create objects within the R environment and from files on your computer</a:t>
            </a:r>
          </a:p>
          <a:p>
            <a:pPr lvl="1"/>
            <a:r>
              <a:rPr/>
              <a:t>R uses </a:t>
            </a:r>
            <a:r>
              <a:rPr>
                <a:latin typeface="Courier"/>
              </a:rPr>
              <a:t>&lt;-</a:t>
            </a:r>
            <a:r>
              <a:rPr/>
              <a:t> to create objects (you might also see </a:t>
            </a:r>
            <a:r>
              <a:rPr>
                <a:latin typeface="Courier"/>
              </a:rPr>
              <a:t>=</a:t>
            </a:r>
            <a:r>
              <a:rPr/>
              <a:t> used, but this is not best practice)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</a:p>
          <a:p>
            <a:pPr lvl="0" indent="0">
              <a:buNone/>
            </a:pPr>
            <a:r>
              <a:rPr>
                <a:latin typeface="Courier"/>
              </a:rPr>
              <a:t>[1] 8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  <a:p>
            <a:pPr lvl="0" indent="0">
              <a:buNone/>
            </a:pPr>
            <a:r>
              <a:rPr>
                <a:latin typeface="Courier"/>
              </a:rPr>
              <a:t>[1] 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CHECK: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“</a:t>
            </a:r>
            <a:r>
              <a:rPr/>
              <a:t>object</a:t>
            </a:r>
            <a:r>
              <a:rPr/>
              <a:t>”</a:t>
            </a:r>
            <a:r>
              <a:rPr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A. Something I can touch</a:t>
            </a:r>
          </a:p>
          <a:p>
            <a:pPr lvl="0" marL="0" indent="0">
              <a:buNone/>
            </a:pPr>
            <a:r>
              <a:rPr/>
              <a:t>B. Something that can be worked with in R</a:t>
            </a:r>
          </a:p>
          <a:p>
            <a:pPr lvl="0" marL="0" indent="0">
              <a:buNone/>
            </a:pPr>
            <a:r>
              <a:rPr/>
              <a:t>C. A software version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Objects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Create objects with text using quotation marks:</a:t>
            </a:r>
          </a:p>
          <a:p>
            <a:pPr lvl="0" indent="0">
              <a:buNone/>
            </a:pPr>
            <a:r>
              <a:rPr>
                <a:latin typeface="Courier"/>
              </a:rPr>
              <a:t>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world!"</a:t>
            </a:r>
            <a:br/>
            <a:r>
              <a:rPr>
                <a:latin typeface="Courier"/>
              </a:rPr>
              <a:t>y</a:t>
            </a:r>
          </a:p>
          <a:p>
            <a:pPr lvl="0" indent="0">
              <a:buNone/>
            </a:pPr>
            <a:r>
              <a:rPr>
                <a:latin typeface="Courier"/>
              </a:rPr>
              <a:t>[1] "hello world!"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numeric</a:t>
            </a:r>
            <a:r>
              <a:rPr/>
              <a:t> </a:t>
            </a:r>
            <a:r>
              <a:rPr/>
              <a:t>vs. character</a:t>
            </a:r>
            <a:r>
              <a:rPr/>
              <a:t> </a:t>
            </a:r>
            <a:r>
              <a:rPr/>
              <a:t>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talk in-depth about classes. For now:</a:t>
            </a:r>
          </a:p>
          <a:p>
            <a:pPr lvl="0" marL="0" indent="0">
              <a:buNone/>
            </a:pPr>
            <a:r>
              <a:rPr b="1"/>
              <a:t>numeric</a:t>
            </a:r>
          </a:p>
          <a:p>
            <a:pPr lvl="1"/>
            <a:r>
              <a:rPr/>
              <a:t>Numbers</a:t>
            </a:r>
          </a:p>
          <a:p>
            <a:pPr lvl="1"/>
            <a:r>
              <a:rPr/>
              <a:t>No quotation marks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  <a:p>
            <a:pPr lvl="0" marL="0" indent="0">
              <a:buNone/>
            </a:pPr>
            <a:r>
              <a:rPr b="1"/>
              <a:t>character</a:t>
            </a:r>
          </a:p>
          <a:p>
            <a:pPr lvl="1"/>
            <a:r>
              <a:rPr/>
              <a:t>Text with quotation marks</a:t>
            </a:r>
          </a:p>
          <a:p>
            <a:pPr lvl="1"/>
            <a:r>
              <a:rPr/>
              <a:t>Green lettering (default)</a:t>
            </a:r>
          </a:p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"hello!"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Common</a:t>
            </a:r>
            <a:r>
              <a:rPr/>
              <a:t> </a:t>
            </a:r>
            <a:r>
              <a:rPr/>
              <a:t>issues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debu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5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TROUBLESHOOTING: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case</a:t>
            </a:r>
            <a:r>
              <a:rPr/>
              <a:t> </a:t>
            </a:r>
            <a:r>
              <a:rPr/>
              <a:t>sensitive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Object names are case-sensitive, i.e.,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x</a:t>
            </a:r>
            <a:r>
              <a:rPr/>
              <a:t> are different</a:t>
            </a:r>
          </a:p>
          <a:p>
            <a:pPr lvl="0" indent="0">
              <a:buNone/>
            </a:pPr>
            <a:r>
              <a:rPr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Error: object 'X' not found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TROUBLESHOOTING: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commas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big</a:t>
            </a:r>
            <a:r>
              <a:rPr/>
              <a:t> </a:t>
            </a:r>
            <a:r>
              <a:rPr/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Commas separate objects in R, so they shouldn’t be used when entering big numbers.</a:t>
            </a:r>
          </a:p>
          <a:p>
            <a:pPr lvl="0" indent="0">
              <a:buNone/>
            </a:pPr>
            <a:r>
              <a:rPr>
                <a:latin typeface="Courier"/>
              </a:rPr>
              <a:t>z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000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parse(text = input): &lt;text&gt;:1:7: unexpected ','
1: z &lt;- 3,
          ^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TROUBLESHOOTING:</a:t>
            </a:r>
            <a:r>
              <a:rPr/>
              <a:t> </a:t>
            </a:r>
            <a:r>
              <a:rPr/>
              <a:t>Complete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parse(text = input): &lt;text&gt;:2:0: unexpected end of input
1: 10 /
   ^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+</a:t>
            </a:r>
            <a:r>
              <a:rPr/>
              <a:t> indicates an incomplete statement. Hit “esc” to clear and bring back the </a:t>
            </a:r>
            <a:r>
              <a:rPr>
                <a:latin typeface="Courier"/>
              </a:rPr>
              <a:t>&gt;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incomplete_state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11200" y="1193800"/>
            <a:ext cx="7708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TROUBLESHOOTING:</a:t>
            </a:r>
            <a:r>
              <a:rPr/>
              <a:t> </a:t>
            </a:r>
            <a:r>
              <a:rPr/>
              <a:t>Zoom</a:t>
            </a:r>
            <a:r>
              <a:rPr/>
              <a:t> </a:t>
            </a:r>
            <a:r>
              <a:rPr/>
              <a:t>Quotation</a:t>
            </a:r>
            <a:r>
              <a:rPr/>
              <a:t> </a:t>
            </a:r>
            <a:r>
              <a:rPr/>
              <a:t>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“hello world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latin typeface="Courier"/>
              </a:rPr>
              <a:t>”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parse(text = input): &lt;text&gt;:1:6: unexpected input
1: y &lt;- “
         ^</a:t>
            </a:r>
          </a:p>
          <a:p>
            <a:pPr lvl="0" marL="0" indent="0">
              <a:buNone/>
            </a:pPr>
            <a:r>
              <a:rPr/>
              <a:t>Retype the quotation marks!</a:t>
            </a:r>
          </a:p>
          <a:p>
            <a:pPr lvl="0" indent="0">
              <a:buNone/>
            </a:pPr>
            <a:r>
              <a:rPr>
                <a:latin typeface="Courier"/>
              </a:rPr>
              <a:t>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world!"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Simple</a:t>
            </a:r>
            <a:r>
              <a:rPr/>
              <a:t> </a:t>
            </a:r>
            <a:r>
              <a:rPr/>
              <a:t>object</a:t>
            </a:r>
            <a:r>
              <a:rPr/>
              <a:t> </a:t>
            </a:r>
            <a:r>
              <a:rPr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Try assigning your full name to an R object called </a:t>
            </a:r>
            <a:r>
              <a:rPr>
                <a:latin typeface="Courier"/>
              </a:rPr>
              <a:t>name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Simple</a:t>
            </a:r>
            <a:r>
              <a:rPr/>
              <a:t> </a:t>
            </a:r>
            <a:r>
              <a:rPr/>
              <a:t>object</a:t>
            </a:r>
            <a:r>
              <a:rPr/>
              <a:t> </a:t>
            </a:r>
            <a:r>
              <a:rPr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Try assigning your full name to an R object called </a:t>
            </a:r>
            <a:r>
              <a:rPr>
                <a:latin typeface="Courier"/>
              </a:rPr>
              <a:t>name</a:t>
            </a:r>
          </a:p>
          <a:p>
            <a:pPr lvl="0" indent="0">
              <a:buNone/>
            </a:pPr>
            <a:r>
              <a:rPr>
                <a:latin typeface="Courier"/>
              </a:rPr>
              <a:t>name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"Ava Hoffman"</a:t>
            </a:r>
            <a:br/>
            <a:r>
              <a:rPr>
                <a:latin typeface="Courier"/>
              </a:rPr>
              <a:t>name</a:t>
            </a:r>
          </a:p>
          <a:p>
            <a:pPr lvl="0" indent="0">
              <a:buNone/>
            </a:pPr>
            <a:r>
              <a:rPr>
                <a:latin typeface="Courier"/>
              </a:rPr>
              <a:t>[1] "Ava Hoffman"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Combining</a:t>
            </a:r>
            <a:r>
              <a:rPr/>
              <a:t> </a:t>
            </a:r>
            <a:r>
              <a:rPr/>
              <a:t>objects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 </a:t>
            </a:r>
            <a:r>
              <a:rPr>
                <a:latin typeface="Courier"/>
              </a:rPr>
              <a:t>c()</a:t>
            </a:r>
            <a:r>
              <a:rPr/>
              <a:t> to collect/combine single R objects into a vector of R objects. It is mostly used for creating vectors of numbers and character strings.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[1] 1 4 6 8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Combining</a:t>
            </a:r>
            <a:r>
              <a:rPr/>
              <a:t> </a:t>
            </a:r>
            <a:r>
              <a:rPr/>
              <a:t>objects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Try assigning your first and last name as 2 separate character strings into a vector called </a:t>
            </a:r>
            <a:r>
              <a:rPr>
                <a:latin typeface="Courier"/>
              </a:rPr>
              <a:t>name2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Combining</a:t>
            </a:r>
            <a:r>
              <a:rPr/>
              <a:t> </a:t>
            </a:r>
            <a:r>
              <a:rPr/>
              <a:t>objects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Try assigning your first and last name as 2 separate character strings into a vector called </a:t>
            </a:r>
            <a:r>
              <a:rPr>
                <a:latin typeface="Courier"/>
              </a:rPr>
              <a:t>name2</a:t>
            </a:r>
          </a:p>
          <a:p>
            <a:pPr lvl="0" indent="0">
              <a:buNone/>
            </a:pPr>
            <a:r>
              <a:rPr>
                <a:latin typeface="Courier"/>
              </a:rPr>
              <a:t>name2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"Ava"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"Hoffman"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name2</a:t>
            </a:r>
          </a:p>
          <a:p>
            <a:pPr lvl="0" indent="0">
              <a:buNone/>
            </a:pPr>
            <a:r>
              <a:rPr>
                <a:latin typeface="Courier"/>
              </a:rPr>
              <a:t>[1] "Ava"     "Hoffman"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Basic</a:t>
            </a:r>
            <a:r>
              <a:rPr/>
              <a:t> </a:t>
            </a:r>
            <a:r>
              <a:rPr/>
              <a:t>terms:</a:t>
            </a:r>
            <a:r>
              <a:rPr/>
              <a:t> </a:t>
            </a:r>
            <a:r>
              <a:rPr/>
              <a:t>“</a:t>
            </a:r>
            <a:r>
              <a:rPr/>
              <a:t>function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Function</a:t>
            </a:r>
            <a:r>
              <a:rPr/>
              <a:t> - a function is a piece of code that allows you to do something in R. You can write your own, use functions that come directly from installing R, or use functions from additional packages.</a:t>
            </a:r>
          </a:p>
          <a:p>
            <a:pPr lvl="0" marL="0" indent="0">
              <a:buNone/>
            </a:pPr>
            <a:r>
              <a:rPr/>
              <a:t>You can think of a function as </a:t>
            </a:r>
            <a:r>
              <a:rPr b="1"/>
              <a:t>verb</a:t>
            </a:r>
            <a:r>
              <a:rPr/>
              <a:t> in R.</a:t>
            </a:r>
          </a:p>
          <a:p>
            <a:pPr lvl="0" marL="0" indent="0">
              <a:buNone/>
            </a:pPr>
            <a:r>
              <a:rPr/>
              <a:t>A function might help you add numbers together, create a plot, or organize your data.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Using</a:t>
            </a:r>
            <a:r>
              <a:rPr/>
              <a:t> </a:t>
            </a:r>
            <a:r>
              <a:rPr/>
              <a:t>functions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our</a:t>
            </a:r>
            <a:r>
              <a:rPr/>
              <a:t> </a:t>
            </a:r>
            <a:r>
              <a:rPr/>
              <a:t>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class()</a:t>
            </a:r>
            <a:r>
              <a:rPr/>
              <a:t> tells us what kind of values the object contains (numeric, character, etc)</a:t>
            </a:r>
          </a:p>
          <a:p>
            <a:pPr lvl="1"/>
            <a:r>
              <a:rPr>
                <a:latin typeface="Courier"/>
              </a:rPr>
              <a:t>length()</a:t>
            </a:r>
            <a:r>
              <a:rPr/>
              <a:t> tells us how many elements.</a:t>
            </a:r>
          </a:p>
          <a:p>
            <a:pPr lvl="0" indent="0">
              <a:buNone/>
            </a:pPr>
            <a:r>
              <a:rPr>
                <a:latin typeface="Courier"/>
              </a:rPr>
              <a:t>name</a:t>
            </a:r>
          </a:p>
          <a:p>
            <a:pPr lvl="0" indent="0">
              <a:buNone/>
            </a:pPr>
            <a:r>
              <a:rPr>
                <a:latin typeface="Courier"/>
              </a:rPr>
              <a:t>[1] "Ava Hoffman"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(name)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"character"</a:t>
            </a:r>
          </a:p>
          <a:p>
            <a:pPr lvl="0" indent="0">
              <a:buNone/>
            </a:pPr>
            <a:r>
              <a:rPr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[1] 1 4 6 8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4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CHECK: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“</a:t>
            </a:r>
            <a:r>
              <a:rPr/>
              <a:t>function</a:t>
            </a:r>
            <a:r>
              <a:rPr/>
              <a:t>”</a:t>
            </a:r>
            <a:r>
              <a:rPr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A. a number or text</a:t>
            </a:r>
          </a:p>
          <a:p>
            <a:pPr lvl="0" marL="0" indent="0">
              <a:buNone/>
            </a:pPr>
            <a:r>
              <a:rPr/>
              <a:t>B. a button inside RStudio</a:t>
            </a:r>
          </a:p>
          <a:p>
            <a:pPr lvl="0" marL="0" indent="0">
              <a:buNone/>
            </a:pPr>
            <a:r>
              <a:rPr/>
              <a:t>C. code that does something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Combining</a:t>
            </a:r>
            <a:r>
              <a:rPr/>
              <a:t> </a:t>
            </a:r>
            <a:r>
              <a:rPr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It’s fine to combine vectors, but all values will end up with the same class!</a:t>
            </a:r>
          </a:p>
          <a:p>
            <a:pPr lvl="0" indent="0">
              <a:buNone/>
            </a:pPr>
            <a:r>
              <a:rPr>
                <a:latin typeface="Courier"/>
              </a:rPr>
              <a:t>vect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(name, x)</a:t>
            </a:r>
            <a:br/>
            <a:r>
              <a:rPr>
                <a:latin typeface="Courier"/>
              </a:rPr>
              <a:t>vect</a:t>
            </a:r>
          </a:p>
          <a:p>
            <a:pPr lvl="0" indent="0">
              <a:buNone/>
            </a:pPr>
            <a:r>
              <a:rPr>
                <a:latin typeface="Courier"/>
              </a:rPr>
              <a:t>[1] "Ava Hoffman" "1"           "4"           "6"           "8"          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(vect)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"character"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Practicing</a:t>
            </a:r>
            <a:r>
              <a:rPr/>
              <a:t> </a:t>
            </a: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do you expect for the length of the </a:t>
            </a:r>
            <a:r>
              <a:rPr>
                <a:latin typeface="Courier"/>
              </a:rPr>
              <a:t>name2</a:t>
            </a:r>
            <a:r>
              <a:rPr/>
              <a:t> object?</a:t>
            </a:r>
          </a:p>
          <a:p>
            <a:pPr lvl="0" marL="0" indent="0">
              <a:buNone/>
            </a:pPr>
            <a:r>
              <a:rPr/>
              <a:t>What is the class?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Practicing</a:t>
            </a:r>
            <a:r>
              <a:rPr/>
              <a:t> </a:t>
            </a: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do you expect for the length of the </a:t>
            </a:r>
            <a:r>
              <a:rPr>
                <a:latin typeface="Courier"/>
              </a:rPr>
              <a:t>name2</a:t>
            </a:r>
            <a:r>
              <a:rPr/>
              <a:t> object?</a:t>
            </a:r>
          </a:p>
          <a:p>
            <a:pPr lvl="0" marL="0" indent="0">
              <a:buNone/>
            </a:pPr>
            <a:r>
              <a:rPr/>
              <a:t>What is the class?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(name2)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(name2)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"character"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Commenting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#</a:t>
            </a:r>
            <a:r>
              <a:rPr/>
              <a:t> creates a comment in R code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 + 2 &lt;- this does not get run</a:t>
            </a:r>
            <a:br/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# &lt;- this does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Assign values to objects with </a:t>
            </a:r>
            <a:r>
              <a:rPr>
                <a:latin typeface="Courier"/>
              </a:rPr>
              <a:t>&lt;-</a:t>
            </a:r>
            <a:r>
              <a:rPr/>
              <a:t> (new name on left side)</a:t>
            </a:r>
          </a:p>
          <a:p>
            <a:pPr lvl="1"/>
            <a:r>
              <a:rPr/>
              <a:t>Use the </a:t>
            </a:r>
            <a:r>
              <a:rPr>
                <a:latin typeface="Courier"/>
              </a:rPr>
              <a:t>c()</a:t>
            </a:r>
            <a:r>
              <a:rPr/>
              <a:t> function to combine text/numbers/etc. into a vector</a:t>
            </a:r>
          </a:p>
          <a:p>
            <a:pPr lvl="1"/>
            <a:r>
              <a:rPr>
                <a:latin typeface="Courier"/>
              </a:rPr>
              <a:t>class()</a:t>
            </a:r>
            <a:r>
              <a:rPr/>
              <a:t> tells you the class (kind) of object</a:t>
            </a:r>
          </a:p>
          <a:p>
            <a:pPr lvl="1"/>
            <a:r>
              <a:rPr/>
              <a:t>Use the </a:t>
            </a:r>
            <a:r>
              <a:rPr>
                <a:latin typeface="Courier"/>
              </a:rPr>
              <a:t>length()</a:t>
            </a:r>
            <a:r>
              <a:rPr/>
              <a:t> function to determine number of elements</a:t>
            </a:r>
          </a:p>
          <a:p>
            <a:pPr lvl="1"/>
            <a:r>
              <a:rPr>
                <a:latin typeface="Courier"/>
              </a:rPr>
              <a:t>#</a:t>
            </a:r>
            <a:r>
              <a:rPr/>
              <a:t> for comments or to deactivate a line of code</a:t>
            </a:r>
          </a:p>
          <a:p>
            <a:pPr lvl="0" marL="0" indent="0">
              <a:buNone/>
            </a:pPr>
            <a:r>
              <a:rPr/>
              <a:t>Just open up the file to see the questions for lab. More about the file type soon!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2"/>
              </a:rPr>
              <a:t>Lab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Math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vector</a:t>
            </a:r>
            <a:r>
              <a:rPr/>
              <a:t> </a:t>
            </a: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can perform math with vectors.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  <a:p>
            <a:pPr lvl="0" indent="0">
              <a:buNone/>
            </a:pPr>
            <a:r>
              <a:rPr>
                <a:latin typeface="Courier"/>
              </a:rPr>
              <a:t>[1]  3  6  8 10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</a:p>
          <a:p>
            <a:pPr lvl="0" indent="0">
              <a:buNone/>
            </a:pPr>
            <a:r>
              <a:rPr>
                <a:latin typeface="Courier"/>
              </a:rPr>
              <a:t>[1]  3 12 18 24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 2  6  9 12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Math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vector</a:t>
            </a:r>
            <a:r>
              <a:rPr/>
              <a:t> </a:t>
            </a: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But math can only be performed on numbers.</a:t>
            </a:r>
          </a:p>
          <a:p>
            <a:pPr lvl="0" indent="0">
              <a:buNone/>
            </a:pPr>
            <a:r>
              <a:rPr>
                <a:latin typeface="Courier"/>
              </a:rPr>
              <a:t>name2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name2 + 4: non-numeric argument to binary operator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Reassigning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Save these modified vectors as a new vector called </a:t>
            </a:r>
            <a:r>
              <a:rPr>
                <a:latin typeface="Courier"/>
              </a:rPr>
              <a:t>y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y</a:t>
            </a:r>
          </a:p>
          <a:p>
            <a:pPr lvl="0" indent="0">
              <a:buNone/>
            </a:pPr>
            <a:r>
              <a:rPr>
                <a:latin typeface="Courier"/>
              </a:rPr>
              <a:t>[1]  2  6  9 12</a:t>
            </a:r>
          </a:p>
          <a:p>
            <a:pPr lvl="0" marL="0" indent="0">
              <a:buNone/>
            </a:pPr>
            <a:r>
              <a:rPr/>
              <a:t>Note that the R object </a:t>
            </a:r>
            <a:r>
              <a:rPr>
                <a:latin typeface="Courier"/>
              </a:rPr>
              <a:t>y</a:t>
            </a:r>
            <a:r>
              <a:rPr/>
              <a:t> is no longer “hello world!” - It has been overwritten by assigning new data to the same name.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Reassigning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Reassigning allows you to make changes “in place”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results not stored: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x remains unchanged, results stored in `y`:</a:t>
            </a:r>
            <a:br/>
            <a:r>
              <a:rPr>
                <a:latin typeface="Courier"/>
              </a:rPr>
              <a:t>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replace `x` in place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can get more attributes than just class. The function </a:t>
            </a:r>
            <a:r>
              <a:rPr>
                <a:latin typeface="Courier"/>
              </a:rPr>
              <a:t>str()</a:t>
            </a:r>
            <a:r>
              <a:rPr/>
              <a:t> gives you the structure of the object.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 num [1:4] 1 4 6 8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(y)</a:t>
            </a:r>
          </a:p>
          <a:p>
            <a:pPr lvl="0" indent="0">
              <a:buNone/>
            </a:pPr>
            <a:r>
              <a:rPr>
                <a:latin typeface="Courier"/>
              </a:rPr>
              <a:t> num [1:4] 2 6 9 12</a:t>
            </a:r>
          </a:p>
          <a:p>
            <a:pPr lvl="0" marL="0" indent="0">
              <a:buNone/>
            </a:pPr>
            <a:r>
              <a:rPr/>
              <a:t>This tells you that </a:t>
            </a:r>
            <a:r>
              <a:rPr>
                <a:latin typeface="Courier"/>
              </a:rPr>
              <a:t>x</a:t>
            </a:r>
            <a:r>
              <a:rPr/>
              <a:t> is a numeric vector and tells you the length.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Basic</a:t>
            </a:r>
            <a:r>
              <a:rPr/>
              <a:t> </a:t>
            </a:r>
            <a:r>
              <a:rPr/>
              <a:t>terms:</a:t>
            </a:r>
            <a:r>
              <a:rPr/>
              <a:t> </a:t>
            </a:r>
            <a:r>
              <a:rPr/>
              <a:t>“</a:t>
            </a:r>
            <a:r>
              <a:rPr/>
              <a:t>argument</a:t>
            </a:r>
            <a:r>
              <a:rPr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Argument</a:t>
            </a:r>
            <a:r>
              <a:rPr/>
              <a:t> - what you pass to a function</a:t>
            </a:r>
          </a:p>
          <a:p>
            <a:pPr lvl="1"/>
            <a:r>
              <a:rPr/>
              <a:t>can be data like the number 1 or 20234</a:t>
            </a:r>
          </a:p>
          <a:p>
            <a:pPr lvl="1"/>
            <a:r>
              <a:rPr/>
              <a:t>can be options about how you want the function to work</a:t>
            </a:r>
          </a:p>
          <a:p>
            <a:pPr lvl="1"/>
            <a:r>
              <a:rPr/>
              <a:t>separated by commas</a:t>
            </a:r>
          </a:p>
          <a:p>
            <a:pPr lvl="0" marL="0" indent="0">
              <a:buNone/>
            </a:pPr>
            <a:r>
              <a:rPr/>
              <a:t>Like an </a:t>
            </a:r>
            <a:r>
              <a:rPr b="1"/>
              <a:t>adverb</a:t>
            </a:r>
            <a:r>
              <a:rPr/>
              <a:t>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Create</a:t>
            </a:r>
            <a:r>
              <a:rPr/>
              <a:t> </a:t>
            </a:r>
            <a:r>
              <a:rPr/>
              <a:t>vectors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seq()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numeric: </a:t>
            </a:r>
            <a:r>
              <a:rPr>
                <a:latin typeface="Courier"/>
              </a:rPr>
              <a:t>seq()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from</a:t>
            </a:r>
            <a:r>
              <a:rPr/>
              <a:t> argument says what number to start on.</a:t>
            </a:r>
            <a:br/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to</a:t>
            </a:r>
            <a:r>
              <a:rPr/>
              <a:t> argument says what number to not go above.</a:t>
            </a:r>
            <a:br/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by</a:t>
            </a:r>
            <a:r>
              <a:rPr/>
              <a:t> argument says how much to increment by.</a:t>
            </a:r>
            <a:br/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length.out</a:t>
            </a:r>
            <a:r>
              <a:rPr/>
              <a:t> argument says how long the vector should be overall.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from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to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by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0.0 0.2 0.4 0.6 0.8 1.0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from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to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by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[1]  0  1  2  3  4  5  6  7  8  9 10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from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to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length.out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[1] -5.0000000 -3.8888889 -2.7777778 -1.6666667 -0.5555556  0.5555556
 [7]  1.6666667  2.7777778  3.8888889  5.0000000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Useful</a:t>
            </a:r>
            <a:r>
              <a:rPr/>
              <a:t> </a:t>
            </a:r>
            <a:r>
              <a:rPr/>
              <a:t>functions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create</a:t>
            </a:r>
            <a:r>
              <a:rPr/>
              <a:t> </a:t>
            </a:r>
            <a:r>
              <a:rPr/>
              <a:t>vectors</a:t>
            </a:r>
            <a:r>
              <a:rPr/>
              <a:t> </a:t>
            </a:r>
            <a:r>
              <a:rPr>
                <a:latin typeface="Courier"/>
              </a:rPr>
              <a:t>rep()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character: </a:t>
            </a:r>
            <a:r>
              <a:rPr>
                <a:latin typeface="Courier"/>
              </a:rPr>
              <a:t>rep()</a:t>
            </a:r>
            <a:r>
              <a:rPr/>
              <a:t> can create very long vectors. Works for creating character and numeric vectors.</a:t>
            </a:r>
          </a:p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each</a:t>
            </a:r>
            <a:r>
              <a:rPr/>
              <a:t> argument specifies how many of each item you want repeated. The </a:t>
            </a:r>
            <a:r>
              <a:rPr>
                <a:latin typeface="Courier"/>
              </a:rPr>
              <a:t>times</a:t>
            </a:r>
            <a:r>
              <a:rPr/>
              <a:t> argument specifies how many times you want the vector repeated.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rep(WHAT_TO_REPEAT, arguments)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rep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"black"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"white"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7D9029"/>
                </a:solidFill>
                <a:latin typeface="Courier"/>
              </a:rPr>
              <a:t>each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"black" "black" "black" "white" "white" "white"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rep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"black"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"white"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7D9029"/>
                </a:solidFill>
                <a:latin typeface="Courier"/>
              </a:rPr>
              <a:t>times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"black" "white" "black" "white" "black" "white"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rep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"black"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"white"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7D9029"/>
                </a:solidFill>
                <a:latin typeface="Courier"/>
              </a:rPr>
              <a:t>each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times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"black" "black" "white" "white" "black" "black" "white" "white"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Creating</a:t>
            </a:r>
            <a:r>
              <a:rPr/>
              <a:t> </a:t>
            </a:r>
            <a:r>
              <a:rPr/>
              <a:t>numeric</a:t>
            </a:r>
            <a:r>
              <a:rPr/>
              <a:t> </a:t>
            </a:r>
            <a:r>
              <a:rPr/>
              <a:t>vectors</a:t>
            </a:r>
            <a:r>
              <a:rPr/>
              <a:t> </a:t>
            </a:r>
            <a:r>
              <a:rPr>
                <a:latin typeface="Courier"/>
              </a:rPr>
              <a:t>sample()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can use the </a:t>
            </a:r>
            <a:r>
              <a:rPr>
                <a:latin typeface="Courier"/>
              </a:rPr>
              <a:t>sample()</a:t>
            </a:r>
            <a:r>
              <a:rPr/>
              <a:t> function to make a random sequence. The </a:t>
            </a:r>
            <a:r>
              <a:rPr>
                <a:latin typeface="Courier"/>
              </a:rPr>
              <a:t>x</a:t>
            </a:r>
            <a:r>
              <a:rPr/>
              <a:t> argument specifies what you are sampling from. The </a:t>
            </a:r>
            <a:r>
              <a:rPr>
                <a:latin typeface="Courier"/>
              </a:rPr>
              <a:t>size</a:t>
            </a:r>
            <a:r>
              <a:rPr/>
              <a:t> argument specifies how many values there should be. The </a:t>
            </a:r>
            <a:r>
              <a:rPr>
                <a:latin typeface="Courier"/>
              </a:rPr>
              <a:t>replace</a:t>
            </a:r>
            <a:r>
              <a:rPr/>
              <a:t> argument specifies if values should be replaced or not.</a:t>
            </a:r>
          </a:p>
          <a:p>
            <a:pPr lvl="0" indent="0">
              <a:buNone/>
            </a:pPr>
            <a:r>
              <a:rPr>
                <a:latin typeface="Courier"/>
              </a:rPr>
              <a:t>seq_hun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seq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from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to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by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seq_hun</a:t>
            </a:r>
          </a:p>
          <a:p>
            <a:pPr lvl="0" indent="0">
              <a:buNone/>
            </a:pPr>
            <a:r>
              <a:rPr>
                <a:latin typeface="Courier"/>
              </a:rPr>
              <a:t>  [1]   0   1   2   3   4   5   6   7   8   9  10  11  12  13  14  15  16  17
 [19]  18  19  20  21  22  23  24  25  26  27  28  29  30  31  32  33  34  35
 [37]  36  37  38  39  40  41  42  43  44  45  46  47  48  49  50  51  52  53
 [55]  54  55  56  57  58  59  60  61  62  63  64  65  66  67  68  69  70  71
 [73]  72  73  74  75  76  77  78  79  80  81  82  83  84  85  86  87  88  89
 [91]  90  91  92  93  94  95  96  97  98  99 100</a:t>
            </a:r>
          </a:p>
          <a:p>
            <a:pPr lvl="0" indent="0">
              <a:buNone/>
            </a:pPr>
            <a:r>
              <a:rPr>
                <a:latin typeface="Courier"/>
              </a:rPr>
              <a:t>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sample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seq_hun, </a:t>
            </a:r>
            <a:r>
              <a:rPr>
                <a:solidFill>
                  <a:srgbClr val="7D9029"/>
                </a:solidFill>
                <a:latin typeface="Courier"/>
              </a:rPr>
              <a:t>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replace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y</a:t>
            </a:r>
          </a:p>
          <a:p>
            <a:pPr lvl="0" indent="0">
              <a:buNone/>
            </a:pPr>
            <a:r>
              <a:rPr>
                <a:latin typeface="Courier"/>
              </a:rPr>
              <a:t>[1] 55 61  3  3 20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Installing</a:t>
            </a:r>
            <a:r>
              <a:rPr/>
              <a:t> </a:t>
            </a:r>
            <a:r>
              <a:rPr/>
              <a:t>packages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more!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Some functions and data come with R right out of the box (“base R”). We will add more functionality with packages. Think of these like “expansion packs” for R.</a:t>
            </a:r>
          </a:p>
          <a:p>
            <a:pPr lvl="0" marL="0" indent="0">
              <a:buNone/>
            </a:pPr>
            <a:r>
              <a:rPr/>
              <a:t>Must be done </a:t>
            </a:r>
            <a:r>
              <a:rPr b="1"/>
              <a:t>once</a:t>
            </a:r>
            <a:r>
              <a:rPr/>
              <a:t> for each installation of R (e.g., version 4.2 &gt;&gt; 4.3).</a:t>
            </a:r>
          </a:p>
          <a:p>
            <a:pPr lvl="0" marL="0" indent="0">
              <a:buNone/>
            </a:pPr>
            <a:r>
              <a:rPr/>
              <a:t>An important package we will use is </a:t>
            </a:r>
            <a:r>
              <a:rPr>
                <a:latin typeface="Courier"/>
              </a:rPr>
              <a:t>tidyverse</a:t>
            </a:r>
            <a:r>
              <a:rPr/>
              <a:t>. It is a mega-package great for data import, wrangling, and visualization.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install.packages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"tidyverse"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Loading</a:t>
            </a:r>
            <a:r>
              <a:rPr/>
              <a:t> </a:t>
            </a:r>
            <a:r>
              <a:rPr/>
              <a:t>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After installing packages, you will need to “load” them into memory so that you can use them.</a:t>
            </a:r>
          </a:p>
          <a:p>
            <a:pPr lvl="0" marL="0" indent="0">
              <a:buNone/>
            </a:pPr>
            <a:r>
              <a:rPr/>
              <a:t>This must be done </a:t>
            </a:r>
            <a:r>
              <a:rPr b="1"/>
              <a:t>every time</a:t>
            </a:r>
            <a:r>
              <a:rPr/>
              <a:t> you start R.</a:t>
            </a:r>
          </a:p>
          <a:p>
            <a:pPr lvl="0" marL="0" indent="0">
              <a:buNone/>
            </a:pPr>
            <a:r>
              <a:rPr/>
              <a:t>We use a function called </a:t>
            </a:r>
            <a:r>
              <a:rPr>
                <a:latin typeface="Courier"/>
              </a:rPr>
              <a:t>library</a:t>
            </a:r>
            <a:r>
              <a:rPr/>
              <a:t> to load packages.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(tidyverse)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Installing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Loading</a:t>
            </a:r>
            <a:r>
              <a:rPr/>
              <a:t> </a:t>
            </a:r>
            <a:r>
              <a:rPr/>
              <a:t>packages</a:t>
            </a:r>
          </a:p>
        </p:txBody>
      </p:sp>
      <p:pic>
        <p:nvPicPr>
          <p:cNvPr descr="../../images/lol/install_packag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6900" y="1193800"/>
            <a:ext cx="796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RStudio</a:t>
            </a:r>
            <a:r>
              <a:rPr/>
              <a:t> </a:t>
            </a:r>
            <a:r>
              <a:rPr/>
              <a:t>Shortcuts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Insert</a:t>
                      </a:r>
                      <a:r>
                        <a:rPr/>
                        <a:t> </a:t>
                      </a:r>
                      <a:r>
                        <a:rPr/>
                        <a:t>assignment</a:t>
                      </a:r>
                      <a:r>
                        <a:rPr/>
                        <a:t> </a:t>
                      </a:r>
                      <a:r>
                        <a:rPr/>
                        <a:t>operator</a:t>
                      </a:r>
                      <a:r>
                        <a:rPr/>
                        <a:t> </a:t>
                      </a:r>
                      <a:r>
                        <a:rPr/>
                        <a:t>(</a:t>
                      </a:r>
                      <a:r>
                        <a:rPr>
                          <a:latin typeface="Courier"/>
                        </a:rPr>
                        <a:t>&lt;-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Alt+-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Option+-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More soon! See shortcuts </a:t>
            </a:r>
            <a:r>
              <a:rPr>
                <a:hlinkClick r:id="rId2"/>
              </a:rPr>
              <a:t>here</a:t>
            </a:r>
            <a:r>
              <a:rPr/>
              <a:t>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 functions as a calculator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&lt;-</a:t>
            </a:r>
            <a:r>
              <a:rPr/>
              <a:t> to save (assign) values to objects. Reassigning allows you to make changes “in place”.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c()</a:t>
            </a:r>
            <a:r>
              <a:rPr/>
              <a:t> to </a:t>
            </a:r>
            <a:r>
              <a:rPr b="1"/>
              <a:t>combine</a:t>
            </a:r>
            <a:r>
              <a:rPr/>
              <a:t> into vectors</a:t>
            </a:r>
          </a:p>
          <a:p>
            <a:pPr lvl="1"/>
            <a:r>
              <a:rPr>
                <a:latin typeface="Courier"/>
              </a:rPr>
              <a:t>length()</a:t>
            </a:r>
            <a:r>
              <a:rPr/>
              <a:t>, </a:t>
            </a:r>
            <a:r>
              <a:rPr>
                <a:latin typeface="Courier"/>
              </a:rPr>
              <a:t>class()</a:t>
            </a:r>
            <a:r>
              <a:rPr/>
              <a:t>, and </a:t>
            </a:r>
            <a:r>
              <a:rPr>
                <a:latin typeface="Courier"/>
              </a:rPr>
              <a:t>str()</a:t>
            </a:r>
            <a:r>
              <a:rPr/>
              <a:t> tell you information about an object</a:t>
            </a:r>
          </a:p>
          <a:p>
            <a:pPr lvl="1"/>
            <a:r>
              <a:rPr/>
              <a:t>The sequence </a:t>
            </a:r>
            <a:r>
              <a:rPr>
                <a:latin typeface="Courier"/>
              </a:rPr>
              <a:t>seq()</a:t>
            </a:r>
            <a:r>
              <a:rPr/>
              <a:t> function helps you create numeric vectors (</a:t>
            </a:r>
            <a:r>
              <a:rPr>
                <a:latin typeface="Courier"/>
              </a:rPr>
              <a:t>from</a:t>
            </a:r>
            <a:r>
              <a:rPr/>
              <a:t>,</a:t>
            </a:r>
            <a:r>
              <a:rPr>
                <a:latin typeface="Courier"/>
              </a:rPr>
              <a:t>to</a:t>
            </a:r>
            <a:r>
              <a:rPr/>
              <a:t>, </a:t>
            </a:r>
            <a:r>
              <a:rPr>
                <a:latin typeface="Courier"/>
              </a:rPr>
              <a:t>by</a:t>
            </a:r>
            <a:r>
              <a:rPr/>
              <a:t>, and </a:t>
            </a:r>
            <a:r>
              <a:rPr>
                <a:latin typeface="Courier"/>
              </a:rPr>
              <a:t>length.out</a:t>
            </a:r>
            <a:r>
              <a:rPr/>
              <a:t> arguments)</a:t>
            </a:r>
          </a:p>
          <a:p>
            <a:pPr lvl="1"/>
            <a:r>
              <a:rPr/>
              <a:t>The repeat </a:t>
            </a:r>
            <a:r>
              <a:rPr>
                <a:latin typeface="Courier"/>
              </a:rPr>
              <a:t>rep()</a:t>
            </a:r>
            <a:r>
              <a:rPr/>
              <a:t> function helps you create vectors with the </a:t>
            </a:r>
            <a:r>
              <a:rPr>
                <a:latin typeface="Courier"/>
              </a:rPr>
              <a:t>each</a:t>
            </a:r>
            <a:r>
              <a:rPr/>
              <a:t> and </a:t>
            </a:r>
            <a:r>
              <a:rPr>
                <a:latin typeface="Courier"/>
              </a:rPr>
              <a:t>times</a:t>
            </a:r>
            <a:r>
              <a:rPr/>
              <a:t> arguments</a:t>
            </a:r>
          </a:p>
          <a:p>
            <a:pPr lvl="1"/>
            <a:r>
              <a:rPr>
                <a:latin typeface="Courier"/>
              </a:rPr>
              <a:t>sample()</a:t>
            </a:r>
            <a:r>
              <a:rPr/>
              <a:t> makes random vectors</a:t>
            </a:r>
          </a:p>
          <a:p>
            <a:pPr lvl="1"/>
            <a:r>
              <a:rPr>
                <a:latin typeface="Courier"/>
              </a:rPr>
              <a:t>install.packages()</a:t>
            </a:r>
            <a:r>
              <a:rPr/>
              <a:t> and </a:t>
            </a:r>
            <a:r>
              <a:rPr>
                <a:latin typeface="Courier"/>
              </a:rPr>
              <a:t>library()</a:t>
            </a:r>
            <a:r>
              <a:rPr/>
              <a:t> install and load packages, respectively.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3"/>
              </a:rPr>
              <a:t>Basic R Lab</a:t>
            </a:r>
          </a:p>
          <a:p>
            <a:pPr lvl="0" marL="0" indent="0">
              <a:buNone/>
            </a:pPr>
            <a:r>
              <a:rPr/>
              <a:t>📃 </a:t>
            </a:r>
            <a:r>
              <a:rPr>
                <a:hlinkClick r:id="rId4"/>
              </a:rPr>
              <a:t>Day 1 Cheatsheet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the-end-g23b994289_128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Image by Gerd Altmann from Pixabay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R</dc:title>
  <dc:creator/>
  <cp:keywords/>
  <dcterms:created xsi:type="dcterms:W3CDTF">2026-06-12T16:54:12Z</dcterms:created>
  <dcterms:modified xsi:type="dcterms:W3CDTF">2026-06-12T16:54:12Z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