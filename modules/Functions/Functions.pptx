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2100"/>
    <p:restoredTop autoAdjust="0" sz="94752"/>
  </p:normalViewPr>
  <p:slideViewPr>
    <p:cSldViewPr snapToGrid="0" snapToObjects="1">
      <p:cViewPr varScale="1">
        <p:scale>
          <a:sx d="100" n="198"/>
          <a:sy d="100" n="198"/>
        </p:scale>
        <p:origin x="1208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Relationship Id="rId4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>
            <a:lvl1pPr algn="ctr">
              <a:defRPr sz="40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1730"/>
            <a:ext cx="6400800" cy="34737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918C2E-CA3D-3E7E-792D-7E5EF124597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2696" y="289937"/>
            <a:ext cx="4638608" cy="2597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5/12/26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rtl="0" eaLnBrk="1" latinLnBrk="0" hangingPunct="1">
        <a:spcBef>
          <a:spcPct val="0"/>
        </a:spcBef>
        <a:buNone/>
        <a:defRPr sz="3300" kern="1200" baseline="0">
          <a:solidFill>
            <a:schemeClr val="tx1"/>
          </a:solidFill>
          <a:latin typeface="Montserrat" panose="00000500000000000000" pitchFamily="2" charset="77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13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Wingdings" pitchFamily="2" charset="2"/>
        <a:buChar char="§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defRPr sz="1100" kern="1200" baseline="0">
          <a:solidFill>
            <a:schemeClr val="tx1"/>
          </a:solidFill>
          <a:latin typeface="Lato" panose="020F0502020204030203" pitchFamily="34" charset="0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" TargetMode="External" /><Relationship Id="rId3" Type="http://schemas.openxmlformats.org/officeDocument/2006/relationships/hyperlink" Target="https://daseh.org/modules/Functions/lab/Functions_Lab.Rmd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seh.org/" TargetMode="External" /><Relationship Id="rId3" Type="http://schemas.openxmlformats.org/officeDocument/2006/relationships/hyperlink" Target="https://daseh.org/modules/Functions/lab/Functions_Lab.Rmd" TargetMode="External" /><Relationship Id="rId4" Type="http://schemas.openxmlformats.org/officeDocument/2006/relationships/hyperlink" Target="https://daseh.org/modules/cheatsheets/Day-9.pdf" TargetMode="External" /><Relationship Id="rId5" Type="http://schemas.openxmlformats.org/officeDocument/2006/relationships/hyperlink" Target="https://rstudio.github.io/cheatsheets/purrr.pdf" TargetMode="External" /><Relationship Id="rId6" Type="http://schemas.openxmlformats.org/officeDocument/2006/relationships/hyperlink" Target="https://rstudio.github.io/cheatsheets/purrr.pdf" TargetMode="External" /><Relationship Id="rId7" Type="http://schemas.openxmlformats.org/officeDocument/2006/relationships/hyperlink" Target="https://rstudio.github.io/cheatsheets/purrr.pdf" TargetMode="Externa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forms.gle/5ac2WPiR9kJu5D3c6" TargetMode="Externa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jp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739774"/>
            <a:ext cx="7772400" cy="1102519"/>
          </a:xfrm>
        </p:spPr>
        <p:txBody>
          <a:bodyPr/>
          <a:lstStyle/>
          <a:p>
            <a:pPr lvl="0" marL="0" indent="0">
              <a:buNone/>
            </a:pPr>
            <a:r>
              <a:rPr/>
              <a:t>Functions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1730"/>
            <a:ext cx="6400800" cy="347370"/>
          </a:xfrm>
        </p:spPr>
        <p:txBody>
          <a:bodyPr/>
          <a:lstStyle/>
          <a:p>
            <a:pPr lvl="0" marL="0" indent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Writing</a:t>
            </a:r>
            <a:r>
              <a:rPr/>
              <a:t> </a:t>
            </a:r>
            <a:r>
              <a:rPr/>
              <a:t>your</a:t>
            </a:r>
            <a:r>
              <a:rPr/>
              <a:t> </a:t>
            </a:r>
            <a:r>
              <a:rPr/>
              <a:t>own</a:t>
            </a:r>
            <a:r>
              <a:rPr/>
              <a:t> </a:t>
            </a:r>
            <a:r>
              <a:rPr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So far we’ve seen many functions, like </a:t>
            </a:r>
            <a:r>
              <a:rPr>
                <a:latin typeface="Courier"/>
              </a:rPr>
              <a:t>c()</a:t>
            </a:r>
            <a:r>
              <a:rPr/>
              <a:t>, </a:t>
            </a:r>
            <a:r>
              <a:rPr>
                <a:latin typeface="Courier"/>
              </a:rPr>
              <a:t>class()</a:t>
            </a:r>
            <a:r>
              <a:rPr/>
              <a:t>,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 …</a:t>
            </a:r>
          </a:p>
          <a:p>
            <a:pPr lvl="0" marL="0" indent="0">
              <a:buNone/>
            </a:pPr>
            <a:r>
              <a:rPr b="1"/>
              <a:t>Why create your own functions?</a:t>
            </a:r>
          </a:p>
          <a:p>
            <a:pPr lvl="1"/>
            <a:r>
              <a:rPr/>
              <a:t>Cut down on repetitive code (easier to fix things!)</a:t>
            </a:r>
          </a:p>
          <a:p>
            <a:pPr lvl="1"/>
            <a:r>
              <a:rPr/>
              <a:t>Organize code into manageable chunks</a:t>
            </a:r>
          </a:p>
          <a:p>
            <a:pPr lvl="1"/>
            <a:r>
              <a:rPr/>
              <a:t>Avoid running code unintentionally</a:t>
            </a:r>
          </a:p>
          <a:p>
            <a:pPr lvl="1"/>
            <a:r>
              <a:rPr/>
              <a:t>Use names that make sense to you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Writing</a:t>
            </a:r>
            <a:r>
              <a:rPr/>
              <a:t> </a:t>
            </a:r>
            <a:r>
              <a:rPr/>
              <a:t>your</a:t>
            </a:r>
            <a:r>
              <a:rPr/>
              <a:t> </a:t>
            </a:r>
            <a:r>
              <a:rPr/>
              <a:t>own</a:t>
            </a:r>
            <a:r>
              <a:rPr/>
              <a:t> </a:t>
            </a:r>
            <a:r>
              <a:rPr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The general syntax for a function is:</a:t>
            </a:r>
          </a:p>
          <a:p>
            <a:pPr lvl="0" marL="0" indent="0">
              <a:buNone/>
            </a:pPr>
          </a:p>
          <a:p>
            <a:pPr lvl="0" indent="0">
              <a:buNone/>
            </a:pPr>
            <a:r>
              <a:rPr>
                <a:latin typeface="Courier"/>
              </a:rPr>
              <a:t>my_function &lt;- function(argument) {
 &lt;function body&gt;
}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OR</a:t>
            </a:r>
          </a:p>
          <a:p>
            <a:pPr lvl="0" marL="0" indent="0">
              <a:buNone/>
            </a:pPr>
          </a:p>
          <a:p>
            <a:pPr lvl="0" indent="0">
              <a:buNone/>
            </a:pPr>
            <a:r>
              <a:rPr>
                <a:latin typeface="Courier"/>
              </a:rPr>
              <a:t>my_function &lt;- \(argument) {
 &lt;function body&gt;
}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Writing</a:t>
            </a:r>
            <a:r>
              <a:rPr/>
              <a:t> </a:t>
            </a:r>
            <a:r>
              <a:rPr/>
              <a:t>your</a:t>
            </a:r>
            <a:r>
              <a:rPr/>
              <a:t> </a:t>
            </a:r>
            <a:r>
              <a:rPr/>
              <a:t>own</a:t>
            </a:r>
            <a:r>
              <a:rPr/>
              <a:t> </a:t>
            </a:r>
            <a:r>
              <a:rPr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Here we will write a function that divides some number </a:t>
            </a:r>
            <a:r>
              <a:rPr>
                <a:latin typeface="Courier"/>
              </a:rPr>
              <a:t>x</a:t>
            </a:r>
            <a:r>
              <a:rPr/>
              <a:t> by 100:</a:t>
            </a:r>
          </a:p>
          <a:p>
            <a:pPr lvl="0" indent="0">
              <a:buNone/>
            </a:pPr>
            <a:r>
              <a:rPr>
                <a:latin typeface="Courier"/>
              </a:rPr>
              <a:t>div_100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(x) x 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</a:p>
          <a:p>
            <a:pPr lvl="0" marL="0" indent="0">
              <a:buNone/>
            </a:pPr>
            <a:r>
              <a:rPr/>
              <a:t>When you run the line of code above, you make it ready to use (no output yet!).</a:t>
            </a:r>
          </a:p>
          <a:p>
            <a:pPr lvl="0" marL="0" indent="0">
              <a:buNone/>
            </a:pPr>
            <a:r>
              <a:rPr/>
              <a:t>Let’s test it: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div_100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600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6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Writing</a:t>
            </a:r>
            <a:r>
              <a:rPr/>
              <a:t> </a:t>
            </a:r>
            <a:r>
              <a:rPr/>
              <a:t>your</a:t>
            </a:r>
            <a:r>
              <a:rPr/>
              <a:t> </a:t>
            </a:r>
            <a:r>
              <a:rPr/>
              <a:t>own</a:t>
            </a:r>
            <a:r>
              <a:rPr/>
              <a:t> </a:t>
            </a:r>
            <a:r>
              <a:rPr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We can take all kinds of arguments. Here is one with text:</a:t>
            </a:r>
          </a:p>
          <a:p>
            <a:pPr lvl="0" indent="0">
              <a:buNone/>
            </a:pPr>
            <a:r>
              <a:rPr>
                <a:latin typeface="Courier"/>
              </a:rPr>
              <a:t>greeting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(name) </a:t>
            </a:r>
            <a:r>
              <a:rPr>
                <a:solidFill>
                  <a:srgbClr val="06287E"/>
                </a:solidFill>
                <a:latin typeface="Courier"/>
              </a:rPr>
              <a:t>paste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"Hello my name is"</a:t>
            </a:r>
            <a:r>
              <a:rPr>
                <a:latin typeface="Courier"/>
              </a:rPr>
              <a:t>, name)</a:t>
            </a:r>
          </a:p>
          <a:p>
            <a:pPr lvl="0" marL="0" indent="0">
              <a:buNone/>
            </a:pPr>
            <a:r>
              <a:rPr/>
              <a:t>Let’s test it: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greeting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name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"Ava"</a:t>
            </a:r>
            <a:r>
              <a:rPr>
                <a:latin typeface="Courier"/>
              </a:rPr>
              <a:t>) </a:t>
            </a:r>
            <a:r>
              <a:rPr i="1">
                <a:solidFill>
                  <a:srgbClr val="60A0B0"/>
                </a:solidFill>
                <a:latin typeface="Courier"/>
              </a:rPr>
              <a:t># Named argument</a:t>
            </a:r>
          </a:p>
          <a:p>
            <a:pPr lvl="0" indent="0">
              <a:buNone/>
            </a:pPr>
            <a:r>
              <a:rPr>
                <a:latin typeface="Courier"/>
              </a:rPr>
              <a:t>[1] "Hello my name is Ava"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greeting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"Ava"</a:t>
            </a:r>
            <a:r>
              <a:rPr>
                <a:latin typeface="Courier"/>
              </a:rPr>
              <a:t>) </a:t>
            </a:r>
            <a:r>
              <a:rPr i="1">
                <a:solidFill>
                  <a:srgbClr val="60A0B0"/>
                </a:solidFill>
                <a:latin typeface="Courier"/>
              </a:rPr>
              <a:t># R guesses argument based on position</a:t>
            </a:r>
          </a:p>
          <a:p>
            <a:pPr lvl="0" indent="0">
              <a:buNone/>
            </a:pPr>
            <a:r>
              <a:rPr>
                <a:latin typeface="Courier"/>
              </a:rPr>
              <a:t>[1] "Hello my name is Ava"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Writing</a:t>
            </a:r>
            <a:r>
              <a:rPr/>
              <a:t> </a:t>
            </a:r>
            <a:r>
              <a:rPr/>
              <a:t>your</a:t>
            </a:r>
            <a:r>
              <a:rPr/>
              <a:t> </a:t>
            </a:r>
            <a:r>
              <a:rPr/>
              <a:t>own</a:t>
            </a:r>
            <a:r>
              <a:rPr/>
              <a:t> </a:t>
            </a:r>
            <a:r>
              <a:rPr/>
              <a:t>functions:</a:t>
            </a:r>
            <a:r>
              <a:rPr/>
              <a:t> </a:t>
            </a:r>
            <a:r>
              <a:rPr>
                <a:latin typeface="Courier"/>
              </a:rPr>
              <a:t>{ }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Adding the curly braces - </a:t>
            </a:r>
            <a:r>
              <a:rPr>
                <a:latin typeface="Courier"/>
              </a:rPr>
              <a:t>{}</a:t>
            </a:r>
            <a:r>
              <a:rPr/>
              <a:t> - allows you to use functions spanning multiple lines:</a:t>
            </a:r>
          </a:p>
          <a:p>
            <a:pPr lvl="0" indent="0">
              <a:buNone/>
            </a:pPr>
            <a:r>
              <a:rPr>
                <a:latin typeface="Courier"/>
              </a:rPr>
              <a:t>div_100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(x) {</a:t>
            </a:r>
            <a:br/>
            <a:r>
              <a:rPr>
                <a:latin typeface="Courier"/>
              </a:rPr>
              <a:t>  x 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br/>
            <a:r>
              <a:rPr>
                <a:latin typeface="Courier"/>
              </a:rPr>
              <a:t>}</a:t>
            </a:r>
            <a:br/>
            <a:r>
              <a:rPr>
                <a:solidFill>
                  <a:srgbClr val="06287E"/>
                </a:solidFill>
                <a:latin typeface="Courier"/>
              </a:rPr>
              <a:t>div_100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Writing</a:t>
            </a:r>
            <a:r>
              <a:rPr/>
              <a:t> </a:t>
            </a:r>
            <a:r>
              <a:rPr/>
              <a:t>your</a:t>
            </a:r>
            <a:r>
              <a:rPr/>
              <a:t> </a:t>
            </a:r>
            <a:r>
              <a:rPr/>
              <a:t>own</a:t>
            </a:r>
            <a:r>
              <a:rPr/>
              <a:t> </a:t>
            </a:r>
            <a:r>
              <a:rPr/>
              <a:t>functions:</a:t>
            </a:r>
            <a:r>
              <a:rPr/>
              <a:t> </a:t>
            </a:r>
            <a:r>
              <a:rPr>
                <a:latin typeface="Courier"/>
              </a:rPr>
              <a:t>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If we want something specific for the function’s output, we use </a:t>
            </a:r>
            <a:r>
              <a:rPr>
                <a:latin typeface="Courier"/>
              </a:rPr>
              <a:t>return()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div_100_plus_4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(x) {</a:t>
            </a:r>
            <a:br/>
            <a:r>
              <a:rPr>
                <a:latin typeface="Courier"/>
              </a:rPr>
              <a:t>  output_int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x 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br/>
            <a:r>
              <a:rPr>
                <a:latin typeface="Courier"/>
              </a:rPr>
              <a:t>  output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output_int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(output)</a:t>
            </a:r>
            <a:br/>
            <a:r>
              <a:rPr>
                <a:latin typeface="Courier"/>
              </a:rPr>
              <a:t>}</a:t>
            </a:r>
            <a:br/>
            <a:r>
              <a:rPr>
                <a:solidFill>
                  <a:srgbClr val="06287E"/>
                </a:solidFill>
                <a:latin typeface="Courier"/>
              </a:rPr>
              <a:t>div_100_plus_4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4.1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Writing</a:t>
            </a:r>
            <a:r>
              <a:rPr/>
              <a:t> </a:t>
            </a:r>
            <a:r>
              <a:rPr/>
              <a:t>your</a:t>
            </a:r>
            <a:r>
              <a:rPr/>
              <a:t> </a:t>
            </a:r>
            <a:r>
              <a:rPr/>
              <a:t>own</a:t>
            </a:r>
            <a:r>
              <a:rPr/>
              <a:t> </a:t>
            </a:r>
            <a:r>
              <a:rPr/>
              <a:t>functions:</a:t>
            </a:r>
            <a:r>
              <a:rPr/>
              <a:t> </a:t>
            </a:r>
            <a:r>
              <a:rPr/>
              <a:t>multiple</a:t>
            </a:r>
            <a:r>
              <a:rPr/>
              <a:t> </a:t>
            </a:r>
            <a:r>
              <a:rPr/>
              <a:t>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Functions can take multiple inputs:</a:t>
            </a:r>
          </a:p>
          <a:p>
            <a:pPr lvl="0" indent="0">
              <a:buNone/>
            </a:pPr>
            <a:r>
              <a:rPr>
                <a:latin typeface="Courier"/>
              </a:rPr>
              <a:t>div_100_plus_y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(x, y) x 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y</a:t>
            </a:r>
            <a:br/>
            <a:r>
              <a:rPr>
                <a:solidFill>
                  <a:srgbClr val="06287E"/>
                </a:solidFill>
                <a:latin typeface="Courier"/>
              </a:rPr>
              <a:t>div_100_plus_y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3.1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Writing</a:t>
            </a:r>
            <a:r>
              <a:rPr/>
              <a:t> </a:t>
            </a:r>
            <a:r>
              <a:rPr/>
              <a:t>your</a:t>
            </a:r>
            <a:r>
              <a:rPr/>
              <a:t> </a:t>
            </a:r>
            <a:r>
              <a:rPr/>
              <a:t>own</a:t>
            </a:r>
            <a:r>
              <a:rPr/>
              <a:t> </a:t>
            </a:r>
            <a:r>
              <a:rPr/>
              <a:t>functions:</a:t>
            </a:r>
            <a:r>
              <a:rPr/>
              <a:t> </a:t>
            </a:r>
            <a:r>
              <a:rPr/>
              <a:t>multiple</a:t>
            </a:r>
            <a:r>
              <a:rPr/>
              <a:t> </a:t>
            </a:r>
            <a:r>
              <a:rPr/>
              <a:t>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Functions can return a vector (or other object) with multiple outputs.</a:t>
            </a:r>
          </a:p>
          <a:p>
            <a:pPr lvl="0" indent="0">
              <a:buNone/>
            </a:pPr>
            <a:r>
              <a:rPr>
                <a:latin typeface="Courier"/>
              </a:rPr>
              <a:t>x_and_y_plus_2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(x, y) {</a:t>
            </a:r>
            <a:br/>
            <a:r>
              <a:rPr>
                <a:latin typeface="Courier"/>
              </a:rPr>
              <a:t>  output1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x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r>
              <a:rPr>
                <a:latin typeface="Courier"/>
              </a:rPr>
              <a:t>  output2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y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(output1, output2))</a:t>
            </a:r>
            <a:br/>
            <a:r>
              <a:rPr>
                <a:latin typeface="Courier"/>
              </a:rPr>
              <a:t>}</a:t>
            </a:r>
            <a:br/>
            <a:r>
              <a:rPr>
                <a:latin typeface="Courier"/>
              </a:rPr>
              <a:t>result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x_and_y_plus_2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result</a:t>
            </a:r>
          </a:p>
          <a:p>
            <a:pPr lvl="0" indent="0">
              <a:buNone/>
            </a:pPr>
            <a:r>
              <a:rPr>
                <a:latin typeface="Courier"/>
              </a:rPr>
              <a:t>[1] 12 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Writing</a:t>
            </a:r>
            <a:r>
              <a:rPr/>
              <a:t> </a:t>
            </a:r>
            <a:r>
              <a:rPr/>
              <a:t>your</a:t>
            </a:r>
            <a:r>
              <a:rPr/>
              <a:t> </a:t>
            </a:r>
            <a:r>
              <a:rPr/>
              <a:t>own</a:t>
            </a:r>
            <a:r>
              <a:rPr/>
              <a:t> </a:t>
            </a:r>
            <a:r>
              <a:rPr/>
              <a:t>functions:</a:t>
            </a:r>
            <a:r>
              <a:rPr/>
              <a:t> </a:t>
            </a:r>
            <a:r>
              <a:rPr/>
              <a:t>defaults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Functions can have “default” arguments. This lets us use the function without using an argument later:</a:t>
            </a:r>
          </a:p>
          <a:p>
            <a:pPr lvl="0" indent="0">
              <a:buNone/>
            </a:pPr>
            <a:r>
              <a:rPr>
                <a:latin typeface="Courier"/>
              </a:rPr>
              <a:t>div_100_plus_y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 x 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y</a:t>
            </a:r>
            <a:br/>
            <a:r>
              <a:rPr>
                <a:solidFill>
                  <a:srgbClr val="06287E"/>
                </a:solidFill>
                <a:latin typeface="Courier"/>
              </a:rPr>
              <a:t>div_100_plus_y</a:t>
            </a:r>
            <a:r>
              <a:rPr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3.1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div_100_plus_y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4.11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Writing</a:t>
            </a:r>
            <a:r>
              <a:rPr/>
              <a:t> </a:t>
            </a:r>
            <a:r>
              <a:rPr/>
              <a:t>another</a:t>
            </a:r>
            <a:r>
              <a:rPr/>
              <a:t> </a:t>
            </a:r>
            <a:r>
              <a:rPr/>
              <a:t>simple</a:t>
            </a:r>
            <a:r>
              <a:rPr/>
              <a:t> </a:t>
            </a:r>
            <a:r>
              <a:rPr/>
              <a:t>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Let’s write a function, </a:t>
            </a:r>
            <a:r>
              <a:rPr>
                <a:latin typeface="Courier"/>
              </a:rPr>
              <a:t>sqdif</a:t>
            </a:r>
            <a:r>
              <a:rPr/>
              <a:t>, that:</a:t>
            </a:r>
          </a:p>
          <a:p>
            <a:pPr lvl="1">
              <a:buAutoNum type="arabicPeriod"/>
            </a:pPr>
            <a:r>
              <a:rPr/>
              <a:t>takes two numbers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 with default values of 2 and 3.</a:t>
            </a:r>
          </a:p>
          <a:p>
            <a:pPr lvl="1">
              <a:buAutoNum type="arabicPeriod"/>
            </a:pPr>
            <a:r>
              <a:rPr/>
              <a:t>takes the difference</a:t>
            </a:r>
          </a:p>
          <a:p>
            <a:pPr lvl="1">
              <a:buAutoNum type="arabicPeriod"/>
            </a:pPr>
            <a:r>
              <a:rPr/>
              <a:t>squares this difference</a:t>
            </a:r>
          </a:p>
          <a:p>
            <a:pPr lvl="1">
              <a:buAutoNum type="arabicPeriod"/>
            </a:pPr>
            <a:r>
              <a:rPr/>
              <a:t>then returns the final value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Writing</a:t>
            </a:r>
            <a:r>
              <a:rPr/>
              <a:t> </a:t>
            </a:r>
            <a:r>
              <a:rPr/>
              <a:t>another</a:t>
            </a:r>
            <a:r>
              <a:rPr/>
              <a:t> </a:t>
            </a:r>
            <a:r>
              <a:rPr/>
              <a:t>simple</a:t>
            </a:r>
            <a:r>
              <a:rPr/>
              <a:t> </a:t>
            </a:r>
            <a:r>
              <a:rPr/>
              <a:t>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sqdif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 (x 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latin typeface="Courier"/>
              </a:rPr>
              <a:t> y)</a:t>
            </a:r>
            <a:r>
              <a:rPr>
                <a:solidFill>
                  <a:srgbClr val="4070A0"/>
                </a:solidFill>
                <a:latin typeface="Courier"/>
              </a:rPr>
              <a:t>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br/>
            <a:r>
              <a:rPr>
                <a:solidFill>
                  <a:srgbClr val="06287E"/>
                </a:solidFill>
                <a:latin typeface="Courier"/>
              </a:rPr>
              <a:t>sqdif</a:t>
            </a:r>
            <a:r>
              <a:rPr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sqdif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7D9029"/>
                </a:solidFill>
                <a:latin typeface="Courier"/>
              </a:rPr>
              <a:t>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25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sqdif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25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sqdif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49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Writing</a:t>
            </a:r>
            <a:r>
              <a:rPr/>
              <a:t> </a:t>
            </a:r>
            <a:r>
              <a:rPr/>
              <a:t>your</a:t>
            </a:r>
            <a:r>
              <a:rPr/>
              <a:t> </a:t>
            </a:r>
            <a:r>
              <a:rPr/>
              <a:t>own</a:t>
            </a:r>
            <a:r>
              <a:rPr/>
              <a:t> </a:t>
            </a:r>
            <a:r>
              <a:rPr/>
              <a:t>functions:</a:t>
            </a:r>
            <a:r>
              <a:rPr/>
              <a:t> </a:t>
            </a:r>
            <a:r>
              <a:rPr/>
              <a:t>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Again, functions can have any kind of input.</a:t>
            </a:r>
          </a:p>
          <a:p>
            <a:pPr lvl="0" indent="0">
              <a:buNone/>
            </a:pPr>
            <a:r>
              <a:rPr>
                <a:latin typeface="Courier"/>
              </a:rPr>
              <a:t>loud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word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"hooray!"</a:t>
            </a:r>
            <a:r>
              <a:rPr>
                <a:latin typeface="Courier"/>
              </a:rPr>
              <a:t>) {</a:t>
            </a:r>
            <a:br/>
            <a:r>
              <a:rPr>
                <a:latin typeface="Courier"/>
              </a:rPr>
              <a:t>  output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toupper</a:t>
            </a:r>
            <a:r>
              <a:rPr>
                <a:latin typeface="Courier"/>
              </a:rPr>
              <a:t>(word),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(output)</a:t>
            </a:r>
            <a:br/>
            <a:r>
              <a:rPr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loud</a:t>
            </a:r>
            <a:r>
              <a:rPr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"HOORAY!" "HOORAY!" "HOORAY!" "HOORAY!" "HOORAY!"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loud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"wow!"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"WOW!" "WOW!" "WOW!" "WOW!" "WOW!"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Functions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tibbles</a:t>
            </a:r>
            <a:r>
              <a:rPr/>
              <a:t> </a:t>
            </a:r>
            <a:r>
              <a:rPr/>
              <a:t>-</a:t>
            </a:r>
            <a:r>
              <a:rPr/>
              <a:t> </a:t>
            </a:r>
            <a:r>
              <a:rPr/>
              <a:t>Example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/>
              <a:t>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read_csv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file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"https://daseh.org/data/CO_ER_heat_visits.csv"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visits_plot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(the_county){</a:t>
            </a:r>
            <a:br/>
            <a:r>
              <a:rPr>
                <a:latin typeface="Courier"/>
              </a:rPr>
              <a:t>   er_sub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(county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the_county)</a:t>
            </a:r>
            <a:br/>
            <a:r>
              <a:rPr>
                <a:latin typeface="Courier"/>
              </a:rPr>
              <a:t>   </a:t>
            </a: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 =</a:t>
            </a:r>
            <a:r>
              <a:rPr>
                <a:latin typeface="Courier"/>
              </a:rPr>
              <a:t> er_sub, 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year, </a:t>
            </a:r>
            <a:r>
              <a:rPr>
                <a:solidFill>
                  <a:srgbClr val="7D9029"/>
                </a:solidFill>
                <a:latin typeface="Courier"/>
              </a:rPr>
              <a:t>y =</a:t>
            </a:r>
            <a:r>
              <a:rPr>
                <a:latin typeface="Courier"/>
              </a:rPr>
              <a:t> visits))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   </a:t>
            </a:r>
            <a:r>
              <a:rPr>
                <a:solidFill>
                  <a:srgbClr val="06287E"/>
                </a:solidFill>
                <a:latin typeface="Courier"/>
              </a:rPr>
              <a:t>geom_point</a:t>
            </a:r>
            <a:r>
              <a:rPr>
                <a:latin typeface="Courier"/>
              </a:rPr>
              <a:t>()</a:t>
            </a:r>
            <a:br/>
            <a:r>
              <a:rPr>
                <a:latin typeface="Courier"/>
              </a:rPr>
              <a:t> }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visits_plot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"Larimer"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__w/DaSEH/DaSEH/modules/Functions/Functions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visits_plot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"Weld"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__w/DaSEH/DaSEH/modules/Functions/Functions_files/figure-pptx/unnamed-chunk-1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Functions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tibbles</a:t>
            </a:r>
            <a:r>
              <a:rPr/>
              <a:t> </a:t>
            </a:r>
            <a:r>
              <a:rPr/>
              <a:t>-</a:t>
            </a:r>
            <a:r>
              <a:rPr/>
              <a:t> </a:t>
            </a:r>
            <a:r>
              <a:rPr/>
              <a:t>curly</a:t>
            </a:r>
            <a:r>
              <a:rPr/>
              <a:t> </a:t>
            </a:r>
            <a:r>
              <a:rPr/>
              <a:t>braces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Tell tidyverse functions that you mean the </a:t>
            </a:r>
            <a:r>
              <a:rPr b="1"/>
              <a:t>column</a:t>
            </a:r>
            <a:r>
              <a:rPr/>
              <a:t> not an </a:t>
            </a:r>
            <a:r>
              <a:rPr b="1"/>
              <a:t>object</a:t>
            </a:r>
            <a:r>
              <a:rPr/>
              <a:t> with curly braces (</a:t>
            </a:r>
            <a:r>
              <a:rPr>
                <a:latin typeface="Courier"/>
              </a:rPr>
              <a:t>{}</a:t>
            </a:r>
            <a:r>
              <a:rPr/>
              <a:t>):</a:t>
            </a:r>
          </a:p>
          <a:p>
            <a:pPr lvl="0" indent="0">
              <a:buNone/>
            </a:pPr>
            <a:r>
              <a:rPr>
                <a:latin typeface="Courier"/>
              </a:rPr>
              <a:t>visits_plot2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(the_column){</a:t>
            </a:r>
            <a:br/>
            <a:r>
              <a:rPr>
                <a:latin typeface="Courier"/>
              </a:rPr>
              <a:t>   </a:t>
            </a:r>
            <a:r>
              <a:rPr>
                <a:solidFill>
                  <a:srgbClr val="06287E"/>
                </a:solidFill>
                <a:latin typeface="Courier"/>
              </a:rPr>
              <a:t>ggplot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data =</a:t>
            </a:r>
            <a:r>
              <a:rPr>
                <a:latin typeface="Courier"/>
              </a:rPr>
              <a:t> er, </a:t>
            </a:r>
            <a:r>
              <a:rPr>
                <a:solidFill>
                  <a:srgbClr val="06287E"/>
                </a:solidFill>
                <a:latin typeface="Courier"/>
              </a:rPr>
              <a:t>aes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x =</a:t>
            </a:r>
            <a:r>
              <a:rPr>
                <a:latin typeface="Courier"/>
              </a:rPr>
              <a:t> year, </a:t>
            </a:r>
            <a:r>
              <a:rPr>
                <a:solidFill>
                  <a:srgbClr val="7D9029"/>
                </a:solidFill>
                <a:latin typeface="Courier"/>
              </a:rPr>
              <a:t>y =</a:t>
            </a:r>
            <a:r>
              <a:rPr>
                <a:latin typeface="Courier"/>
              </a:rPr>
              <a:t> visits, </a:t>
            </a:r>
            <a:r>
              <a:rPr>
                <a:solidFill>
                  <a:srgbClr val="7D9029"/>
                </a:solidFill>
                <a:latin typeface="Courier"/>
              </a:rPr>
              <a:t>color =</a:t>
            </a:r>
            <a:r>
              <a:rPr>
                <a:latin typeface="Courier"/>
              </a:rPr>
              <a:t> {{the_column}}))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br/>
            <a:r>
              <a:rPr>
                <a:latin typeface="Courier"/>
              </a:rPr>
              <a:t>     </a:t>
            </a:r>
            <a:r>
              <a:rPr>
                <a:solidFill>
                  <a:srgbClr val="06287E"/>
                </a:solidFill>
                <a:latin typeface="Courier"/>
              </a:rPr>
              <a:t>geom_point</a:t>
            </a:r>
            <a:r>
              <a:rPr>
                <a:latin typeface="Courier"/>
              </a:rPr>
              <a:t>()</a:t>
            </a:r>
            <a:br/>
            <a:r>
              <a:rPr>
                <a:latin typeface="Courier"/>
              </a:rPr>
              <a:t> }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Functions</a:t>
            </a:r>
            <a:r>
              <a:rPr/>
              <a:t> </a:t>
            </a:r>
            <a:r>
              <a:rPr/>
              <a:t>for</a:t>
            </a:r>
            <a:r>
              <a:rPr/>
              <a:t> </a:t>
            </a:r>
            <a:r>
              <a:rPr/>
              <a:t>tibbles</a:t>
            </a:r>
            <a:r>
              <a:rPr/>
              <a:t> </a:t>
            </a:r>
            <a:r>
              <a:rPr/>
              <a:t>-</a:t>
            </a:r>
            <a:r>
              <a:rPr/>
              <a:t> </a:t>
            </a:r>
            <a:r>
              <a:rPr/>
              <a:t>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visits_plot2</a:t>
            </a:r>
            <a:r>
              <a:rPr>
                <a:latin typeface="Courier"/>
              </a:rPr>
              <a:t>(year)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__w/DaSEH/DaSEH/modules/Functions/Functions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visits_plot2</a:t>
            </a:r>
            <a:r>
              <a:rPr>
                <a:latin typeface="Courier"/>
              </a:rPr>
              <a:t>(rate)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__w/DaSEH/DaSEH/modules/Functions/Functions_files/figure-pptx/unnamed-chunk-17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Simple functions take the form:</a:t>
            </a:r>
          </a:p>
          <a:p>
            <a:pPr lvl="2"/>
            <a:r>
              <a:rPr>
                <a:latin typeface="Courier"/>
              </a:rPr>
              <a:t>NEW_FUNCTION &lt;- function(x, y){x + y}</a:t>
            </a:r>
          </a:p>
          <a:p>
            <a:pPr lvl="2"/>
            <a:r>
              <a:rPr/>
              <a:t>Can specify defaults like </a:t>
            </a:r>
            <a:r>
              <a:rPr>
                <a:latin typeface="Courier"/>
              </a:rPr>
              <a:t>function(x = 1, y = 2){x + y}</a:t>
            </a:r>
            <a:br/>
          </a:p>
          <a:p>
            <a:pPr lvl="2"/>
            <a:r>
              <a:rPr>
                <a:latin typeface="Courier"/>
              </a:rPr>
              <a:t>return</a:t>
            </a:r>
            <a:r>
              <a:rPr/>
              <a:t> will provide a value as output</a:t>
            </a:r>
          </a:p>
          <a:p>
            <a:pPr lvl="1"/>
            <a:r>
              <a:rPr/>
              <a:t>Specify a column (from a tibble) inside a function using </a:t>
            </a:r>
            <a:r>
              <a:rPr>
                <a:latin typeface="Courier"/>
              </a:rPr>
              <a:t>{{double curly braces}}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Lab</a:t>
            </a:r>
            <a:r>
              <a:rPr/>
              <a:t> </a:t>
            </a:r>
            <a:r>
              <a:rPr/>
              <a:t>Part</a:t>
            </a:r>
            <a:r>
              <a:rPr/>
              <a:t> </a:t>
            </a:r>
            <a:r>
              <a:rPr/>
              <a:t>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🏠 </a:t>
            </a:r>
            <a:r>
              <a:rPr>
                <a:hlinkClick r:id="rId2"/>
              </a:rPr>
              <a:t>Class Website</a:t>
            </a:r>
          </a:p>
          <a:p>
            <a:pPr lvl="0" marL="0" indent="0">
              <a:buNone/>
            </a:pPr>
            <a:r>
              <a:rPr/>
              <a:t>💻 </a:t>
            </a:r>
            <a:r>
              <a:rPr>
                <a:hlinkClick r:id="rId3"/>
              </a:rPr>
              <a:t>Lab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Functions</a:t>
            </a:r>
            <a:r>
              <a:rPr/>
              <a:t> </a:t>
            </a:r>
            <a:r>
              <a:rPr/>
              <a:t>on</a:t>
            </a:r>
            <a:r>
              <a:rPr/>
              <a:t> </a:t>
            </a:r>
            <a:r>
              <a:rPr/>
              <a:t>multiple</a:t>
            </a:r>
            <a:r>
              <a:rPr/>
              <a:t> </a:t>
            </a:r>
            <a:r>
              <a:rPr/>
              <a:t>columns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Using</a:t>
            </a:r>
            <a:r>
              <a:rPr/>
              <a:t> </a:t>
            </a:r>
            <a:r>
              <a:rPr/>
              <a:t>your</a:t>
            </a:r>
            <a:r>
              <a:rPr/>
              <a:t> </a:t>
            </a:r>
            <a:r>
              <a:rPr/>
              <a:t>custom</a:t>
            </a:r>
            <a:r>
              <a:rPr/>
              <a:t> </a:t>
            </a:r>
            <a:r>
              <a:rPr/>
              <a:t>functions:</a:t>
            </a:r>
            <a:r>
              <a:rPr/>
              <a:t> </a:t>
            </a:r>
            <a:r>
              <a:rPr>
                <a:latin typeface="Courier"/>
              </a:rPr>
              <a:t>sapply()</a:t>
            </a:r>
            <a:r>
              <a:rPr/>
              <a:t>-</a:t>
            </a:r>
            <a:r>
              <a:rPr/>
              <a:t> </a:t>
            </a:r>
            <a:r>
              <a:rPr/>
              <a:t>a</a:t>
            </a:r>
            <a:r>
              <a:rPr/>
              <a:t> </a:t>
            </a:r>
            <a:r>
              <a:rPr/>
              <a:t>base</a:t>
            </a:r>
            <a:r>
              <a:rPr/>
              <a:t> </a:t>
            </a:r>
            <a:r>
              <a:rPr/>
              <a:t>R</a:t>
            </a:r>
            <a:r>
              <a:rPr/>
              <a:t> </a:t>
            </a:r>
            <a:r>
              <a:rPr/>
              <a:t>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Now that you’ve made a function… You can “apply” functions easily with </a:t>
            </a:r>
            <a:r>
              <a:rPr>
                <a:latin typeface="Courier"/>
              </a:rPr>
              <a:t>sapply()</a:t>
            </a:r>
            <a:r>
              <a:rPr/>
              <a:t>!</a:t>
            </a:r>
          </a:p>
          <a:p>
            <a:pPr lvl="0" marL="0" indent="0">
              <a:buNone/>
            </a:pPr>
            <a:r>
              <a:rPr/>
              <a:t>These functions take the form:</a:t>
            </a:r>
          </a:p>
          <a:p>
            <a:pPr lvl="0" indent="0">
              <a:buNone/>
            </a:pPr>
            <a:r>
              <a:rPr>
                <a:latin typeface="Courier"/>
              </a:rPr>
              <a:t>sapply(&lt;a vector, list, data frame&gt;, some_function)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Using</a:t>
            </a:r>
            <a:r>
              <a:rPr/>
              <a:t> </a:t>
            </a:r>
            <a:r>
              <a:rPr/>
              <a:t>your</a:t>
            </a:r>
            <a:r>
              <a:rPr/>
              <a:t> </a:t>
            </a:r>
            <a:r>
              <a:rPr/>
              <a:t>custom</a:t>
            </a:r>
            <a:r>
              <a:rPr/>
              <a:t> </a:t>
            </a:r>
            <a:r>
              <a:rPr/>
              <a:t>functions:</a:t>
            </a:r>
            <a:r>
              <a:rPr/>
              <a:t> </a:t>
            </a:r>
            <a:r>
              <a:rPr>
                <a:latin typeface="Courier"/>
              </a:rPr>
              <a:t>sapply()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Let’s apply a function to look at the CO heat-related ER visits dataset.</a:t>
            </a:r>
          </a:p>
          <a:p>
            <a:pPr lvl="0" marL="0" indent="0">
              <a:buNone/>
            </a:pPr>
            <a:r>
              <a:rPr/>
              <a:t>🚨There are no parentheses on the functions!🚨</a:t>
            </a:r>
          </a:p>
          <a:p>
            <a:pPr lvl="0" marL="0" indent="0">
              <a:buNone/>
            </a:pPr>
            <a:r>
              <a:rPr/>
              <a:t>You can also pipe into your function.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sapply</a:t>
            </a:r>
            <a:r>
              <a:rPr>
                <a:latin typeface="Courier"/>
              </a:rPr>
              <a:t>(er, class) </a:t>
            </a:r>
          </a:p>
          <a:p>
            <a:pPr lvl="0" indent="0">
              <a:buNone/>
            </a:pPr>
            <a:r>
              <a:rPr>
                <a:latin typeface="Courier"/>
              </a:rPr>
              <a:t>     county        rate   lower95cl   upper95cl      visits        year 
"character"   "numeric"   "numeric"   "numeric"   "numeric"   "numeric" 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also: er |&gt; sapply(class)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Using</a:t>
            </a:r>
            <a:r>
              <a:rPr/>
              <a:t> </a:t>
            </a:r>
            <a:r>
              <a:rPr/>
              <a:t>your</a:t>
            </a:r>
            <a:r>
              <a:rPr/>
              <a:t> </a:t>
            </a:r>
            <a:r>
              <a:rPr/>
              <a:t>custom</a:t>
            </a:r>
            <a:r>
              <a:rPr/>
              <a:t> </a:t>
            </a:r>
            <a:r>
              <a:rPr/>
              <a:t>functions:</a:t>
            </a:r>
            <a:r>
              <a:rPr/>
              <a:t> </a:t>
            </a:r>
            <a:r>
              <a:rPr>
                <a:latin typeface="Courier"/>
              </a:rPr>
              <a:t>sapply()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Use the </a:t>
            </a:r>
            <a:r>
              <a:rPr>
                <a:latin typeface="Courier"/>
              </a:rPr>
              <a:t>div_100</a:t>
            </a:r>
            <a:r>
              <a:rPr/>
              <a:t> function we created earlier to convert 0-100 percentiles to proportions.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ends_with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"cl"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sapply</a:t>
            </a:r>
            <a:r>
              <a:rPr>
                <a:latin typeface="Courier"/>
              </a:rPr>
              <a:t>(div_100)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lower95cl  upper95cl
[1,]         NA 0.09236776
[2,] 0.02848937         NA
[3,] 0.04359735 0.09313561
[4,] 0.01711087 0.04846996
[5,] 0.01892912 0.05232461
[6,] 0.06124961 0.11572046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Using</a:t>
            </a:r>
            <a:r>
              <a:rPr/>
              <a:t> </a:t>
            </a:r>
            <a:r>
              <a:rPr/>
              <a:t>your</a:t>
            </a:r>
            <a:r>
              <a:rPr/>
              <a:t> </a:t>
            </a:r>
            <a:r>
              <a:rPr/>
              <a:t>custom</a:t>
            </a:r>
            <a:r>
              <a:rPr/>
              <a:t> </a:t>
            </a:r>
            <a:r>
              <a:rPr/>
              <a:t>functions</a:t>
            </a:r>
            <a:r>
              <a:rPr/>
              <a:t> </a:t>
            </a:r>
            <a:r>
              <a:rPr/>
              <a:t>“</a:t>
            </a:r>
            <a:r>
              <a:rPr/>
              <a:t>on</a:t>
            </a:r>
            <a:r>
              <a:rPr/>
              <a:t> </a:t>
            </a:r>
            <a:r>
              <a:rPr/>
              <a:t>the</a:t>
            </a:r>
            <a:r>
              <a:rPr/>
              <a:t> </a:t>
            </a:r>
            <a:r>
              <a:rPr/>
              <a:t>fly</a:t>
            </a:r>
            <a:r>
              <a:rPr/>
              <a:t>”</a:t>
            </a:r>
            <a:r>
              <a:rPr/>
              <a:t> </a:t>
            </a:r>
            <a:r>
              <a:rPr/>
              <a:t>to</a:t>
            </a:r>
            <a:r>
              <a:rPr/>
              <a:t> </a:t>
            </a:r>
            <a:r>
              <a:rPr/>
              <a:t>iterate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Also called “anonymous function”.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ends_with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"cl"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sapply</a:t>
            </a:r>
            <a:r>
              <a:rPr>
                <a:latin typeface="Courier"/>
              </a:rPr>
              <a:t>(</a:t>
            </a: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(x) x 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lower95cl  upper95cl
[1,]         NA 0.09236776
[2,] 0.02848937         NA
[3,] 0.04359735 0.09313561
[4,] 0.01711087 0.04846996
[5,] 0.01892912 0.05232461
[6,] 0.06124961 0.11572046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Anonymous</a:t>
            </a:r>
            <a:r>
              <a:rPr/>
              <a:t> </a:t>
            </a:r>
            <a:r>
              <a:rPr/>
              <a:t>functions:</a:t>
            </a:r>
            <a:r>
              <a:rPr/>
              <a:t> </a:t>
            </a:r>
            <a:r>
              <a:rPr/>
              <a:t>alternative</a:t>
            </a:r>
            <a:r>
              <a:rPr/>
              <a:t> </a:t>
            </a:r>
            <a:r>
              <a:rPr/>
              <a:t>syntax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ends_with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"cl"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sapply</a:t>
            </a:r>
            <a:r>
              <a:rPr>
                <a:latin typeface="Courier"/>
              </a:rPr>
              <a:t>(\(x) x 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head</a:t>
            </a:r>
            <a:r>
              <a:rPr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lower95cl  upper95cl
[1,]         NA 0.09236776
[2,] 0.02848937         NA
[3,] 0.04359735 0.09313561
[4,] 0.01711087 0.04846996
[5,] 0.01892912 0.05232461
[6,] 0.06124961 0.11572046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marL="0" indent="0">
              <a:buNone/>
            </a:pPr>
            <a:r>
              <a:rPr/>
              <a:t>across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Using</a:t>
            </a:r>
            <a:r>
              <a:rPr/>
              <a:t> </a:t>
            </a:r>
            <a:r>
              <a:rPr/>
              <a:t>functions</a:t>
            </a:r>
            <a:r>
              <a:rPr/>
              <a:t> </a:t>
            </a:r>
            <a:r>
              <a:rPr/>
              <a:t>in</a:t>
            </a:r>
            <a:r>
              <a:rPr/>
              <a:t> </a:t>
            </a:r>
            <a:r>
              <a:rPr>
                <a:latin typeface="Courier"/>
              </a:rPr>
              <a:t>mutate()</a:t>
            </a:r>
            <a:r>
              <a:rPr/>
              <a:t> </a:t>
            </a:r>
            <a:r>
              <a:rPr/>
              <a:t>and</a:t>
            </a:r>
            <a:r>
              <a:rPr/>
              <a:t>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Already know how to use functions to modify columns using </a:t>
            </a:r>
            <a:r>
              <a:rPr>
                <a:latin typeface="Courier"/>
              </a:rPr>
              <a:t>mutate()</a:t>
            </a:r>
            <a:r>
              <a:rPr/>
              <a:t> or calculate summary statistics using </a:t>
            </a:r>
            <a:r>
              <a:rPr>
                <a:latin typeface="Courier"/>
              </a:rPr>
              <a:t>summarize()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summarize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max_visits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(visits,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T),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7D9029"/>
                </a:solidFill>
                <a:latin typeface="Courier"/>
              </a:rPr>
              <a:t>max_rate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(rate,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T))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max_visits max_rate
       &lt;dbl&gt;    &lt;dbl&gt;
1         48     89.3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Applying</a:t>
            </a:r>
            <a:r>
              <a:rPr/>
              <a:t> </a:t>
            </a:r>
            <a:r>
              <a:rPr/>
              <a:t>functions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across</a:t>
            </a:r>
            <a:r>
              <a:rPr/>
              <a:t> </a:t>
            </a:r>
            <a:r>
              <a:rPr/>
              <a:t>from</a:t>
            </a:r>
            <a:r>
              <a:rPr/>
              <a:t> </a:t>
            </a:r>
            <a:r>
              <a:rPr>
                <a:latin typeface="Courier"/>
              </a:rPr>
              <a:t>dplyr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across()</a:t>
            </a:r>
            <a:r>
              <a:rPr/>
              <a:t> makes it easy to apply the same transformation to multiple columns. Usually used with </a:t>
            </a:r>
            <a:r>
              <a:rPr>
                <a:latin typeface="Courier"/>
              </a:rPr>
              <a:t>summarize()</a:t>
            </a:r>
            <a:r>
              <a:rPr/>
              <a:t> or </a:t>
            </a:r>
            <a:r>
              <a:rPr>
                <a:latin typeface="Courier"/>
              </a:rPr>
              <a:t>mutate()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summarize(across(&lt;columns&gt;,function)) </a:t>
            </a:r>
          </a:p>
          <a:p>
            <a:pPr lvl="0" marL="0" indent="0">
              <a:buNone/>
            </a:pPr>
            <a:r>
              <a:rPr/>
              <a:t>or</a:t>
            </a:r>
          </a:p>
          <a:p>
            <a:pPr lvl="0" indent="0">
              <a:buNone/>
            </a:pPr>
            <a:r>
              <a:rPr>
                <a:latin typeface="Courier"/>
              </a:rPr>
              <a:t>mutate(across(&lt;columns&gt;,function))</a:t>
            </a:r>
          </a:p>
          <a:p>
            <a:pPr lvl="1"/>
            <a:r>
              <a:rPr/>
              <a:t>List columns first : </a:t>
            </a:r>
            <a:r>
              <a:rPr>
                <a:latin typeface="Courier"/>
              </a:rPr>
              <a:t>.cols =</a:t>
            </a:r>
          </a:p>
          <a:p>
            <a:pPr lvl="1"/>
            <a:r>
              <a:rPr/>
              <a:t>List function next: </a:t>
            </a:r>
            <a:r>
              <a:rPr>
                <a:latin typeface="Courier"/>
              </a:rPr>
              <a:t>.fns =</a:t>
            </a:r>
          </a:p>
          <a:p>
            <a:pPr lvl="1"/>
            <a:r>
              <a:rPr/>
              <a:t>If there are arguments to a function (e.g., </a:t>
            </a:r>
            <a:r>
              <a:rPr>
                <a:latin typeface="Courier"/>
              </a:rPr>
              <a:t>na.rm = TRUE</a:t>
            </a:r>
            <a:r>
              <a:rPr/>
              <a:t>), use an anonymous function.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Applying</a:t>
            </a:r>
            <a:r>
              <a:rPr/>
              <a:t> </a:t>
            </a:r>
            <a:r>
              <a:rPr/>
              <a:t>functions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across</a:t>
            </a:r>
            <a:r>
              <a:rPr/>
              <a:t> </a:t>
            </a:r>
            <a:r>
              <a:rPr/>
              <a:t>from</a:t>
            </a:r>
            <a:r>
              <a:rPr/>
              <a:t> </a:t>
            </a:r>
            <a:r>
              <a:rPr>
                <a:latin typeface="Courier"/>
              </a:rPr>
              <a:t>dplyr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Combining with </a:t>
            </a:r>
            <a:r>
              <a:rPr>
                <a:latin typeface="Courier"/>
              </a:rPr>
              <a:t>summarize()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summarize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across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(visits, rate),</a:t>
            </a:r>
            <a:br/>
            <a:r>
              <a:rPr>
                <a:latin typeface="Courier"/>
              </a:rPr>
              <a:t>    mean </a:t>
            </a:r>
            <a:r>
              <a:rPr i="1">
                <a:solidFill>
                  <a:srgbClr val="60A0B0"/>
                </a:solidFill>
                <a:latin typeface="Courier"/>
              </a:rPr>
              <a:t># no parentheses</a:t>
            </a:r>
            <a:br/>
            <a:r>
              <a:rPr>
                <a:latin typeface="Courier"/>
              </a:rPr>
              <a:t>  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visits  rate
   &lt;dbl&gt; &lt;dbl&gt;
1     NA    NA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Applying</a:t>
            </a:r>
            <a:r>
              <a:rPr/>
              <a:t> </a:t>
            </a:r>
            <a:r>
              <a:rPr/>
              <a:t>functions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across</a:t>
            </a:r>
            <a:r>
              <a:rPr/>
              <a:t> </a:t>
            </a:r>
            <a:r>
              <a:rPr/>
              <a:t>from</a:t>
            </a:r>
            <a:r>
              <a:rPr/>
              <a:t> </a:t>
            </a:r>
            <a:r>
              <a:rPr>
                <a:latin typeface="Courier"/>
              </a:rPr>
              <a:t>dplyr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Add anonymous function to include additional arguments (e.g., </a:t>
            </a:r>
            <a:r>
              <a:rPr>
                <a:latin typeface="Courier"/>
              </a:rPr>
              <a:t>na.rm = T</a:t>
            </a:r>
            <a:r>
              <a:rPr/>
              <a:t>).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summarize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across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(visits, rate),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(x) </a:t>
            </a:r>
            <a:r>
              <a:rPr>
                <a:solidFill>
                  <a:srgbClr val="06287E"/>
                </a:solidFill>
                <a:latin typeface="Courier"/>
              </a:rPr>
              <a:t>mean</a:t>
            </a:r>
            <a:r>
              <a:rPr>
                <a:latin typeface="Courier"/>
              </a:rPr>
              <a:t>(x,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T)</a:t>
            </a:r>
            <a:br/>
            <a:r>
              <a:rPr>
                <a:latin typeface="Courier"/>
              </a:rPr>
              <a:t>  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2
  visits  rate
   &lt;dbl&gt; &lt;dbl&gt;
1   7.19  2.43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Applying</a:t>
            </a:r>
            <a:r>
              <a:rPr/>
              <a:t> </a:t>
            </a:r>
            <a:r>
              <a:rPr/>
              <a:t>functions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across</a:t>
            </a:r>
            <a:r>
              <a:rPr/>
              <a:t> </a:t>
            </a:r>
            <a:r>
              <a:rPr/>
              <a:t>from</a:t>
            </a:r>
            <a:r>
              <a:rPr/>
              <a:t> </a:t>
            </a:r>
            <a:r>
              <a:rPr>
                <a:latin typeface="Courier"/>
              </a:rPr>
              <a:t>dplyr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Can use with other tidyverse functions like </a:t>
            </a:r>
            <a:r>
              <a:rPr>
                <a:latin typeface="Courier"/>
              </a:rPr>
              <a:t>group_by</a:t>
            </a:r>
            <a:r>
              <a:rPr/>
              <a:t>!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group_by</a:t>
            </a:r>
            <a:r>
              <a:rPr>
                <a:latin typeface="Courier"/>
              </a:rPr>
              <a:t>(year)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summarize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across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(visits, rate),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(x) </a:t>
            </a:r>
            <a:r>
              <a:rPr>
                <a:solidFill>
                  <a:srgbClr val="06287E"/>
                </a:solidFill>
                <a:latin typeface="Courier"/>
              </a:rPr>
              <a:t>mean</a:t>
            </a:r>
            <a:r>
              <a:rPr>
                <a:latin typeface="Courier"/>
              </a:rPr>
              <a:t>(x,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T)</a:t>
            </a:r>
            <a:br/>
            <a:r>
              <a:rPr>
                <a:latin typeface="Courier"/>
              </a:rPr>
              <a:t>  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 × 3
    year visits  rate
   &lt;dbl&gt;  &lt;dbl&gt; &lt;dbl&gt;
 1  2011   5.20  1.49
 2  2012   5.89  1.75
 3  2013   5.63  1.83
 4  2014   4.12  1.41
 5  2015   6.4   1.96
 6  2016  10.1   5.28
 7  2017   7.24  2.13
 8  2018  11.7   3.28
 9  2019   9.12  4.09
10  2020   6.26  1.73
11  2021   8.06  2.08
12  2022   9.29  3.21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Applying</a:t>
            </a:r>
            <a:r>
              <a:rPr/>
              <a:t> </a:t>
            </a:r>
            <a:r>
              <a:rPr/>
              <a:t>functions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across</a:t>
            </a:r>
            <a:r>
              <a:rPr/>
              <a:t> </a:t>
            </a:r>
            <a:r>
              <a:rPr/>
              <a:t>from</a:t>
            </a:r>
            <a:r>
              <a:rPr/>
              <a:t> </a:t>
            </a:r>
            <a:r>
              <a:rPr>
                <a:latin typeface="Courier"/>
              </a:rPr>
              <a:t>dplyr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Using different </a:t>
            </a:r>
            <a:r>
              <a:rPr>
                <a:latin typeface="Courier"/>
              </a:rPr>
              <a:t>tidyselect()</a:t>
            </a:r>
            <a:r>
              <a:rPr/>
              <a:t> options (e.g., </a:t>
            </a:r>
            <a:r>
              <a:rPr>
                <a:latin typeface="Courier"/>
              </a:rPr>
              <a:t>starts_with()</a:t>
            </a:r>
            <a:r>
              <a:rPr/>
              <a:t>, </a:t>
            </a:r>
            <a:r>
              <a:rPr>
                <a:latin typeface="Courier"/>
              </a:rPr>
              <a:t>ends_with()</a:t>
            </a:r>
            <a:r>
              <a:rPr/>
              <a:t>, </a:t>
            </a:r>
            <a:r>
              <a:rPr>
                <a:latin typeface="Courier"/>
              </a:rPr>
              <a:t>contains()</a:t>
            </a:r>
            <a:r>
              <a:rPr/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group_by</a:t>
            </a:r>
            <a:r>
              <a:rPr>
                <a:latin typeface="Courier"/>
              </a:rPr>
              <a:t>(year)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summarize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across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6287E"/>
                </a:solidFill>
                <a:latin typeface="Courier"/>
              </a:rPr>
              <a:t>contains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"cl"</a:t>
            </a:r>
            <a:r>
              <a:rPr>
                <a:latin typeface="Courier"/>
              </a:rPr>
              <a:t>), 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(x) </a:t>
            </a:r>
            <a:r>
              <a:rPr>
                <a:solidFill>
                  <a:srgbClr val="06287E"/>
                </a:solidFill>
                <a:latin typeface="Courier"/>
              </a:rPr>
              <a:t>mean</a:t>
            </a:r>
            <a:r>
              <a:rPr>
                <a:latin typeface="Courier"/>
              </a:rPr>
              <a:t>(x,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12 × 3
    year lower95cl upper95cl
   &lt;dbl&gt;     &lt;dbl&gt;     &lt;dbl&gt;
 1  2011     0.836      2.12
 2  2012     1.06       2.41
 3  2013     1.07       2.62
 4  2014     0.810      2.11
 5  2015     1.21       2.77
 6  2016     3.05       7.99
 7  2017     1.28       3.08
 8  2018     2.17       4.41
 9  2019     2.32       6.21
10  2020     1.02       2.52
11  2021     1.30       2.92
12  2022     1.93       4.71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Applying</a:t>
            </a:r>
            <a:r>
              <a:rPr/>
              <a:t> </a:t>
            </a:r>
            <a:r>
              <a:rPr/>
              <a:t>functions</a:t>
            </a:r>
            <a:r>
              <a:rPr/>
              <a:t> </a:t>
            </a:r>
            <a:r>
              <a:rPr/>
              <a:t>with</a:t>
            </a:r>
            <a:r>
              <a:rPr/>
              <a:t> </a:t>
            </a:r>
            <a:r>
              <a:rPr>
                <a:latin typeface="Courier"/>
              </a:rPr>
              <a:t>across</a:t>
            </a:r>
            <a:r>
              <a:rPr/>
              <a:t> </a:t>
            </a:r>
            <a:r>
              <a:rPr/>
              <a:t>from</a:t>
            </a:r>
            <a:r>
              <a:rPr/>
              <a:t> </a:t>
            </a:r>
            <a:r>
              <a:rPr>
                <a:latin typeface="Courier"/>
              </a:rPr>
              <a:t>dplyr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Combining with </a:t>
            </a:r>
            <a:r>
              <a:rPr>
                <a:latin typeface="Courier"/>
              </a:rPr>
              <a:t>mutate()</a:t>
            </a:r>
            <a:r>
              <a:rPr/>
              <a:t> - the </a:t>
            </a:r>
            <a:r>
              <a:rPr>
                <a:latin typeface="Courier"/>
              </a:rPr>
              <a:t>replace_na</a:t>
            </a:r>
            <a:r>
              <a:rPr/>
              <a:t> function</a:t>
            </a:r>
          </a:p>
          <a:p>
            <a:pPr lvl="0" marL="0" indent="0">
              <a:buNone/>
            </a:pPr>
            <a:r>
              <a:rPr/>
              <a:t>Let’s look at the yearly CO2 emissions dataset.</a:t>
            </a:r>
          </a:p>
          <a:p>
            <a:pPr lvl="0" indent="0">
              <a:buNone/>
            </a:pPr>
            <a:r>
              <a:rPr>
                <a:latin typeface="Courier"/>
              </a:rPr>
              <a:t>yearly_co2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read_csv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7D9029"/>
                </a:solidFill>
                <a:latin typeface="Courier"/>
              </a:rPr>
              <a:t>file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"https://daseh.org/data/Yearly_CO2_Emissions_1000_tonnes.csv"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yearly_co2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(country, </a:t>
            </a:r>
            <a:r>
              <a:rPr>
                <a:solidFill>
                  <a:srgbClr val="06287E"/>
                </a:solidFill>
                <a:latin typeface="Courier"/>
              </a:rPr>
              <a:t>starts_with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"194"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across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solidFill>
                  <a:srgbClr val="7D9029"/>
                </a:solidFill>
                <a:latin typeface="Courier"/>
              </a:rPr>
              <a:t>1943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solidFill>
                  <a:srgbClr val="7D9029"/>
                </a:solidFill>
                <a:latin typeface="Courier"/>
              </a:rPr>
              <a:t>1944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solidFill>
                  <a:srgbClr val="7D9029"/>
                </a:solidFill>
                <a:latin typeface="Courier"/>
              </a:rPr>
              <a:t>1945</a:t>
            </a:r>
            <a:r>
              <a:rPr>
                <a:solidFill>
                  <a:srgbClr val="4070A0"/>
                </a:solidFill>
                <a:latin typeface="Courier"/>
              </a:rPr>
              <a:t>`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(x) </a:t>
            </a:r>
            <a:r>
              <a:rPr>
                <a:solidFill>
                  <a:srgbClr val="06287E"/>
                </a:solidFill>
                <a:latin typeface="Courier"/>
              </a:rPr>
              <a:t>replace_na</a:t>
            </a:r>
            <a:r>
              <a:rPr>
                <a:latin typeface="Courier"/>
              </a:rPr>
              <a:t>(x, </a:t>
            </a:r>
            <a:r>
              <a:rPr>
                <a:solidFill>
                  <a:srgbClr val="7D9029"/>
                </a:solidFill>
                <a:latin typeface="Courier"/>
              </a:rPr>
              <a:t>replace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192 × 11
   country        `1940` `1941` `1942` `1943` `1944` `1945` `1946` `1947` `1948`
   &lt;chr&gt;           &lt;dbl&gt;  &lt;dbl&gt;  &lt;dbl&gt;  &lt;dbl&gt;  &lt;dbl&gt;  &lt;dbl&gt;  &lt;dbl&gt;  &lt;dbl&gt;  &lt;dbl&gt;
 1 Afghanistan        NA     NA     NA      0      0      0     NA     NA     NA
 2 Albania           693    627    744    462    154    121    484    928    704
 3 Algeria           238    312    499    469    499    616    763    744    803
 4 Andorra            NA     NA     NA      0      0      0     NA     NA     NA
 5 Angola             NA     NA     NA      0      0      0     NA     NA     NA
 6 Antigua and B…     NA     NA     NA      0      0      0     NA     NA     NA
 7 Argentina       15900  14000  13500  14100  14000  13700  13700  14500  17400
 8 Armenia           848    745    513    655    613    649    730    878    935
 9 Australia       29100  34600  36500  35000  34200  32700  35500  38000  38500
10 Austria          7350   7980   8560   9620   9400   4570  12800  17600  24500
# ℹ 182 more rows
# ℹ 1 more variable: `1949` &lt;dbl&gt;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GUT</a:t>
            </a:r>
            <a:r>
              <a:rPr/>
              <a:t> </a:t>
            </a:r>
            <a:r>
              <a:rPr/>
              <a:t>CHECK!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Why use </a:t>
            </a:r>
            <a:r>
              <a:rPr>
                <a:latin typeface="Courier"/>
              </a:rPr>
              <a:t>across()</a:t>
            </a:r>
            <a:r>
              <a:rPr/>
              <a:t>?</a:t>
            </a:r>
          </a:p>
          <a:p>
            <a:pPr lvl="0" marL="0" indent="0">
              <a:buNone/>
            </a:pPr>
            <a:r>
              <a:rPr/>
              <a:t>A. Efficiency - faster and less repetitive</a:t>
            </a:r>
          </a:p>
          <a:p>
            <a:pPr lvl="0" marL="0" indent="0">
              <a:buNone/>
            </a:pPr>
            <a:r>
              <a:rPr/>
              <a:t>B. Calculate the cross product</a:t>
            </a:r>
          </a:p>
          <a:p>
            <a:pPr lvl="0" marL="0" indent="0">
              <a:buNone/>
            </a:pPr>
            <a:r>
              <a:rPr/>
              <a:t>C. Connect across datasets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>
                <a:latin typeface="Courier"/>
              </a:rPr>
              <a:t>purrr</a:t>
            </a:r>
            <a:r>
              <a:rPr/>
              <a:t> </a:t>
            </a:r>
            <a:r>
              <a:rPr/>
              <a:t>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Similar to across, </a:t>
            </a:r>
            <a:r>
              <a:rPr>
                <a:latin typeface="Courier"/>
              </a:rPr>
              <a:t>purrr</a:t>
            </a:r>
            <a:r>
              <a:rPr/>
              <a:t> is a package that allows you to apply a function to multiple columns in a data frame or multiple data objects in a list.</a:t>
            </a:r>
          </a:p>
          <a:p>
            <a:pPr lvl="0" marL="0" indent="0">
              <a:buNone/>
            </a:pPr>
            <a:r>
              <a:rPr/>
              <a:t>While we won’t get into </a:t>
            </a:r>
            <a:r>
              <a:rPr>
                <a:latin typeface="Courier"/>
              </a:rPr>
              <a:t>purrr</a:t>
            </a:r>
            <a:r>
              <a:rPr/>
              <a:t> too much in this class, it’s part of the tidyverse and is great if you’re doing lots of iterative work!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One</a:t>
            </a:r>
            <a:r>
              <a:rPr/>
              <a:t> </a:t>
            </a:r>
            <a:r>
              <a:rPr/>
              <a:t>cool</a:t>
            </a:r>
            <a:r>
              <a:rPr/>
              <a:t> </a:t>
            </a:r>
            <a:r>
              <a:rPr/>
              <a:t>function:</a:t>
            </a:r>
            <a:r>
              <a:rPr/>
              <a:t> </a:t>
            </a:r>
            <a:r>
              <a:rPr>
                <a:latin typeface="Courier"/>
              </a:rPr>
              <a:t>modify_if()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Columns must meet a certain criteria to be modified.</a:t>
            </a:r>
          </a:p>
          <a:p>
            <a:pPr lvl="0" indent="0">
              <a:buNone/>
            </a:pPr>
            <a:r>
              <a:rPr>
                <a:latin typeface="Courier"/>
              </a:rPr>
              <a:t>er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modify_if</a:t>
            </a:r>
            <a:r>
              <a:rPr>
                <a:latin typeface="Courier"/>
              </a:rPr>
              <a:t>(is.numeric, \(x) </a:t>
            </a:r>
            <a:r>
              <a:rPr>
                <a:solidFill>
                  <a:srgbClr val="06287E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(x)) </a:t>
            </a:r>
            <a:r>
              <a:rPr>
                <a:solidFill>
                  <a:srgbClr val="4070A0"/>
                </a:solidFill>
                <a:latin typeface="Courier"/>
              </a:rPr>
              <a:t>|</a:t>
            </a:r>
            <a:r>
              <a:rPr b="1">
                <a:solidFill>
                  <a:srgbClr val="FF0000"/>
                </a:solidFill>
                <a:latin typeface="Courier"/>
              </a:rPr>
              <a:t>&gt;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glimpse</a:t>
            </a:r>
            <a:r>
              <a:rPr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768
Columns: 6
$ county    &lt;chr&gt; "Adams", "Adams", "Adams", "Adams", "Adams", "Adams", "Adams…
$ rate      &lt;dbl&gt; 7, 5, 7, 3, 3, 9, 7, 7, 7, 5, 7, 8, 0, 0, NA, 0, NA, NA, NA,…
$ lower95cl &lt;dbl&gt; NA, 3, 4, 2, 2, 6, 4, 5, 5, 3, 5, 6, 0, 0, NA, 0, NA, NA, NA…
$ upper95cl &lt;dbl&gt; 9, NA, 9, 5, 5, 12, 9, 9, 9, 7, 9, 11, 0, 0, NA, 0, NA, NA, …
$ visits    &lt;dbl&gt; 29, 23, 31, 15, 16, 42, 32, 37, 36, 24, 35, 45, 0, 0, NA, 0,…
$ year      &lt;dbl&gt; 2011, 2012, 2013, 2014, 2015, 2016, 2017, 2018, 2019, 2020, …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Apply your functions with </a:t>
            </a:r>
            <a:r>
              <a:rPr>
                <a:latin typeface="Courier"/>
              </a:rPr>
              <a:t>sapply(&lt;a vector or list&gt;, some_function)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across()</a:t>
            </a:r>
            <a:r>
              <a:rPr/>
              <a:t> to apply functions across multiple columns of data</a:t>
            </a:r>
          </a:p>
          <a:p>
            <a:pPr lvl="1"/>
            <a:r>
              <a:rPr/>
              <a:t>Need to use </a:t>
            </a:r>
            <a:r>
              <a:rPr>
                <a:latin typeface="Courier"/>
              </a:rPr>
              <a:t>across</a:t>
            </a:r>
            <a:r>
              <a:rPr/>
              <a:t> within </a:t>
            </a:r>
            <a:r>
              <a:rPr>
                <a:latin typeface="Courier"/>
              </a:rPr>
              <a:t>summarize()</a:t>
            </a:r>
            <a:r>
              <a:rPr/>
              <a:t> or </a:t>
            </a:r>
            <a:r>
              <a:rPr>
                <a:latin typeface="Courier"/>
              </a:rPr>
              <a:t>mutate()</a:t>
            </a:r>
          </a:p>
          <a:p>
            <a:pPr lvl="1"/>
            <a:r>
              <a:rPr/>
              <a:t>Check out </a:t>
            </a:r>
            <a:r>
              <a:rPr>
                <a:latin typeface="Courier"/>
              </a:rPr>
              <a:t>purrr</a:t>
            </a:r>
            <a:r>
              <a:rPr/>
              <a:t> if you want to get into the weeds!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Lab</a:t>
            </a:r>
            <a:r>
              <a:rPr/>
              <a:t> </a:t>
            </a:r>
            <a:r>
              <a:rPr/>
              <a:t>Part</a:t>
            </a:r>
            <a:r>
              <a:rPr/>
              <a:t> </a:t>
            </a:r>
            <a:r>
              <a:rPr/>
              <a:t>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🏠 </a:t>
            </a:r>
            <a:r>
              <a:rPr>
                <a:hlinkClick r:id="rId2"/>
              </a:rPr>
              <a:t>Class Website</a:t>
            </a:r>
          </a:p>
          <a:p>
            <a:pPr lvl="0" marL="0" indent="0">
              <a:buNone/>
            </a:pPr>
            <a:r>
              <a:rPr/>
              <a:t>💻 </a:t>
            </a:r>
            <a:r>
              <a:rPr>
                <a:hlinkClick r:id="rId3"/>
              </a:rPr>
              <a:t>Lab</a:t>
            </a:r>
          </a:p>
          <a:p>
            <a:pPr lvl="0" marL="0" indent="0">
              <a:buNone/>
            </a:pPr>
            <a:r>
              <a:rPr/>
              <a:t>📃 </a:t>
            </a:r>
            <a:r>
              <a:rPr>
                <a:hlinkClick r:id="rId4"/>
              </a:rPr>
              <a:t>Day 9 Cheatsheet</a:t>
            </a:r>
          </a:p>
          <a:p>
            <a:pPr lvl="0" marL="0" indent="0">
              <a:buNone/>
            </a:pPr>
            <a:r>
              <a:rPr/>
              <a:t>📃 </a:t>
            </a:r>
            <a:r>
              <a:rPr>
                <a:hlinkClick r:id="rId5"/>
              </a:rPr>
              <a:t>Posit’s </a:t>
            </a:r>
            <a:r>
              <a:rPr>
                <a:hlinkClick r:id="rId6"/>
                <a:latin typeface="Courier"/>
              </a:rPr>
              <a:t>purrr</a:t>
            </a:r>
            <a:r>
              <a:rPr>
                <a:hlinkClick r:id="rId7"/>
              </a:rPr>
              <a:t> Cheatsheet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Research</a:t>
            </a:r>
            <a:r>
              <a:rPr/>
              <a:t> </a:t>
            </a:r>
            <a:r>
              <a:rPr/>
              <a:t>Survey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</a:p>
          <a:p>
            <a:pPr lvl="0" marL="0" indent="0">
              <a:buNone/>
            </a:pPr>
            <a:r>
              <a:rPr>
                <a:hlinkClick r:id="rId2"/>
              </a:rPr>
              <a:t>https://forms.gle/5ac2WPiR9kJu5D3c6</a:t>
            </a:r>
          </a:p>
          <a:p>
            <a:pPr lvl="0" marL="0" indent="0">
              <a:buNone/>
            </a:pPr>
            <a:r>
              <a:rPr/>
              <a:t> 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../images/the-end-g23b994289_128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800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Image by Gerd Altmann from Pixabay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</Words>
  <Application>Microsoft Macintosh PowerPoint</Application>
  <PresentationFormat>On-screen Show (16:9)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Calibri</vt:lpstr>
      <vt:lpstr>Courier New</vt:lpstr>
      <vt:lpstr>Lato</vt:lpstr>
      <vt:lpstr>Montserrat</vt:lpstr>
      <vt:lpstr>Wingdings</vt:lpstr>
      <vt:lpstr>Office Theme</vt:lpstr>
      <vt:lpstr>Basic 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Functions</dc:title>
  <dc:creator/>
  <cp:keywords/>
  <dcterms:created xsi:type="dcterms:W3CDTF">2026-06-18T17:16:52Z</dcterms:created>
  <dcterms:modified xsi:type="dcterms:W3CDTF">2026-06-18T17:16:52Z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utput">
    <vt:lpwstr/>
  </property>
</Properties>
</file>