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 Id="rId21"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kaggle.com/ajaypalsinghlo/world-happiness-report-2021/download" TargetMode="External" /><Relationship Id="rId3" Type="http://schemas.openxmlformats.org/officeDocument/2006/relationships/hyperlink" Target="https://www.gallup.com/analytics/247355/gallup-world-happiness-report.aspx"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Project</a:t>
            </a:r>
            <a:r>
              <a:rPr/>
              <a:t> </a:t>
            </a:r>
            <a:r>
              <a:rPr/>
              <a:t>Example</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World</a:t>
            </a:r>
            <a:r>
              <a:rPr/>
              <a:t> </a:t>
            </a:r>
            <a:r>
              <a:rPr/>
              <a:t>Happiness</a:t>
            </a:r>
            <a:r>
              <a:rPr/>
              <a:t> </a:t>
            </a:r>
            <a:r>
              <a:rPr/>
              <a:t>Project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Data</a:t>
            </a:r>
            <a:r>
              <a:rPr/>
              <a:t> </a:t>
            </a:r>
            <a:r>
              <a:rPr/>
              <a:t>Used</a:t>
            </a:r>
          </a:p>
        </p:txBody>
      </p:sp>
      <p:sp>
        <p:nvSpPr>
          <p:cNvPr id="3" name="Content Placeholder 2"/>
          <p:cNvSpPr>
            <a:spLocks noGrp="1"/>
          </p:cNvSpPr>
          <p:nvPr>
            <p:ph idx="1"/>
          </p:nvPr>
        </p:nvSpPr>
        <p:spPr/>
        <p:txBody>
          <a:bodyPr/>
          <a:lstStyle/>
          <a:p>
            <a:pPr lvl="0" marL="0" indent="0">
              <a:buNone/>
            </a:pPr>
            <a:r>
              <a:rPr/>
              <a:t>The data that I am using for my project is from the World Happiness Report.</a:t>
            </a:r>
          </a:p>
          <a:p>
            <a:pPr lvl="0" marL="0" indent="0">
              <a:buNone/>
            </a:pPr>
            <a:r>
              <a:rPr/>
              <a:t>I obtained the data from Kaggle.com at this link: </a:t>
            </a:r>
            <a:r>
              <a:rPr>
                <a:hlinkClick r:id="rId2"/>
              </a:rPr>
              <a:t>https://www.kaggle.com/ajaypalsinghlo/world-happiness-report-2021/download</a:t>
            </a:r>
            <a:r>
              <a:rPr/>
              <a:t>.</a:t>
            </a:r>
          </a:p>
          <a:p>
            <a:pPr lvl="0" marL="0" indent="0">
              <a:buNone/>
            </a:pPr>
            <a:r>
              <a:rPr/>
              <a:t>The data comes from an annual report from the Gallup World Poll. Here is a link for more information about this poll: </a:t>
            </a:r>
            <a:r>
              <a:rPr>
                <a:hlinkClick r:id="rId3"/>
              </a:rPr>
              <a:t>https://www.gallup.com/analytics/247355/gallup-world-happiness-report.aspx</a:t>
            </a:r>
            <a:r>
              <a:rPr/>
              <a:t>. This report has gained global recognition and is used to inform policy making decisions.</a:t>
            </a:r>
          </a:p>
          <a:p>
            <a:pPr lvl="0" marL="0" indent="0">
              <a:buNone/>
            </a:pPr>
            <a:r>
              <a:rPr/>
              <a:t>The variables in the data include score estimates for various factors that have been shown to be related to happiness. The estimate for happiness variable is called “Ladder Score”. There is data related to a fake country called “Dystopia” which simulates a country that has the worlds lowest values for all the factors related to happiness. The factors related to happiness are sometimes used to explain why some countries report higher levels of happiness.</a:t>
            </a:r>
          </a:p>
          <a:p>
            <a:pPr lvl="0" marL="0" indent="0">
              <a:buNone/>
            </a:pPr>
            <a:r>
              <a:rPr/>
              <a:t>I attempted to find more about how people were surveyed for the poll, but did not find much information. The poll however occurs annually through a survey of adults around the world.</a:t>
            </a:r>
          </a:p>
          <a:p>
            <a:pPr lvl="0" marL="0" indent="0">
              <a:buNone/>
            </a:pPr>
            <a:r>
              <a:rPr/>
              <a:t>Now I will load packages that I may need in my analysis:</a:t>
            </a:r>
          </a:p>
          <a:p>
            <a:pPr lvl="0" indent="0">
              <a:buNone/>
            </a:pPr>
            <a:r>
              <a:rPr>
                <a:solidFill>
                  <a:srgbClr val="06287E"/>
                </a:solidFill>
                <a:latin typeface="Courier"/>
              </a:rPr>
              <a:t>library</a:t>
            </a:r>
            <a:r>
              <a:rPr>
                <a:latin typeface="Courier"/>
              </a:rPr>
              <a:t>(tidyverse)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Data</a:t>
            </a:r>
            <a:r>
              <a:rPr/>
              <a:t> </a:t>
            </a:r>
            <a:r>
              <a:rPr/>
              <a:t>Import</a:t>
            </a:r>
          </a:p>
        </p:txBody>
      </p:sp>
      <p:sp>
        <p:nvSpPr>
          <p:cNvPr id="3" name="Content Placeholder 2"/>
          <p:cNvSpPr>
            <a:spLocks noGrp="1"/>
          </p:cNvSpPr>
          <p:nvPr>
            <p:ph idx="1"/>
          </p:nvPr>
        </p:nvSpPr>
        <p:spPr/>
        <p:txBody>
          <a:bodyPr/>
          <a:lstStyle/>
          <a:p>
            <a:pPr lvl="0" marL="0" indent="0">
              <a:buNone/>
            </a:pPr>
            <a:r>
              <a:rPr/>
              <a:t>I will then import my data by using the </a:t>
            </a:r>
            <a:r>
              <a:rPr>
                <a:latin typeface="Courier"/>
              </a:rPr>
              <a:t>read_csv()</a:t>
            </a:r>
            <a:r>
              <a:rPr/>
              <a:t> function of the readr package as the data is in csv format. I will name the data Happiness.</a:t>
            </a:r>
          </a:p>
          <a:p>
            <a:pPr lvl="0" indent="0">
              <a:buNone/>
            </a:pPr>
            <a:r>
              <a:rPr>
                <a:latin typeface="Courier"/>
              </a:rPr>
              <a:t>Happiness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4070A0"/>
                </a:solidFill>
                <a:latin typeface="Courier"/>
              </a:rPr>
              <a:t>"world-happiness-report-2021.csv"</a:t>
            </a:r>
            <a:r>
              <a:rPr>
                <a:latin typeface="Courier"/>
              </a:rPr>
              <a:t>)</a:t>
            </a:r>
          </a:p>
          <a:p>
            <a:pPr lvl="0" indent="0">
              <a:buNone/>
            </a:pPr>
            <a:r>
              <a:rPr>
                <a:latin typeface="Courier"/>
              </a:rPr>
              <a:t>## Rows: 149 Columns: 20
## ── Column specification ────────────────────────────────────────────────────────
## Delimiter: ","
## chr  (2): Country name, Regional indicator
## dbl (18): Ladder score, Standard error of ladder score, upperwhisker, lowerw...
## 
## ℹ Use `spec()` to retrieve the full column specification for this data.
## ℹ Specify the column types or set `show_col_types = FALSE` to quiet this message.</a:t>
            </a:r>
          </a:p>
          <a:p>
            <a:pPr lvl="0" marL="0" indent="0">
              <a:buNone/>
            </a:pPr>
            <a:r>
              <a:rPr/>
              <a:t>I then take a look at my data using the </a:t>
            </a:r>
            <a:r>
              <a:rPr>
                <a:latin typeface="Courier"/>
              </a:rPr>
              <a:t>head()</a:t>
            </a:r>
            <a:r>
              <a:rPr/>
              <a:t> function. I use the </a:t>
            </a:r>
            <a:r>
              <a:rPr>
                <a:latin typeface="Courier"/>
              </a:rPr>
              <a:t>dim()</a:t>
            </a:r>
            <a:r>
              <a:rPr/>
              <a:t> function to see how many rows/columns there are.</a:t>
            </a:r>
          </a:p>
          <a:p>
            <a:pPr lvl="0" indent="0">
              <a:buNone/>
            </a:pPr>
            <a:r>
              <a:rPr>
                <a:solidFill>
                  <a:srgbClr val="06287E"/>
                </a:solidFill>
                <a:latin typeface="Courier"/>
              </a:rPr>
              <a:t>head</a:t>
            </a:r>
            <a:r>
              <a:rPr>
                <a:latin typeface="Courier"/>
              </a:rPr>
              <a:t>(Happiness)</a:t>
            </a:r>
          </a:p>
          <a:p>
            <a:pPr lvl="0" indent="0">
              <a:buNone/>
            </a:pPr>
            <a:r>
              <a:rPr>
                <a:latin typeface="Courier"/>
              </a:rPr>
              <a:t>## # A tibble: 6 × 20
##   `Country name` `Regional indicator` `Ladder score` Standard error of ladder …¹
##   &lt;chr&gt;          &lt;chr&gt;                         &lt;dbl&gt;                       &lt;dbl&gt;
## 1 Finland        Western Europe                 7.84                       0.032
## 2 Denmark        Western Europe                 7.62                       0.035
## 3 Switzerland    Western Europe                 7.57                       0.036
## 4 Iceland        Western Europe                 7.55                       0.059
## 5 Netherlands    Western Europe                 7.46                       0.027
## 6 Norway         Western Europe                 7.39                       0.035
## # ℹ abbreviated name: ¹​`Standard error of ladder score`
## # ℹ 16 more variables: upperwhisker &lt;dbl&gt;, lowerwhisker &lt;dbl&gt;,
## #   `Logged GDP per capita` &lt;dbl&gt;, `Social support` &lt;dbl&gt;,
## #   `Healthy life expectancy` &lt;dbl&gt;, `Freedom to make life choices` &lt;dbl&gt;,
## #   Generosity &lt;dbl&gt;, `Perceptions of corruption` &lt;dbl&gt;,
## #   `Ladder score in Dystopia` &lt;dbl&gt;, `Explained by: Log GDP per capita` &lt;dbl&gt;,
## #   `Explained by: Social support` &lt;dbl&gt;, …</a:t>
            </a:r>
          </a:p>
          <a:p>
            <a:pPr lvl="0" indent="0">
              <a:buNone/>
            </a:pPr>
            <a:r>
              <a:rPr>
                <a:solidFill>
                  <a:srgbClr val="06287E"/>
                </a:solidFill>
                <a:latin typeface="Courier"/>
              </a:rPr>
              <a:t>dim</a:t>
            </a:r>
            <a:r>
              <a:rPr>
                <a:latin typeface="Courier"/>
              </a:rPr>
              <a:t>(Happiness)</a:t>
            </a:r>
          </a:p>
          <a:p>
            <a:pPr lvl="0" indent="0">
              <a:buNone/>
            </a:pPr>
            <a:r>
              <a:rPr>
                <a:latin typeface="Courier"/>
              </a:rPr>
              <a:t>## [1] 149  20</a:t>
            </a:r>
          </a:p>
          <a:p>
            <a:pPr lvl="0" marL="0" indent="0">
              <a:buNone/>
            </a:pPr>
            <a:r>
              <a:rPr/>
              <a:t>To determine how many unique countries there are I used the </a:t>
            </a:r>
            <a:r>
              <a:rPr>
                <a:latin typeface="Courier"/>
              </a:rPr>
              <a:t>unqiue()</a:t>
            </a:r>
            <a:r>
              <a:rPr/>
              <a:t> function and the </a:t>
            </a:r>
            <a:r>
              <a:rPr>
                <a:latin typeface="Courier"/>
              </a:rPr>
              <a:t>length()</a:t>
            </a:r>
            <a:r>
              <a:rPr/>
              <a:t> function.</a:t>
            </a:r>
          </a:p>
          <a:p>
            <a:pPr lvl="0" indent="0">
              <a:buNone/>
            </a:pPr>
            <a:r>
              <a:rPr>
                <a:solidFill>
                  <a:srgbClr val="06287E"/>
                </a:solidFill>
                <a:latin typeface="Courier"/>
              </a:rPr>
              <a:t>pull</a:t>
            </a:r>
            <a:r>
              <a:rPr>
                <a:latin typeface="Courier"/>
              </a:rPr>
              <a:t>(Happiness, </a:t>
            </a:r>
            <a:r>
              <a:rPr>
                <a:solidFill>
                  <a:srgbClr val="4070A0"/>
                </a:solidFill>
                <a:latin typeface="Courier"/>
              </a:rPr>
              <a:t>"Country name"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unique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length</a:t>
            </a:r>
            <a:r>
              <a:rPr>
                <a:latin typeface="Courier"/>
              </a:rPr>
              <a:t>()</a:t>
            </a:r>
          </a:p>
          <a:p>
            <a:pPr lvl="0" indent="0">
              <a:buNone/>
            </a:pPr>
            <a:r>
              <a:rPr>
                <a:latin typeface="Courier"/>
              </a:rPr>
              <a:t>## [1] 149</a:t>
            </a:r>
          </a:p>
          <a:p>
            <a:pPr lvl="0" marL="0" indent="0">
              <a:buNone/>
            </a:pPr>
            <a:r>
              <a:rPr/>
              <a:t>This shows that there are 149 Countries.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Data</a:t>
            </a:r>
            <a:r>
              <a:rPr/>
              <a:t> </a:t>
            </a:r>
            <a:r>
              <a:rPr/>
              <a:t>Cleaning/Wrangling</a:t>
            </a:r>
          </a:p>
        </p:txBody>
      </p:sp>
      <p:sp>
        <p:nvSpPr>
          <p:cNvPr id="3" name="Content Placeholder 2"/>
          <p:cNvSpPr>
            <a:spLocks noGrp="1"/>
          </p:cNvSpPr>
          <p:nvPr>
            <p:ph idx="1"/>
          </p:nvPr>
        </p:nvSpPr>
        <p:spPr/>
        <p:txBody>
          <a:bodyPr/>
          <a:lstStyle/>
          <a:p>
            <a:pPr lvl="0" marL="0" indent="0">
              <a:buNone/>
            </a:pPr>
            <a:r>
              <a:rPr/>
              <a:t>I decided to rename the first variable called </a:t>
            </a:r>
            <a:r>
              <a:rPr>
                <a:latin typeface="Courier"/>
              </a:rPr>
              <a:t>Country name</a:t>
            </a:r>
            <a:r>
              <a:rPr/>
              <a:t> so that it would not have a space - this makes it easier to work with as I will not need to use quotes around it for most functions. I used the </a:t>
            </a:r>
            <a:r>
              <a:rPr>
                <a:latin typeface="Courier"/>
              </a:rPr>
              <a:t>rename()</a:t>
            </a:r>
            <a:r>
              <a:rPr/>
              <a:t> function to do this, listing the new name first.</a:t>
            </a:r>
          </a:p>
          <a:p>
            <a:pPr lvl="0" indent="0">
              <a:buNone/>
            </a:pPr>
            <a:r>
              <a:rPr>
                <a:latin typeface="Courier"/>
              </a:rPr>
              <a:t>Happiness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rename</a:t>
            </a:r>
            <a:r>
              <a:rPr>
                <a:latin typeface="Courier"/>
              </a:rPr>
              <a:t>(</a:t>
            </a:r>
            <a:r>
              <a:rPr>
                <a:solidFill>
                  <a:srgbClr val="4070A0"/>
                </a:solidFill>
                <a:latin typeface="Courier"/>
              </a:rPr>
              <a:t>"Country_name"</a:t>
            </a:r>
            <a:r>
              <a:rPr>
                <a:latin typeface="Courier"/>
              </a:rPr>
              <a:t> </a:t>
            </a:r>
            <a:r>
              <a:rPr>
                <a:solidFill>
                  <a:srgbClr val="007020"/>
                </a:solidFill>
                <a:latin typeface="Courier"/>
              </a:rPr>
              <a:t>=</a:t>
            </a:r>
            <a:r>
              <a:rPr>
                <a:latin typeface="Courier"/>
              </a:rPr>
              <a:t> </a:t>
            </a:r>
            <a:r>
              <a:rPr>
                <a:solidFill>
                  <a:srgbClr val="4070A0"/>
                </a:solidFill>
                <a:latin typeface="Courier"/>
              </a:rPr>
              <a:t>"Country name"</a:t>
            </a:r>
            <a:r>
              <a:rPr>
                <a:latin typeface="Courier"/>
              </a:rPr>
              <a:t>)</a:t>
            </a:r>
            <a:br/>
            <a:r>
              <a:rPr>
                <a:solidFill>
                  <a:srgbClr val="06287E"/>
                </a:solidFill>
                <a:latin typeface="Courier"/>
              </a:rPr>
              <a:t>colnames</a:t>
            </a:r>
            <a:r>
              <a:rPr>
                <a:latin typeface="Courier"/>
              </a:rPr>
              <a:t>(Happiness)</a:t>
            </a:r>
          </a:p>
          <a:p>
            <a:pPr lvl="0" indent="0">
              <a:buNone/>
            </a:pPr>
            <a:r>
              <a:rPr>
                <a:latin typeface="Courier"/>
              </a:rPr>
              <a:t>##  [1] "Country_name"                              
##  [2] "Regional indicator"                        
##  [3] "Ladder score"                              
##  [4] "Standard error of ladder score"            
##  [5] "upperwhisker"                              
##  [6] "lowerwhisker"                              
##  [7] "Logged GDP per capita"                     
##  [8] "Social support"                            
##  [9] "Healthy life expectancy"                   
## [10] "Freedom to make life choices"              
## [11] "Generosity"                                
## [12] "Perceptions of corruption"                 
## [13] "Ladder score in Dystopia"                  
## [14] "Explained by: Log GDP per capita"          
## [15] "Explained by: Social support"              
## [16] "Explained by: Healthy life expectancy"     
## [17] "Explained by: Freedom to make life choices"
## [18] "Explained by: Generosity"                  
## [19] "Explained by: Perceptions of corruption"   
## [20] "Dystopia + residual"</a:t>
            </a:r>
          </a:p>
          <a:p>
            <a:pPr lvl="0" marL="0" indent="0">
              <a:buNone/>
            </a:pPr>
            <a:r>
              <a:rPr/>
              <a:t>I can see that this column is renamed, but I then realized that many columns have names with spaces. I decided to do the same thing for the </a:t>
            </a:r>
            <a:r>
              <a:rPr>
                <a:latin typeface="Courier"/>
              </a:rPr>
              <a:t>"Ladder score"</a:t>
            </a:r>
            <a:r>
              <a:rPr/>
              <a:t> variable. I renamed it </a:t>
            </a:r>
            <a:r>
              <a:rPr>
                <a:latin typeface="Courier"/>
              </a:rPr>
              <a:t>"Happiness_score"</a:t>
            </a:r>
            <a:r>
              <a:rPr/>
              <a:t>, as it is easier to tell what this means.</a:t>
            </a:r>
          </a:p>
          <a:p>
            <a:pPr lvl="0" indent="0">
              <a:buNone/>
            </a:pPr>
            <a:r>
              <a:rPr>
                <a:latin typeface="Courier"/>
              </a:rPr>
              <a:t>Happiness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rename</a:t>
            </a:r>
            <a:r>
              <a:rPr>
                <a:latin typeface="Courier"/>
              </a:rPr>
              <a:t>(</a:t>
            </a:r>
            <a:r>
              <a:rPr>
                <a:solidFill>
                  <a:srgbClr val="4070A0"/>
                </a:solidFill>
                <a:latin typeface="Courier"/>
              </a:rPr>
              <a:t>"Happiness_score"</a:t>
            </a:r>
            <a:r>
              <a:rPr>
                <a:latin typeface="Courier"/>
              </a:rPr>
              <a:t> </a:t>
            </a:r>
            <a:r>
              <a:rPr>
                <a:solidFill>
                  <a:srgbClr val="007020"/>
                </a:solidFill>
                <a:latin typeface="Courier"/>
              </a:rPr>
              <a:t>=</a:t>
            </a:r>
            <a:r>
              <a:rPr>
                <a:latin typeface="Courier"/>
              </a:rPr>
              <a:t> </a:t>
            </a:r>
            <a:r>
              <a:rPr>
                <a:solidFill>
                  <a:srgbClr val="4070A0"/>
                </a:solidFill>
                <a:latin typeface="Courier"/>
              </a:rPr>
              <a:t>"Ladder score"</a:t>
            </a:r>
            <a:r>
              <a:rPr>
                <a:latin typeface="Courier"/>
              </a:rPr>
              <a:t>)</a:t>
            </a:r>
            <a:br/>
            <a:r>
              <a:rPr>
                <a:solidFill>
                  <a:srgbClr val="06287E"/>
                </a:solidFill>
                <a:latin typeface="Courier"/>
              </a:rPr>
              <a:t>colnames</a:t>
            </a:r>
            <a:r>
              <a:rPr>
                <a:latin typeface="Courier"/>
              </a:rPr>
              <a:t>(Happiness)</a:t>
            </a:r>
          </a:p>
          <a:p>
            <a:pPr lvl="0" indent="0">
              <a:buNone/>
            </a:pPr>
            <a:r>
              <a:rPr>
                <a:latin typeface="Courier"/>
              </a:rPr>
              <a:t>##  [1] "Country_name"                              
##  [2] "Regional indicator"                        
##  [3] "Happiness_score"                           
##  [4] "Standard error of ladder score"            
##  [5] "upperwhisker"                              
##  [6] "lowerwhisker"                              
##  [7] "Logged GDP per capita"                     
##  [8] "Social support"                            
##  [9] "Healthy life expectancy"                   
## [10] "Freedom to make life choices"              
## [11] "Generosity"                                
## [12] "Perceptions of corruption"                 
## [13] "Ladder score in Dystopia"                  
## [14] "Explained by: Log GDP per capita"          
## [15] "Explained by: Social support"              
## [16] "Explained by: Healthy life expectancy"     
## [17] "Explained by: Freedom to make life choices"
## [18] "Explained by: Generosity"                  
## [19] "Explained by: Perceptions of corruption"   
## [20] "Dystopia + residual"</a:t>
            </a:r>
          </a:p>
          <a:p>
            <a:pPr lvl="0" marL="0" indent="0">
              <a:buNone/>
            </a:pPr>
            <a:r>
              <a:rPr/>
              <a:t>I then decided to arrange the data by </a:t>
            </a:r>
            <a:r>
              <a:rPr>
                <a:latin typeface="Courier"/>
              </a:rPr>
              <a:t>Happiness_score</a:t>
            </a:r>
            <a:r>
              <a:rPr/>
              <a:t> using the </a:t>
            </a:r>
            <a:r>
              <a:rPr>
                <a:latin typeface="Courier"/>
              </a:rPr>
              <a:t>arrange()</a:t>
            </a:r>
            <a:r>
              <a:rPr/>
              <a:t> function with the largest score shown first, thus I needed to use </a:t>
            </a:r>
            <a:r>
              <a:rPr>
                <a:latin typeface="Courier"/>
              </a:rPr>
              <a:t>desc()</a:t>
            </a:r>
            <a:r>
              <a:rPr/>
              <a:t>.</a:t>
            </a:r>
          </a:p>
          <a:p>
            <a:pPr lvl="0" indent="0">
              <a:buNone/>
            </a:pPr>
            <a:r>
              <a:rPr>
                <a:latin typeface="Courier"/>
              </a:rPr>
              <a:t>Happiness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arrange</a:t>
            </a:r>
            <a:r>
              <a:rPr>
                <a:latin typeface="Courier"/>
              </a:rPr>
              <a:t>(</a:t>
            </a:r>
            <a:r>
              <a:rPr>
                <a:solidFill>
                  <a:srgbClr val="06287E"/>
                </a:solidFill>
                <a:latin typeface="Courier"/>
              </a:rPr>
              <a:t>desc</a:t>
            </a:r>
            <a:r>
              <a:rPr>
                <a:latin typeface="Courier"/>
              </a:rPr>
              <a:t>(Happiness_score))</a:t>
            </a:r>
            <a:br/>
            <a:r>
              <a:rPr>
                <a:solidFill>
                  <a:srgbClr val="06287E"/>
                </a:solidFill>
                <a:latin typeface="Courier"/>
              </a:rPr>
              <a:t>head</a:t>
            </a:r>
            <a:r>
              <a:rPr>
                <a:latin typeface="Courier"/>
              </a:rPr>
              <a:t>(Happiness)</a:t>
            </a:r>
          </a:p>
          <a:p>
            <a:pPr lvl="0" indent="0">
              <a:buNone/>
            </a:pPr>
            <a:r>
              <a:rPr>
                <a:latin typeface="Courier"/>
              </a:rPr>
              <a:t>## # A tibble: 6 × 20
##   Country_name `Regional indicator` Happiness_score Standard error of ladder s…¹
##   &lt;chr&gt;        &lt;chr&gt;                          &lt;dbl&gt;                        &lt;dbl&gt;
## 1 Finland      Western Europe                  7.84                        0.032
## 2 Denmark      Western Europe                  7.62                        0.035
## 3 Switzerland  Western Europe                  7.57                        0.036
## 4 Iceland      Western Europe                  7.55                        0.059
## 5 Netherlands  Western Europe                  7.46                        0.027
## 6 Norway       Western Europe                  7.39                        0.035
## # ℹ abbreviated name: ¹​`Standard error of ladder score`
## # ℹ 16 more variables: upperwhisker &lt;dbl&gt;, lowerwhisker &lt;dbl&gt;,
## #   `Logged GDP per capita` &lt;dbl&gt;, `Social support` &lt;dbl&gt;,
## #   `Healthy life expectancy` &lt;dbl&gt;, `Freedom to make life choices` &lt;dbl&gt;,
## #   Generosity &lt;dbl&gt;, `Perceptions of corruption` &lt;dbl&gt;,
## #   `Ladder score in Dystopia` &lt;dbl&gt;, `Explained by: Log GDP per capita` &lt;dbl&gt;,
## #   `Explained by: Social support` &lt;dbl&gt;, …</a:t>
            </a:r>
          </a:p>
          <a:p>
            <a:pPr lvl="0" marL="0" indent="0">
              <a:buNone/>
            </a:pPr>
            <a:r>
              <a:rPr/>
              <a:t>I could see from this that Finland is the top scoring country and that all of the top 6 countries are in Western Europe.</a:t>
            </a:r>
          </a:p>
          <a:p>
            <a:pPr lvl="0" marL="0" indent="0">
              <a:buNone/>
            </a:pPr>
            <a:r>
              <a:rPr/>
              <a:t>I then wanted to know about the US so I filtered for </a:t>
            </a:r>
            <a:r>
              <a:rPr>
                <a:latin typeface="Courier"/>
              </a:rPr>
              <a:t>United States</a:t>
            </a:r>
            <a:r>
              <a:rPr/>
              <a:t> for the </a:t>
            </a:r>
            <a:r>
              <a:rPr>
                <a:latin typeface="Courier"/>
              </a:rPr>
              <a:t>Country_name</a:t>
            </a:r>
            <a:r>
              <a:rPr/>
              <a:t>.</a:t>
            </a:r>
          </a:p>
          <a:p>
            <a:pPr lvl="0" indent="0">
              <a:buNone/>
            </a:pPr>
            <a:r>
              <a:rPr>
                <a:latin typeface="Courier"/>
              </a:rPr>
              <a:t>Happiness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(Country_name </a:t>
            </a:r>
            <a:r>
              <a:rPr>
                <a:solidFill>
                  <a:srgbClr val="4070A0"/>
                </a:solidFill>
                <a:latin typeface="Courier"/>
              </a:rPr>
              <a:t>==</a:t>
            </a:r>
            <a:r>
              <a:rPr>
                <a:latin typeface="Courier"/>
              </a:rPr>
              <a:t> </a:t>
            </a:r>
            <a:r>
              <a:rPr>
                <a:solidFill>
                  <a:srgbClr val="4070A0"/>
                </a:solidFill>
                <a:latin typeface="Courier"/>
              </a:rPr>
              <a:t>"United States"</a:t>
            </a:r>
            <a:r>
              <a:rPr>
                <a:latin typeface="Courier"/>
              </a:rPr>
              <a:t>)</a:t>
            </a:r>
          </a:p>
          <a:p>
            <a:pPr lvl="0" indent="0">
              <a:buNone/>
            </a:pPr>
            <a:r>
              <a:rPr>
                <a:latin typeface="Courier"/>
              </a:rPr>
              <a:t>## # A tibble: 1 × 20
##   Country_name  `Regional indicator`  Happiness_score Standard error of ladder…¹
##   &lt;chr&gt;         &lt;chr&gt;                           &lt;dbl&gt;                      &lt;dbl&gt;
## 1 United States North America and ANZ            6.95                      0.049
## # ℹ abbreviated name: ¹​`Standard error of ladder score`
## # ℹ 16 more variables: upperwhisker &lt;dbl&gt;, lowerwhisker &lt;dbl&gt;,
## #   `Logged GDP per capita` &lt;dbl&gt;, `Social support` &lt;dbl&gt;,
## #   `Healthy life expectancy` &lt;dbl&gt;, `Freedom to make life choices` &lt;dbl&gt;,
## #   Generosity &lt;dbl&gt;, `Perceptions of corruption` &lt;dbl&gt;,
## #   `Ladder score in Dystopia` &lt;dbl&gt;, `Explained by: Log GDP per capita` &lt;dbl&gt;,
## #   `Explained by: Social support` &lt;dbl&gt;, …</a:t>
            </a:r>
          </a:p>
          <a:p>
            <a:pPr lvl="0" marL="0" indent="0">
              <a:buNone/>
            </a:pPr>
            <a:r>
              <a:rPr/>
              <a:t>Looks like the score was fairly high for the United States - much higher than Dystopia.</a:t>
            </a:r>
          </a:p>
          <a:p>
            <a:pPr lvl="0" marL="0" indent="0">
              <a:buNone/>
            </a:pPr>
            <a:r>
              <a:rPr/>
              <a:t>I wondered how the US ranked, so I decided to make a variable for rank. To do so I used the </a:t>
            </a:r>
            <a:r>
              <a:rPr>
                <a:latin typeface="Courier"/>
              </a:rPr>
              <a:t>seq()</a:t>
            </a:r>
            <a:r>
              <a:rPr/>
              <a:t> function to create a sequence of numbers from 1 to 149 the number of countries or rows in the data.</a:t>
            </a:r>
          </a:p>
          <a:p>
            <a:pPr lvl="0" indent="0">
              <a:buNone/>
            </a:pPr>
            <a:r>
              <a:rPr>
                <a:latin typeface="Courier"/>
              </a:rPr>
              <a:t>Happiness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rank =</a:t>
            </a:r>
            <a:r>
              <a:rPr>
                <a:latin typeface="Courier"/>
              </a:rPr>
              <a:t> </a:t>
            </a:r>
            <a:r>
              <a:rPr>
                <a:solidFill>
                  <a:srgbClr val="06287E"/>
                </a:solidFill>
                <a:latin typeface="Courier"/>
              </a:rPr>
              <a:t>seq</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149</a:t>
            </a:r>
            <a:r>
              <a:rPr>
                <a:latin typeface="Courier"/>
              </a:rPr>
              <a:t>))</a:t>
            </a:r>
            <a:br/>
            <a:r>
              <a:rPr>
                <a:latin typeface="Courier"/>
              </a:rPr>
              <a:t>Happiness</a:t>
            </a:r>
            <a:r>
              <a:rPr>
                <a:solidFill>
                  <a:srgbClr val="4070A0"/>
                </a:solidFill>
                <a:latin typeface="Courier"/>
              </a:rPr>
              <a:t>$</a:t>
            </a:r>
            <a:r>
              <a:rPr>
                <a:latin typeface="Courier"/>
              </a:rPr>
              <a:t>rank</a:t>
            </a:r>
          </a:p>
          <a:p>
            <a:pPr lvl="0" indent="0">
              <a:buNone/>
            </a:pPr>
            <a:r>
              <a:rPr>
                <a:latin typeface="Courier"/>
              </a:rPr>
              <a:t>##   [1]   1   2   3   4   5   6   7   8   9  10  11  12  13  14  15  16  17  18
##  [19]  19  20  21  22  23  24  25  26  27  28  29  30  31  32  33  34  35  36
##  [37]  37  38  39  40  41  42  43  44  45  46  47  48  49  50  51  52  53  54
##  [55]  55  56  57  58  59  60  61  62  63  64  65  66  67  68  69  70  71  72
##  [73]  73  74  75  76  77  78  79  80  81  82  83  84  85  86  87  88  89  90
##  [91]  91  92  93  94  95  96  97  98  99 100 101 102 103 104 105 106 107 108
## [109] 109 110 111 112 113 114 115 116 117 118 119 120 121 122 123 124 125 126
## [127] 127 128 129 130 131 132 133 134 135 136 137 138 139 140 141 142 143 144
## [145] 145 146 147 148 149</a:t>
            </a:r>
          </a:p>
          <a:p>
            <a:pPr lvl="0" marL="0" indent="0">
              <a:buNone/>
            </a:pPr>
            <a:r>
              <a:rPr/>
              <a:t>I then looked again at the US using </a:t>
            </a:r>
            <a:r>
              <a:rPr>
                <a:latin typeface="Courier"/>
              </a:rPr>
              <a:t>filter()</a:t>
            </a:r>
            <a:r>
              <a:rPr/>
              <a:t>. I used the </a:t>
            </a:r>
            <a:r>
              <a:rPr>
                <a:latin typeface="Courier"/>
              </a:rPr>
              <a:t>pull()</a:t>
            </a:r>
            <a:r>
              <a:rPr/>
              <a:t> function to get the rank for the US.</a:t>
            </a:r>
          </a:p>
          <a:p>
            <a:pPr lvl="0" indent="0">
              <a:buNone/>
            </a:pPr>
            <a:r>
              <a:rPr>
                <a:latin typeface="Courier"/>
              </a:rPr>
              <a:t>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(Country_name </a:t>
            </a:r>
            <a:r>
              <a:rPr>
                <a:solidFill>
                  <a:srgbClr val="4070A0"/>
                </a:solidFill>
                <a:latin typeface="Courier"/>
              </a:rPr>
              <a:t>==</a:t>
            </a:r>
            <a:r>
              <a:rPr>
                <a:latin typeface="Courier"/>
              </a:rPr>
              <a:t> </a:t>
            </a:r>
            <a:r>
              <a:rPr>
                <a:solidFill>
                  <a:srgbClr val="4070A0"/>
                </a:solidFill>
                <a:latin typeface="Courier"/>
              </a:rPr>
              <a:t>"United States"</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(rank)</a:t>
            </a:r>
          </a:p>
          <a:p>
            <a:pPr lvl="0" indent="0">
              <a:buNone/>
            </a:pPr>
            <a:r>
              <a:rPr>
                <a:latin typeface="Courier"/>
              </a:rPr>
              <a:t>## [1] 19</a:t>
            </a:r>
          </a:p>
          <a:p>
            <a:pPr lvl="0" marL="0" indent="0">
              <a:buNone/>
            </a:pPr>
            <a:r>
              <a:rPr/>
              <a:t>The US ranked 19 in 2021 for happiness out of the 149 countries.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Data</a:t>
            </a:r>
            <a:r>
              <a:rPr/>
              <a:t> </a:t>
            </a:r>
            <a:r>
              <a:rPr/>
              <a:t>Visualization</a:t>
            </a:r>
          </a:p>
        </p:txBody>
      </p:sp>
      <p:sp>
        <p:nvSpPr>
          <p:cNvPr id="3" name="Content Placeholder 2"/>
          <p:cNvSpPr>
            <a:spLocks noGrp="1"/>
          </p:cNvSpPr>
          <p:nvPr>
            <p:ph idx="1"/>
          </p:nvPr>
        </p:nvSpPr>
        <p:spPr/>
        <p:txBody>
          <a:bodyPr/>
          <a:lstStyle/>
          <a:p>
            <a:pPr lvl="0" marL="0" indent="0">
              <a:buNone/>
            </a:pPr>
            <a:r>
              <a:rPr/>
              <a:t>I decided to make a plot of the top 5 countries using </a:t>
            </a:r>
            <a:r>
              <a:rPr>
                <a:latin typeface="Courier"/>
              </a:rPr>
              <a:t>geom_point()</a:t>
            </a:r>
            <a:r>
              <a:rPr/>
              <a:t> and </a:t>
            </a:r>
            <a:r>
              <a:rPr>
                <a:latin typeface="Courier"/>
              </a:rPr>
              <a:t>ggplot()</a:t>
            </a:r>
            <a:r>
              <a:rPr/>
              <a:t>. First I created a new dataset of just the top 5 ranking countries using the </a:t>
            </a:r>
            <a:r>
              <a:rPr>
                <a:latin typeface="Courier"/>
              </a:rPr>
              <a:t>filter()</a:t>
            </a:r>
            <a:r>
              <a:rPr/>
              <a:t> function to filter for countries with a </a:t>
            </a:r>
            <a:r>
              <a:rPr>
                <a:latin typeface="Courier"/>
              </a:rPr>
              <a:t>rank</a:t>
            </a:r>
            <a:r>
              <a:rPr/>
              <a:t> of less than 5.</a:t>
            </a:r>
          </a:p>
          <a:p>
            <a:pPr lvl="0" indent="0">
              <a:buNone/>
            </a:pPr>
            <a:r>
              <a:rPr>
                <a:latin typeface="Courier"/>
              </a:rPr>
              <a:t>top5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(rank </a:t>
            </a:r>
            <a:r>
              <a:rPr>
                <a:solidFill>
                  <a:srgbClr val="4070A0"/>
                </a:solidFill>
                <a:latin typeface="Courier"/>
              </a:rPr>
              <a:t>&lt;</a:t>
            </a:r>
            <a:r>
              <a:rPr>
                <a:latin typeface="Courier"/>
              </a:rPr>
              <a:t> </a:t>
            </a:r>
            <a:r>
              <a:rPr>
                <a:solidFill>
                  <a:srgbClr val="40A070"/>
                </a:solidFill>
                <a:latin typeface="Courier"/>
              </a:rPr>
              <a:t>5</a:t>
            </a:r>
            <a:r>
              <a:rPr>
                <a:latin typeface="Courier"/>
              </a:rPr>
              <a:t>)</a:t>
            </a:r>
            <a:br/>
            <a:br/>
            <a:r>
              <a:rPr>
                <a:solidFill>
                  <a:srgbClr val="06287E"/>
                </a:solidFill>
                <a:latin typeface="Courier"/>
              </a:rPr>
              <a:t>ggplot</a:t>
            </a:r>
            <a:r>
              <a:rPr>
                <a:latin typeface="Courier"/>
              </a:rPr>
              <a:t>(</a:t>
            </a:r>
            <a:br/>
            <a:r>
              <a:rPr>
                <a:latin typeface="Courier"/>
              </a:rPr>
              <a:t>  </a:t>
            </a:r>
            <a:r>
              <a:rPr>
                <a:solidFill>
                  <a:srgbClr val="7D9029"/>
                </a:solidFill>
                <a:latin typeface="Courier"/>
              </a:rPr>
              <a:t>data =</a:t>
            </a:r>
            <a:r>
              <a:rPr>
                <a:latin typeface="Courier"/>
              </a:rPr>
              <a:t> top5,</a:t>
            </a:r>
            <a:br/>
            <a:r>
              <a:rPr>
                <a:latin typeface="Courier"/>
              </a:rPr>
              <a:t>  </a:t>
            </a:r>
            <a:r>
              <a:rPr>
                <a:solidFill>
                  <a:srgbClr val="06287E"/>
                </a:solidFill>
                <a:latin typeface="Courier"/>
              </a:rPr>
              <a:t>aes</a:t>
            </a:r>
            <a:r>
              <a:rPr>
                <a:latin typeface="Courier"/>
              </a:rPr>
              <a:t>(</a:t>
            </a:r>
            <a:br/>
            <a:r>
              <a:rPr>
                <a:latin typeface="Courier"/>
              </a:rPr>
              <a:t>    </a:t>
            </a:r>
            <a:r>
              <a:rPr>
                <a:solidFill>
                  <a:srgbClr val="7D9029"/>
                </a:solidFill>
                <a:latin typeface="Courier"/>
              </a:rPr>
              <a:t>x =</a:t>
            </a:r>
            <a:r>
              <a:rPr>
                <a:latin typeface="Courier"/>
              </a:rPr>
              <a:t> Country_name,</a:t>
            </a:r>
            <a:br/>
            <a:r>
              <a:rPr>
                <a:latin typeface="Courier"/>
              </a:rPr>
              <a:t>    </a:t>
            </a:r>
            <a:r>
              <a:rPr>
                <a:solidFill>
                  <a:srgbClr val="7D9029"/>
                </a:solidFill>
                <a:latin typeface="Courier"/>
              </a:rPr>
              <a:t>y =</a:t>
            </a:r>
            <a:r>
              <a:rPr>
                <a:latin typeface="Courier"/>
              </a:rPr>
              <a:t> Happiness_score</a:t>
            </a:r>
            <a:br/>
            <a:r>
              <a:rPr>
                <a:latin typeface="Courier"/>
              </a:rPr>
              <a:t>  )</a:t>
            </a:r>
            <a:br/>
            <a:r>
              <a:rPr>
                <a:latin typeface="Courier"/>
              </a:rPr>
              <a:t>) </a:t>
            </a:r>
            <a:r>
              <a:rPr>
                <a:solidFill>
                  <a:srgbClr val="4070A0"/>
                </a:solidFill>
                <a:latin typeface="Courier"/>
              </a:rPr>
              <a:t>+</a:t>
            </a:r>
            <a:br/>
            <a:r>
              <a:rPr>
                <a:latin typeface="Courier"/>
              </a:rPr>
              <a:t>  </a:t>
            </a:r>
            <a:r>
              <a:rPr>
                <a:solidFill>
                  <a:srgbClr val="06287E"/>
                </a:solidFill>
                <a:latin typeface="Courier"/>
              </a:rPr>
              <a:t>geom_point</a:t>
            </a:r>
            <a:r>
              <a:rPr>
                <a:latin typeface="Courie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Project_Example/Project_Example_files/figure-pptx/unnamed-chunk-11-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 I felt that this plot could be improved. So first I used I made </a:t>
            </a:r>
            <a:r>
              <a:rPr>
                <a:latin typeface="Courier"/>
              </a:rPr>
              <a:t>Country_name</a:t>
            </a:r>
            <a:r>
              <a:rPr/>
              <a:t> a factor and then reordered it by the </a:t>
            </a:r>
            <a:r>
              <a:rPr>
                <a:latin typeface="Courier"/>
              </a:rPr>
              <a:t>Happiness_score</a:t>
            </a:r>
            <a:r>
              <a:rPr/>
              <a:t> variable.</a:t>
            </a:r>
          </a:p>
          <a:p>
            <a:pPr lvl="0" indent="0">
              <a:buNone/>
            </a:pPr>
            <a:r>
              <a:rPr>
                <a:latin typeface="Courier"/>
              </a:rPr>
              <a:t>top5 </a:t>
            </a:r>
            <a:r>
              <a:rPr>
                <a:solidFill>
                  <a:srgbClr val="007020"/>
                </a:solidFill>
                <a:latin typeface="Courier"/>
              </a:rPr>
              <a:t>&lt;-</a:t>
            </a:r>
            <a:r>
              <a:rPr>
                <a:latin typeface="Courier"/>
              </a:rPr>
              <a:t> top5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mutate</a:t>
            </a:r>
            <a:r>
              <a:rPr>
                <a:latin typeface="Courier"/>
              </a:rPr>
              <a:t>(</a:t>
            </a:r>
            <a:br/>
            <a:r>
              <a:rPr>
                <a:latin typeface="Courier"/>
              </a:rPr>
              <a:t>    </a:t>
            </a:r>
            <a:r>
              <a:rPr>
                <a:solidFill>
                  <a:srgbClr val="7D9029"/>
                </a:solidFill>
                <a:latin typeface="Courier"/>
              </a:rPr>
              <a:t>Country_name =</a:t>
            </a:r>
            <a:r>
              <a:rPr>
                <a:latin typeface="Courier"/>
              </a:rPr>
              <a:t> </a:t>
            </a:r>
            <a:r>
              <a:rPr>
                <a:solidFill>
                  <a:srgbClr val="06287E"/>
                </a:solidFill>
                <a:latin typeface="Courier"/>
              </a:rPr>
              <a:t>as_factor</a:t>
            </a:r>
            <a:r>
              <a:rPr>
                <a:latin typeface="Courier"/>
              </a:rPr>
              <a:t>(Country_name),</a:t>
            </a:r>
            <a:br/>
            <a:r>
              <a:rPr>
                <a:latin typeface="Courier"/>
              </a:rPr>
              <a:t>    </a:t>
            </a:r>
            <a:r>
              <a:rPr>
                <a:solidFill>
                  <a:srgbClr val="7D9029"/>
                </a:solidFill>
                <a:latin typeface="Courier"/>
              </a:rPr>
              <a:t>Country_name =</a:t>
            </a:r>
            <a:r>
              <a:rPr>
                <a:latin typeface="Courier"/>
              </a:rPr>
              <a:t> </a:t>
            </a:r>
            <a:r>
              <a:rPr>
                <a:solidFill>
                  <a:srgbClr val="06287E"/>
                </a:solidFill>
                <a:latin typeface="Courier"/>
              </a:rPr>
              <a:t>fct_reorder</a:t>
            </a:r>
            <a:r>
              <a:rPr>
                <a:latin typeface="Courier"/>
              </a:rPr>
              <a:t>(Country_name, Happiness_score)</a:t>
            </a:r>
            <a:br/>
            <a:r>
              <a:rPr>
                <a:latin typeface="Courier"/>
              </a:rPr>
              <a:t>  )</a:t>
            </a:r>
            <a:br/>
            <a:br/>
            <a:r>
              <a:rPr>
                <a:solidFill>
                  <a:srgbClr val="06287E"/>
                </a:solidFill>
                <a:latin typeface="Courier"/>
              </a:rPr>
              <a:t>ggplot</a:t>
            </a:r>
            <a:r>
              <a:rPr>
                <a:latin typeface="Courier"/>
              </a:rPr>
              <a:t>(</a:t>
            </a:r>
            <a:br/>
            <a:r>
              <a:rPr>
                <a:latin typeface="Courier"/>
              </a:rPr>
              <a:t>  </a:t>
            </a:r>
            <a:r>
              <a:rPr>
                <a:solidFill>
                  <a:srgbClr val="7D9029"/>
                </a:solidFill>
                <a:latin typeface="Courier"/>
              </a:rPr>
              <a:t>data =</a:t>
            </a:r>
            <a:r>
              <a:rPr>
                <a:latin typeface="Courier"/>
              </a:rPr>
              <a:t> top5,</a:t>
            </a:r>
            <a:br/>
            <a:r>
              <a:rPr>
                <a:latin typeface="Courier"/>
              </a:rPr>
              <a:t>  </a:t>
            </a:r>
            <a:r>
              <a:rPr>
                <a:solidFill>
                  <a:srgbClr val="06287E"/>
                </a:solidFill>
                <a:latin typeface="Courier"/>
              </a:rPr>
              <a:t>aes</a:t>
            </a:r>
            <a:r>
              <a:rPr>
                <a:latin typeface="Courier"/>
              </a:rPr>
              <a:t>(</a:t>
            </a:r>
            <a:br/>
            <a:r>
              <a:rPr>
                <a:latin typeface="Courier"/>
              </a:rPr>
              <a:t>    </a:t>
            </a:r>
            <a:r>
              <a:rPr>
                <a:solidFill>
                  <a:srgbClr val="7D9029"/>
                </a:solidFill>
                <a:latin typeface="Courier"/>
              </a:rPr>
              <a:t>x =</a:t>
            </a:r>
            <a:r>
              <a:rPr>
                <a:latin typeface="Courier"/>
              </a:rPr>
              <a:t> Country_name,</a:t>
            </a:r>
            <a:br/>
            <a:r>
              <a:rPr>
                <a:latin typeface="Courier"/>
              </a:rPr>
              <a:t>    </a:t>
            </a:r>
            <a:r>
              <a:rPr>
                <a:solidFill>
                  <a:srgbClr val="7D9029"/>
                </a:solidFill>
                <a:latin typeface="Courier"/>
              </a:rPr>
              <a:t>y =</a:t>
            </a:r>
            <a:r>
              <a:rPr>
                <a:latin typeface="Courier"/>
              </a:rPr>
              <a:t> Happiness_score</a:t>
            </a:r>
            <a:br/>
            <a:r>
              <a:rPr>
                <a:latin typeface="Courier"/>
              </a:rPr>
              <a:t>  )</a:t>
            </a:r>
            <a:br/>
            <a:r>
              <a:rPr>
                <a:latin typeface="Courier"/>
              </a:rPr>
              <a:t>) </a:t>
            </a:r>
            <a:r>
              <a:rPr>
                <a:solidFill>
                  <a:srgbClr val="4070A0"/>
                </a:solidFill>
                <a:latin typeface="Courier"/>
              </a:rPr>
              <a:t>+</a:t>
            </a:r>
            <a:br/>
            <a:r>
              <a:rPr>
                <a:latin typeface="Courier"/>
              </a:rPr>
              <a:t>  </a:t>
            </a:r>
            <a:r>
              <a:rPr>
                <a:solidFill>
                  <a:srgbClr val="06287E"/>
                </a:solidFill>
                <a:latin typeface="Courier"/>
              </a:rPr>
              <a:t>geom_point</a:t>
            </a:r>
            <a:r>
              <a:rPr>
                <a:latin typeface="Courie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Project_Example/Project_Example_files/figure-pptx/unnamed-chunk-12-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p>
          <a:p>
            <a:pPr lvl="0" marL="0" indent="0">
              <a:buNone/>
            </a:pPr>
            <a:r>
              <a:rPr/>
              <a:t>I then decided to make a plot of a few countries of interest. Since I again wanted to have countries ordered by the </a:t>
            </a:r>
            <a:r>
              <a:rPr>
                <a:latin typeface="Courier"/>
              </a:rPr>
              <a:t>Happiness_score</a:t>
            </a:r>
            <a:r>
              <a:rPr/>
              <a:t>, I figured I might look at additional countries, so I decided to use the full dataset </a:t>
            </a:r>
            <a:r>
              <a:rPr>
                <a:latin typeface="Courier"/>
              </a:rPr>
              <a:t>Happiness</a:t>
            </a:r>
            <a:r>
              <a:rPr/>
              <a:t>.</a:t>
            </a:r>
          </a:p>
          <a:p>
            <a:pPr lvl="0" indent="0">
              <a:buNone/>
            </a:pPr>
            <a:r>
              <a:rPr>
                <a:latin typeface="Courier"/>
              </a:rPr>
              <a:t>Happiness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mutate</a:t>
            </a:r>
            <a:r>
              <a:rPr>
                <a:latin typeface="Courier"/>
              </a:rPr>
              <a:t>(</a:t>
            </a:r>
            <a:br/>
            <a:r>
              <a:rPr>
                <a:latin typeface="Courier"/>
              </a:rPr>
              <a:t>    </a:t>
            </a:r>
            <a:r>
              <a:rPr>
                <a:solidFill>
                  <a:srgbClr val="7D9029"/>
                </a:solidFill>
                <a:latin typeface="Courier"/>
              </a:rPr>
              <a:t>Country_name =</a:t>
            </a:r>
            <a:r>
              <a:rPr>
                <a:latin typeface="Courier"/>
              </a:rPr>
              <a:t> </a:t>
            </a:r>
            <a:r>
              <a:rPr>
                <a:solidFill>
                  <a:srgbClr val="06287E"/>
                </a:solidFill>
                <a:latin typeface="Courier"/>
              </a:rPr>
              <a:t>as_factor</a:t>
            </a:r>
            <a:r>
              <a:rPr>
                <a:latin typeface="Courier"/>
              </a:rPr>
              <a:t>(Country_name),</a:t>
            </a:r>
            <a:br/>
            <a:r>
              <a:rPr>
                <a:latin typeface="Courier"/>
              </a:rPr>
              <a:t>    </a:t>
            </a:r>
            <a:r>
              <a:rPr>
                <a:solidFill>
                  <a:srgbClr val="7D9029"/>
                </a:solidFill>
                <a:latin typeface="Courier"/>
              </a:rPr>
              <a:t>Country_name =</a:t>
            </a:r>
            <a:r>
              <a:rPr>
                <a:latin typeface="Courier"/>
              </a:rPr>
              <a:t> </a:t>
            </a:r>
            <a:r>
              <a:rPr>
                <a:solidFill>
                  <a:srgbClr val="06287E"/>
                </a:solidFill>
                <a:latin typeface="Courier"/>
              </a:rPr>
              <a:t>fct_reorder</a:t>
            </a:r>
            <a:r>
              <a:rPr>
                <a:latin typeface="Courier"/>
              </a:rPr>
              <a:t>(Country_name, Happiness_score)</a:t>
            </a:r>
            <a:br/>
            <a:r>
              <a:rPr>
                <a:latin typeface="Courier"/>
              </a:rPr>
              <a:t>  )</a:t>
            </a:r>
          </a:p>
          <a:p>
            <a:pPr lvl="0" marL="0" indent="0">
              <a:buNone/>
            </a:pPr>
            <a:r>
              <a:rPr/>
              <a:t>Now I check out these other countries that I was interested in by filtering for them from the </a:t>
            </a:r>
            <a:r>
              <a:rPr>
                <a:latin typeface="Courier"/>
              </a:rPr>
              <a:t>Happiness</a:t>
            </a:r>
            <a:r>
              <a:rPr/>
              <a:t> data set and creating another plot.</a:t>
            </a:r>
          </a:p>
          <a:p>
            <a:pPr lvl="0" indent="0">
              <a:buNone/>
            </a:pPr>
            <a:r>
              <a:rPr>
                <a:latin typeface="Courier"/>
              </a:rPr>
              <a:t>int_Country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(Country_name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"China"</a:t>
            </a:r>
            <a:r>
              <a:rPr>
                <a:latin typeface="Courier"/>
              </a:rPr>
              <a:t>, </a:t>
            </a:r>
            <a:r>
              <a:rPr>
                <a:solidFill>
                  <a:srgbClr val="4070A0"/>
                </a:solidFill>
                <a:latin typeface="Courier"/>
              </a:rPr>
              <a:t>"United States"</a:t>
            </a:r>
            <a:r>
              <a:rPr>
                <a:latin typeface="Courier"/>
              </a:rPr>
              <a:t>, </a:t>
            </a:r>
            <a:r>
              <a:rPr>
                <a:solidFill>
                  <a:srgbClr val="4070A0"/>
                </a:solidFill>
                <a:latin typeface="Courier"/>
              </a:rPr>
              <a:t>"India"</a:t>
            </a:r>
            <a:r>
              <a:rPr>
                <a:latin typeface="Courier"/>
              </a:rPr>
              <a:t>, </a:t>
            </a:r>
            <a:r>
              <a:rPr>
                <a:solidFill>
                  <a:srgbClr val="4070A0"/>
                </a:solidFill>
                <a:latin typeface="Courier"/>
              </a:rPr>
              <a:t>"Mexico"</a:t>
            </a:r>
            <a:r>
              <a:rPr>
                <a:latin typeface="Courier"/>
              </a:rPr>
              <a:t>))</a:t>
            </a:r>
            <a:br/>
            <a:br/>
            <a:r>
              <a:rPr>
                <a:solidFill>
                  <a:srgbClr val="06287E"/>
                </a:solidFill>
                <a:latin typeface="Courier"/>
              </a:rPr>
              <a:t>ggplot</a:t>
            </a:r>
            <a:r>
              <a:rPr>
                <a:latin typeface="Courier"/>
              </a:rPr>
              <a:t>(</a:t>
            </a:r>
            <a:br/>
            <a:r>
              <a:rPr>
                <a:latin typeface="Courier"/>
              </a:rPr>
              <a:t>  </a:t>
            </a:r>
            <a:r>
              <a:rPr>
                <a:solidFill>
                  <a:srgbClr val="7D9029"/>
                </a:solidFill>
                <a:latin typeface="Courier"/>
              </a:rPr>
              <a:t>data =</a:t>
            </a:r>
            <a:r>
              <a:rPr>
                <a:latin typeface="Courier"/>
              </a:rPr>
              <a:t> int_Country,</a:t>
            </a:r>
            <a:br/>
            <a:r>
              <a:rPr>
                <a:latin typeface="Courier"/>
              </a:rPr>
              <a:t>  </a:t>
            </a:r>
            <a:r>
              <a:rPr>
                <a:solidFill>
                  <a:srgbClr val="06287E"/>
                </a:solidFill>
                <a:latin typeface="Courier"/>
              </a:rPr>
              <a:t>aes</a:t>
            </a:r>
            <a:r>
              <a:rPr>
                <a:latin typeface="Courier"/>
              </a:rPr>
              <a:t>(</a:t>
            </a:r>
            <a:br/>
            <a:r>
              <a:rPr>
                <a:latin typeface="Courier"/>
              </a:rPr>
              <a:t>    </a:t>
            </a:r>
            <a:r>
              <a:rPr>
                <a:solidFill>
                  <a:srgbClr val="7D9029"/>
                </a:solidFill>
                <a:latin typeface="Courier"/>
              </a:rPr>
              <a:t>x =</a:t>
            </a:r>
            <a:r>
              <a:rPr>
                <a:latin typeface="Courier"/>
              </a:rPr>
              <a:t> Country_name,</a:t>
            </a:r>
            <a:br/>
            <a:r>
              <a:rPr>
                <a:latin typeface="Courier"/>
              </a:rPr>
              <a:t>    </a:t>
            </a:r>
            <a:r>
              <a:rPr>
                <a:solidFill>
                  <a:srgbClr val="7D9029"/>
                </a:solidFill>
                <a:latin typeface="Courier"/>
              </a:rPr>
              <a:t>y =</a:t>
            </a:r>
            <a:r>
              <a:rPr>
                <a:latin typeface="Courier"/>
              </a:rPr>
              <a:t> Happiness_score</a:t>
            </a:r>
            <a:br/>
            <a:r>
              <a:rPr>
                <a:latin typeface="Courier"/>
              </a:rPr>
              <a:t>  ),</a:t>
            </a:r>
            <a:br/>
            <a:r>
              <a:rPr>
                <a:latin typeface="Courier"/>
              </a:rPr>
              <a:t>  </a:t>
            </a:r>
            <a:r>
              <a:rPr>
                <a:solidFill>
                  <a:srgbClr val="7D9029"/>
                </a:solidFill>
                <a:latin typeface="Courier"/>
              </a:rPr>
              <a:t>group =</a:t>
            </a:r>
            <a:r>
              <a:rPr>
                <a:latin typeface="Courier"/>
              </a:rPr>
              <a:t> Country_name</a:t>
            </a:r>
            <a:br/>
            <a:r>
              <a:rPr>
                <a:latin typeface="Courier"/>
              </a:rPr>
              <a:t>) </a:t>
            </a:r>
            <a:r>
              <a:rPr>
                <a:solidFill>
                  <a:srgbClr val="4070A0"/>
                </a:solidFill>
                <a:latin typeface="Courier"/>
              </a:rPr>
              <a:t>+</a:t>
            </a:r>
            <a:br/>
            <a:r>
              <a:rPr>
                <a:latin typeface="Courier"/>
              </a:rPr>
              <a:t>  </a:t>
            </a:r>
            <a:r>
              <a:rPr>
                <a:solidFill>
                  <a:srgbClr val="06287E"/>
                </a:solidFill>
                <a:latin typeface="Courier"/>
              </a:rPr>
              <a:t>geom_point</a:t>
            </a:r>
            <a:r>
              <a:rPr>
                <a:latin typeface="Courie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Project_Example/Project_Example_files/figure-pptx/unnamed-chunk-14-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p>
          <a:p>
            <a:pPr lvl="0" marL="0" indent="0">
              <a:buNone/>
            </a:pPr>
            <a:r>
              <a:rPr/>
              <a:t>I can see from this plot that the United States ranked highest. Mexico ranked second, China third, and India fourth.</a:t>
            </a:r>
          </a:p>
          <a:p>
            <a:pPr lvl="0" marL="0" indent="0">
              <a:buNone/>
            </a:pPr>
            <a:r>
              <a:rPr/>
              <a:t>I then decided to compare different regions. Using </a:t>
            </a:r>
            <a:r>
              <a:rPr>
                <a:latin typeface="Courier"/>
              </a:rPr>
              <a:t>count()</a:t>
            </a:r>
            <a:r>
              <a:rPr/>
              <a:t> and </a:t>
            </a:r>
            <a:r>
              <a:rPr>
                <a:latin typeface="Courier"/>
              </a:rPr>
              <a:t>tally()</a:t>
            </a:r>
            <a:r>
              <a:rPr/>
              <a:t> I determined that there were 10 different regions.</a:t>
            </a:r>
          </a:p>
          <a:p>
            <a:pPr lvl="0" indent="0">
              <a:buNone/>
            </a:pPr>
            <a:r>
              <a:rPr>
                <a:solidFill>
                  <a:srgbClr val="06287E"/>
                </a:solidFill>
                <a:latin typeface="Courier"/>
              </a:rPr>
              <a:t>count</a:t>
            </a:r>
            <a:r>
              <a:rPr>
                <a:latin typeface="Courier"/>
              </a:rPr>
              <a:t>(Happiness, </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r>
              <a:rPr>
                <a:latin typeface="Courier"/>
              </a:rPr>
              <a:t>)</a:t>
            </a:r>
          </a:p>
          <a:p>
            <a:pPr lvl="0" indent="0">
              <a:buNone/>
            </a:pPr>
            <a:r>
              <a:rPr>
                <a:latin typeface="Courier"/>
              </a:rPr>
              <a:t>## # A tibble: 10 × 2
##    `Regional indicator`                   n
##    &lt;chr&gt;                              &lt;int&gt;
##  1 Central and Eastern Europe            17
##  2 Commonwealth of Independent States    12
##  3 East Asia                              6
##  4 Latin America and Caribbean           20
##  5 Middle East and North Africa          17
##  6 North America and ANZ                  4
##  7 South Asia                             7
##  8 Southeast Asia                         9
##  9 Sub-Saharan Africa                    36
## 10 Western Europe                        21</a:t>
            </a:r>
          </a:p>
          <a:p>
            <a:pPr lvl="0" indent="0">
              <a:buNone/>
            </a:pPr>
            <a:r>
              <a:rPr>
                <a:solidFill>
                  <a:srgbClr val="06287E"/>
                </a:solidFill>
                <a:latin typeface="Courier"/>
              </a:rPr>
              <a:t>count</a:t>
            </a:r>
            <a:r>
              <a:rPr>
                <a:latin typeface="Courier"/>
              </a:rPr>
              <a:t>(Happiness, </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r>
              <a:rPr>
                <a:latin typeface="Courier"/>
              </a:rPr>
              <a:t>)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tally</a:t>
            </a:r>
            <a:r>
              <a:rPr>
                <a:latin typeface="Courier"/>
              </a:rPr>
              <a:t>()</a:t>
            </a:r>
          </a:p>
          <a:p>
            <a:pPr lvl="0" indent="0">
              <a:buNone/>
            </a:pPr>
            <a:r>
              <a:rPr>
                <a:latin typeface="Courier"/>
              </a:rPr>
              <a:t>## # A tibble: 1 × 1
##       n
##   &lt;int&gt;
## 1    10</a:t>
            </a:r>
          </a:p>
          <a:p>
            <a:pPr lvl="0" marL="0" indent="0">
              <a:buNone/>
            </a:pPr>
            <a:r>
              <a:rPr/>
              <a:t>I then used </a:t>
            </a:r>
            <a:r>
              <a:rPr>
                <a:latin typeface="Courier"/>
              </a:rPr>
              <a:t>ggplot()</a:t>
            </a:r>
            <a:r>
              <a:rPr/>
              <a:t> and </a:t>
            </a:r>
            <a:r>
              <a:rPr>
                <a:latin typeface="Courier"/>
              </a:rPr>
              <a:t>geom_boxplot()</a:t>
            </a:r>
            <a:r>
              <a:rPr/>
              <a:t> to create a boxplot of the happiness scores for the countries in these different regions. I decided to use </a:t>
            </a:r>
            <a:r>
              <a:rPr>
                <a:latin typeface="Courier"/>
              </a:rPr>
              <a:t>coord_flip()</a:t>
            </a:r>
            <a:r>
              <a:rPr/>
              <a:t> to flip the coordinates to make it easier to read the different region names. I colored the boxplots but using the </a:t>
            </a:r>
            <a:r>
              <a:rPr>
                <a:latin typeface="Courier"/>
              </a:rPr>
              <a:t>fill</a:t>
            </a:r>
            <a:r>
              <a:rPr/>
              <a:t> argument within the </a:t>
            </a:r>
            <a:r>
              <a:rPr>
                <a:latin typeface="Courier"/>
              </a:rPr>
              <a:t>aes</a:t>
            </a:r>
            <a:r>
              <a:rPr/>
              <a:t> specifications. I changed the style of the plot with </a:t>
            </a:r>
            <a:r>
              <a:rPr>
                <a:latin typeface="Courier"/>
              </a:rPr>
              <a:t>theme_linedraw()</a:t>
            </a:r>
            <a:r>
              <a:rPr/>
              <a:t> and I removed the legend using </a:t>
            </a:r>
            <a:r>
              <a:rPr>
                <a:latin typeface="Courier"/>
              </a:rPr>
              <a:t>theme(legend.position = "none")</a:t>
            </a:r>
            <a:r>
              <a:rPr/>
              <a:t>.</a:t>
            </a:r>
          </a:p>
          <a:p>
            <a:pPr lvl="0" indent="0">
              <a:buNone/>
            </a:pPr>
            <a:r>
              <a:rPr>
                <a:solidFill>
                  <a:srgbClr val="06287E"/>
                </a:solidFill>
                <a:latin typeface="Courier"/>
              </a:rPr>
              <a:t>ggplot</a:t>
            </a:r>
            <a:r>
              <a:rPr>
                <a:latin typeface="Courier"/>
              </a:rPr>
              <a:t>(</a:t>
            </a:r>
            <a:br/>
            <a:r>
              <a:rPr>
                <a:latin typeface="Courier"/>
              </a:rPr>
              <a:t>  </a:t>
            </a:r>
            <a:r>
              <a:rPr>
                <a:solidFill>
                  <a:srgbClr val="7D9029"/>
                </a:solidFill>
                <a:latin typeface="Courier"/>
              </a:rPr>
              <a:t>data =</a:t>
            </a:r>
            <a:r>
              <a:rPr>
                <a:latin typeface="Courier"/>
              </a:rPr>
              <a:t> Happiness,</a:t>
            </a:r>
            <a:br/>
            <a:r>
              <a:rPr>
                <a:latin typeface="Courier"/>
              </a:rPr>
              <a:t>  </a:t>
            </a:r>
            <a:r>
              <a:rPr>
                <a:solidFill>
                  <a:srgbClr val="06287E"/>
                </a:solidFill>
                <a:latin typeface="Courier"/>
              </a:rPr>
              <a:t>aes</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r>
              <a:rPr>
                <a:latin typeface="Courier"/>
              </a:rPr>
              <a:t>,</a:t>
            </a:r>
            <a:br/>
            <a:r>
              <a:rPr>
                <a:latin typeface="Courier"/>
              </a:rPr>
              <a:t>    </a:t>
            </a:r>
            <a:r>
              <a:rPr>
                <a:solidFill>
                  <a:srgbClr val="7D9029"/>
                </a:solidFill>
                <a:latin typeface="Courier"/>
              </a:rPr>
              <a:t>y =</a:t>
            </a:r>
            <a:r>
              <a:rPr>
                <a:latin typeface="Courier"/>
              </a:rPr>
              <a:t> Happiness_score,</a:t>
            </a:r>
            <a:br/>
            <a:r>
              <a:rPr>
                <a:latin typeface="Courier"/>
              </a:rPr>
              <a:t>    </a:t>
            </a:r>
            <a:r>
              <a:rPr>
                <a:solidFill>
                  <a:srgbClr val="7D9029"/>
                </a:solidFill>
                <a:latin typeface="Courier"/>
              </a:rPr>
              <a:t>fill =</a:t>
            </a:r>
            <a:r>
              <a:rPr>
                <a:latin typeface="Courier"/>
              </a:rPr>
              <a:t> </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br/>
            <a:r>
              <a:rPr>
                <a:latin typeface="Courier"/>
              </a:rPr>
              <a:t>  )</a:t>
            </a:r>
            <a:br/>
            <a:r>
              <a:rPr>
                <a:latin typeface="Courier"/>
              </a:rPr>
              <a:t>) </a:t>
            </a:r>
            <a:r>
              <a:rPr>
                <a:solidFill>
                  <a:srgbClr val="4070A0"/>
                </a:solidFill>
                <a:latin typeface="Courier"/>
              </a:rPr>
              <a:t>+</a:t>
            </a:r>
            <a:br/>
            <a:r>
              <a:rPr>
                <a:latin typeface="Courier"/>
              </a:rPr>
              <a:t>  </a:t>
            </a:r>
            <a:r>
              <a:rPr>
                <a:solidFill>
                  <a:srgbClr val="06287E"/>
                </a:solidFill>
                <a:latin typeface="Courier"/>
              </a:rPr>
              <a:t>geom_boxplot</a:t>
            </a:r>
            <a:r>
              <a:rPr>
                <a:latin typeface="Courier"/>
              </a:rPr>
              <a:t>() </a:t>
            </a:r>
            <a:r>
              <a:rPr>
                <a:solidFill>
                  <a:srgbClr val="4070A0"/>
                </a:solidFill>
                <a:latin typeface="Courier"/>
              </a:rPr>
              <a:t>+</a:t>
            </a:r>
            <a:br/>
            <a:r>
              <a:rPr>
                <a:latin typeface="Courier"/>
              </a:rPr>
              <a:t>  </a:t>
            </a:r>
            <a:r>
              <a:rPr>
                <a:solidFill>
                  <a:srgbClr val="06287E"/>
                </a:solidFill>
                <a:latin typeface="Courier"/>
              </a:rPr>
              <a:t>theme_linedraw</a:t>
            </a:r>
            <a:r>
              <a:rPr>
                <a:latin typeface="Courier"/>
              </a:rPr>
              <a:t>() </a:t>
            </a:r>
            <a:r>
              <a:rPr>
                <a:solidFill>
                  <a:srgbClr val="4070A0"/>
                </a:solidFill>
                <a:latin typeface="Courier"/>
              </a:rPr>
              <a:t>+</a:t>
            </a:r>
            <a:br/>
            <a:r>
              <a:rPr>
                <a:latin typeface="Courier"/>
              </a:rPr>
              <a:t>  </a:t>
            </a:r>
            <a:r>
              <a:rPr>
                <a:solidFill>
                  <a:srgbClr val="06287E"/>
                </a:solidFill>
                <a:latin typeface="Courier"/>
              </a:rPr>
              <a:t>theme</a:t>
            </a:r>
            <a:r>
              <a:rPr>
                <a:latin typeface="Courier"/>
              </a:rPr>
              <a:t>(</a:t>
            </a:r>
            <a:r>
              <a:rPr>
                <a:solidFill>
                  <a:srgbClr val="7D9029"/>
                </a:solidFill>
                <a:latin typeface="Courier"/>
              </a:rPr>
              <a:t>legend.position =</a:t>
            </a:r>
            <a:r>
              <a:rPr>
                <a:latin typeface="Courier"/>
              </a:rPr>
              <a:t> </a:t>
            </a:r>
            <a:r>
              <a:rPr>
                <a:solidFill>
                  <a:srgbClr val="4070A0"/>
                </a:solidFill>
                <a:latin typeface="Courier"/>
              </a:rPr>
              <a:t>"none"</a:t>
            </a:r>
            <a:r>
              <a:rPr>
                <a:latin typeface="Courier"/>
              </a:rPr>
              <a:t>) </a:t>
            </a:r>
            <a:r>
              <a:rPr>
                <a:solidFill>
                  <a:srgbClr val="4070A0"/>
                </a:solidFill>
                <a:latin typeface="Courier"/>
              </a:rPr>
              <a:t>+</a:t>
            </a:r>
            <a:br/>
            <a:r>
              <a:rPr>
                <a:latin typeface="Courier"/>
              </a:rPr>
              <a:t>  </a:t>
            </a:r>
            <a:r>
              <a:rPr>
                <a:solidFill>
                  <a:srgbClr val="06287E"/>
                </a:solidFill>
                <a:latin typeface="Courier"/>
              </a:rPr>
              <a:t>coord_flip</a:t>
            </a:r>
            <a:r>
              <a:rPr>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Project_Example/Project_Example_files/figure-pptx/unnamed-chunk-16-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Data</a:t>
            </a:r>
            <a:r>
              <a:rPr/>
              <a:t> </a:t>
            </a:r>
            <a:r>
              <a:rPr/>
              <a:t>Analysis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I then decided to perform a simple analysis to compare countries in different regions. I decided to compare countries in </a:t>
            </a:r>
            <a:r>
              <a:rPr>
                <a:latin typeface="Courier"/>
              </a:rPr>
              <a:t>Western Europe</a:t>
            </a:r>
            <a:r>
              <a:rPr/>
              <a:t> with those of </a:t>
            </a:r>
            <a:r>
              <a:rPr>
                <a:latin typeface="Courier"/>
              </a:rPr>
              <a:t>East Asia</a:t>
            </a:r>
            <a:r>
              <a:rPr/>
              <a:t>.</a:t>
            </a:r>
          </a:p>
          <a:p>
            <a:pPr lvl="0" marL="0" indent="0">
              <a:buNone/>
            </a:pPr>
            <a:r>
              <a:rPr/>
              <a:t>I first filtered the data to create two new data sets for these regions only and then performed a t test without assuming equal variance between the scores for the countries for each region.</a:t>
            </a:r>
          </a:p>
          <a:p>
            <a:pPr lvl="0" indent="0">
              <a:buNone/>
            </a:pPr>
            <a:r>
              <a:rPr>
                <a:latin typeface="Courier"/>
              </a:rPr>
              <a:t>West_Eur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r>
              <a:rPr>
                <a:latin typeface="Courier"/>
              </a:rPr>
              <a:t> </a:t>
            </a:r>
            <a:r>
              <a:rPr>
                <a:solidFill>
                  <a:srgbClr val="4070A0"/>
                </a:solidFill>
                <a:latin typeface="Courier"/>
              </a:rPr>
              <a:t>==</a:t>
            </a:r>
            <a:r>
              <a:rPr>
                <a:latin typeface="Courier"/>
              </a:rPr>
              <a:t> </a:t>
            </a:r>
            <a:r>
              <a:rPr>
                <a:solidFill>
                  <a:srgbClr val="4070A0"/>
                </a:solidFill>
                <a:latin typeface="Courier"/>
              </a:rPr>
              <a:t>"Western Europe"</a:t>
            </a:r>
            <a:r>
              <a:rPr>
                <a:latin typeface="Courier"/>
              </a:rPr>
              <a:t>)</a:t>
            </a:r>
            <a:br/>
            <a:r>
              <a:rPr>
                <a:latin typeface="Courier"/>
              </a:rPr>
              <a:t>NAmer </a:t>
            </a:r>
            <a:r>
              <a:rPr>
                <a:solidFill>
                  <a:srgbClr val="007020"/>
                </a:solidFill>
                <a:latin typeface="Courier"/>
              </a:rPr>
              <a:t>&lt;-</a:t>
            </a:r>
            <a:r>
              <a:rPr>
                <a:latin typeface="Courier"/>
              </a:rPr>
              <a:t> Happiness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a:t>
            </a:r>
            <a:r>
              <a:rPr>
                <a:solidFill>
                  <a:srgbClr val="4070A0"/>
                </a:solidFill>
                <a:latin typeface="Courier"/>
              </a:rPr>
              <a:t>`</a:t>
            </a:r>
            <a:r>
              <a:rPr>
                <a:solidFill>
                  <a:srgbClr val="7D9029"/>
                </a:solidFill>
                <a:latin typeface="Courier"/>
              </a:rPr>
              <a:t>Regional indicator</a:t>
            </a:r>
            <a:r>
              <a:rPr>
                <a:solidFill>
                  <a:srgbClr val="4070A0"/>
                </a:solidFill>
                <a:latin typeface="Courier"/>
              </a:rPr>
              <a:t>`</a:t>
            </a:r>
            <a:r>
              <a:rPr>
                <a:latin typeface="Courier"/>
              </a:rPr>
              <a:t> </a:t>
            </a:r>
            <a:r>
              <a:rPr>
                <a:solidFill>
                  <a:srgbClr val="4070A0"/>
                </a:solidFill>
                <a:latin typeface="Courier"/>
              </a:rPr>
              <a:t>==</a:t>
            </a:r>
            <a:r>
              <a:rPr>
                <a:latin typeface="Courier"/>
              </a:rPr>
              <a:t> </a:t>
            </a:r>
            <a:r>
              <a:rPr>
                <a:solidFill>
                  <a:srgbClr val="4070A0"/>
                </a:solidFill>
                <a:latin typeface="Courier"/>
              </a:rPr>
              <a:t>"North America and ANZ"</a:t>
            </a:r>
            <a:r>
              <a:rPr>
                <a:latin typeface="Courier"/>
              </a:rPr>
              <a:t>)</a:t>
            </a:r>
            <a:br/>
            <a:br/>
            <a:r>
              <a:rPr>
                <a:solidFill>
                  <a:srgbClr val="06287E"/>
                </a:solidFill>
                <a:latin typeface="Courier"/>
              </a:rPr>
              <a:t>t.test</a:t>
            </a:r>
            <a:r>
              <a:rPr>
                <a:latin typeface="Courier"/>
              </a:rPr>
              <a:t>(</a:t>
            </a:r>
            <a:br/>
            <a:r>
              <a:rPr>
                <a:latin typeface="Courier"/>
              </a:rPr>
              <a:t>  </a:t>
            </a:r>
            <a:r>
              <a:rPr>
                <a:solidFill>
                  <a:srgbClr val="7D9029"/>
                </a:solidFill>
                <a:latin typeface="Courier"/>
              </a:rPr>
              <a:t>x =</a:t>
            </a:r>
            <a:r>
              <a:rPr>
                <a:latin typeface="Courier"/>
              </a:rPr>
              <a:t> </a:t>
            </a:r>
            <a:r>
              <a:rPr>
                <a:solidFill>
                  <a:srgbClr val="06287E"/>
                </a:solidFill>
                <a:latin typeface="Courier"/>
              </a:rPr>
              <a:t>pull</a:t>
            </a:r>
            <a:r>
              <a:rPr>
                <a:latin typeface="Courier"/>
              </a:rPr>
              <a:t>(West_Eur, Happiness_score),</a:t>
            </a:r>
            <a:br/>
            <a:r>
              <a:rPr>
                <a:latin typeface="Courier"/>
              </a:rPr>
              <a:t>  </a:t>
            </a:r>
            <a:r>
              <a:rPr>
                <a:solidFill>
                  <a:srgbClr val="7D9029"/>
                </a:solidFill>
                <a:latin typeface="Courier"/>
              </a:rPr>
              <a:t>y =</a:t>
            </a:r>
            <a:r>
              <a:rPr>
                <a:latin typeface="Courier"/>
              </a:rPr>
              <a:t> </a:t>
            </a:r>
            <a:r>
              <a:rPr>
                <a:solidFill>
                  <a:srgbClr val="06287E"/>
                </a:solidFill>
                <a:latin typeface="Courier"/>
              </a:rPr>
              <a:t>pull</a:t>
            </a:r>
            <a:r>
              <a:rPr>
                <a:latin typeface="Courier"/>
              </a:rPr>
              <a:t>(NAmer, Happiness_score),</a:t>
            </a:r>
            <a:br/>
            <a:r>
              <a:rPr>
                <a:latin typeface="Courier"/>
              </a:rPr>
              <a:t>  </a:t>
            </a:r>
            <a:r>
              <a:rPr>
                <a:solidFill>
                  <a:srgbClr val="7D9029"/>
                </a:solidFill>
                <a:latin typeface="Courier"/>
              </a:rPr>
              <a:t>var.equal =</a:t>
            </a:r>
            <a:r>
              <a:rPr>
                <a:latin typeface="Courier"/>
              </a:rPr>
              <a:t> </a:t>
            </a:r>
            <a:r>
              <a:rPr>
                <a:solidFill>
                  <a:srgbClr val="880000"/>
                </a:solidFill>
                <a:latin typeface="Courier"/>
              </a:rPr>
              <a:t>FALSE</a:t>
            </a:r>
            <a:br/>
            <a:r>
              <a:rPr>
                <a:latin typeface="Courier"/>
              </a:rPr>
              <a:t>)</a:t>
            </a:r>
          </a:p>
          <a:p>
            <a:pPr lvl="0" indent="0">
              <a:buNone/>
            </a:pPr>
            <a:r>
              <a:rPr>
                <a:latin typeface="Courier"/>
              </a:rPr>
              <a:t>## 
##  Welch Two Sample t-test
## 
## data:  pull(West_Eur, Happiness_score) and pull(NAmer, Happiness_score)
## t = -1.3431, df = 22.338, p-value = 0.1927
## alternative hypothesis: true difference in means is not equal to 0
## 95 percent confidence interval:
##  -0.5431079  0.1159174
## sample estimates:
## mean of x mean of y 
##  6.914905  7.128500</a:t>
            </a:r>
          </a:p>
          <a:p>
            <a:pPr lvl="0" marL="0" indent="0">
              <a:buNone/>
            </a:pPr>
            <a:r>
              <a:rPr/>
              <a:t>The p-value was greater than 0.05, suggesting that there might not be a difference in happiness scores between Western Europe and North America.</a:t>
            </a:r>
          </a:p>
          <a:p>
            <a:pPr lvl="0" marL="0" indent="0">
              <a:buNone/>
            </a:pPr>
            <a:r>
              <a:rPr/>
              <a:t>Disclaimer - this was intended to demonstrate how one might perform such an analysis. We are not claiming that there is a difference or is not a difference in happiness scores between the countries in these two regions.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T-test</a:t>
            </a:r>
            <a:r>
              <a:rPr/>
              <a:t> </a:t>
            </a:r>
            <a:r>
              <a:rPr/>
              <a:t>function</a:t>
            </a:r>
          </a:p>
        </p:txBody>
      </p:sp>
      <p:sp>
        <p:nvSpPr>
          <p:cNvPr id="3" name="Content Placeholder 2"/>
          <p:cNvSpPr>
            <a:spLocks noGrp="1"/>
          </p:cNvSpPr>
          <p:nvPr>
            <p:ph idx="1"/>
          </p:nvPr>
        </p:nvSpPr>
        <p:spPr/>
        <p:txBody>
          <a:bodyPr/>
          <a:lstStyle/>
          <a:p>
            <a:pPr lvl="0" marL="0" indent="0">
              <a:buNone/>
            </a:pPr>
            <a:r>
              <a:rPr/>
              <a:t>If I wanted to perform this analysis on multiple aspects about my data more simply, I might think about making a function like the following:</a:t>
            </a:r>
          </a:p>
          <a:p>
            <a:pPr lvl="0" indent="0">
              <a:buNone/>
            </a:pPr>
            <a:r>
              <a:rPr>
                <a:latin typeface="Courier"/>
              </a:rPr>
              <a:t>test_reg_diff </a:t>
            </a:r>
            <a:r>
              <a:rPr>
                <a:solidFill>
                  <a:srgbClr val="007020"/>
                </a:solidFill>
                <a:latin typeface="Courier"/>
              </a:rPr>
              <a:t>&lt;-</a:t>
            </a:r>
            <a:r>
              <a:rPr>
                <a:latin typeface="Courier"/>
              </a:rPr>
              <a:t> </a:t>
            </a:r>
            <a:r>
              <a:rPr b="1">
                <a:solidFill>
                  <a:srgbClr val="007020"/>
                </a:solidFill>
                <a:latin typeface="Courier"/>
              </a:rPr>
              <a:t>function</a:t>
            </a:r>
            <a:r>
              <a:rPr>
                <a:latin typeface="Courier"/>
              </a:rPr>
              <a:t>(aspect) {</a:t>
            </a:r>
            <a:br/>
            <a:r>
              <a:rPr>
                <a:latin typeface="Courier"/>
              </a:rPr>
              <a:t>  </a:t>
            </a:r>
            <a:r>
              <a:rPr>
                <a:solidFill>
                  <a:srgbClr val="06287E"/>
                </a:solidFill>
                <a:latin typeface="Courier"/>
              </a:rPr>
              <a:t>t.test</a:t>
            </a:r>
            <a:r>
              <a:rPr>
                <a:latin typeface="Courier"/>
              </a:rPr>
              <a:t>(</a:t>
            </a:r>
            <a:br/>
            <a:r>
              <a:rPr>
                <a:latin typeface="Courier"/>
              </a:rPr>
              <a:t>    </a:t>
            </a:r>
            <a:r>
              <a:rPr>
                <a:solidFill>
                  <a:srgbClr val="7D9029"/>
                </a:solidFill>
                <a:latin typeface="Courier"/>
              </a:rPr>
              <a:t>x =</a:t>
            </a:r>
            <a:r>
              <a:rPr>
                <a:latin typeface="Courier"/>
              </a:rPr>
              <a:t> </a:t>
            </a:r>
            <a:r>
              <a:rPr>
                <a:solidFill>
                  <a:srgbClr val="06287E"/>
                </a:solidFill>
                <a:latin typeface="Courier"/>
              </a:rPr>
              <a:t>pull</a:t>
            </a:r>
            <a:r>
              <a:rPr>
                <a:latin typeface="Courier"/>
              </a:rPr>
              <a:t>(West_Eur, aspect),</a:t>
            </a:r>
            <a:br/>
            <a:r>
              <a:rPr>
                <a:latin typeface="Courier"/>
              </a:rPr>
              <a:t>    </a:t>
            </a:r>
            <a:r>
              <a:rPr>
                <a:solidFill>
                  <a:srgbClr val="7D9029"/>
                </a:solidFill>
                <a:latin typeface="Courier"/>
              </a:rPr>
              <a:t>y =</a:t>
            </a:r>
            <a:r>
              <a:rPr>
                <a:latin typeface="Courier"/>
              </a:rPr>
              <a:t> </a:t>
            </a:r>
            <a:r>
              <a:rPr>
                <a:solidFill>
                  <a:srgbClr val="06287E"/>
                </a:solidFill>
                <a:latin typeface="Courier"/>
              </a:rPr>
              <a:t>pull</a:t>
            </a:r>
            <a:r>
              <a:rPr>
                <a:latin typeface="Courier"/>
              </a:rPr>
              <a:t>(NAmer, aspect),</a:t>
            </a:r>
            <a:br/>
            <a:r>
              <a:rPr>
                <a:latin typeface="Courier"/>
              </a:rPr>
              <a:t>    </a:t>
            </a:r>
            <a:r>
              <a:rPr>
                <a:solidFill>
                  <a:srgbClr val="7D9029"/>
                </a:solidFill>
                <a:latin typeface="Courier"/>
              </a:rPr>
              <a:t>var.equal =</a:t>
            </a:r>
            <a:r>
              <a:rPr>
                <a:latin typeface="Courier"/>
              </a:rPr>
              <a:t> </a:t>
            </a:r>
            <a:r>
              <a:rPr>
                <a:solidFill>
                  <a:srgbClr val="880000"/>
                </a:solidFill>
                <a:latin typeface="Courier"/>
              </a:rPr>
              <a:t>FALSE</a:t>
            </a:r>
            <a:br/>
            <a:r>
              <a:rPr>
                <a:latin typeface="Courier"/>
              </a:rPr>
              <a:t>  )</a:t>
            </a:r>
            <a:br/>
            <a:r>
              <a:rPr>
                <a:latin typeface="Courier"/>
              </a:rPr>
              <a:t>}</a:t>
            </a:r>
          </a:p>
          <a:p>
            <a:pPr lvl="0" marL="0" indent="0">
              <a:buNone/>
            </a:pPr>
            <a:r>
              <a:rPr/>
              <a:t>This allows me to just specify what aspect (or variable) I would like to compare between the two regions. I can apply it by supplying the name of the column to pull from the datasets.</a:t>
            </a:r>
          </a:p>
          <a:p>
            <a:pPr lvl="0" indent="0">
              <a:buNone/>
            </a:pPr>
            <a:r>
              <a:rPr>
                <a:solidFill>
                  <a:srgbClr val="06287E"/>
                </a:solidFill>
                <a:latin typeface="Courier"/>
              </a:rPr>
              <a:t>test_reg_diff</a:t>
            </a:r>
            <a:r>
              <a:rPr>
                <a:latin typeface="Courier"/>
              </a:rPr>
              <a:t>(</a:t>
            </a:r>
            <a:r>
              <a:rPr>
                <a:solidFill>
                  <a:srgbClr val="7D9029"/>
                </a:solidFill>
                <a:latin typeface="Courier"/>
              </a:rPr>
              <a:t>aspect =</a:t>
            </a:r>
            <a:r>
              <a:rPr>
                <a:latin typeface="Courier"/>
              </a:rPr>
              <a:t> </a:t>
            </a:r>
            <a:r>
              <a:rPr>
                <a:solidFill>
                  <a:srgbClr val="06287E"/>
                </a:solidFill>
                <a:latin typeface="Courier"/>
              </a:rPr>
              <a:t>c</a:t>
            </a:r>
            <a:r>
              <a:rPr>
                <a:latin typeface="Courier"/>
              </a:rPr>
              <a:t>(</a:t>
            </a:r>
            <a:r>
              <a:rPr>
                <a:solidFill>
                  <a:srgbClr val="4070A0"/>
                </a:solidFill>
                <a:latin typeface="Courier"/>
              </a:rPr>
              <a:t>"Social support"</a:t>
            </a:r>
            <a:r>
              <a:rPr>
                <a:latin typeface="Courier"/>
              </a:rPr>
              <a:t>))</a:t>
            </a:r>
          </a:p>
          <a:p>
            <a:pPr lvl="0" indent="0">
              <a:buNone/>
            </a:pPr>
            <a:r>
              <a:rPr>
                <a:latin typeface="Courier"/>
              </a:rPr>
              <a:t>## 
##  Welch Two Sample t-test
## 
## data:  pull(West_Eur, aspect) and pull(NAmer, aspect)
## t = -1.538, df = 19.734, p-value = 0.1399
## alternative hypothesis: true difference in means is not equal to 0
## 95 percent confidence interval:
##  -0.044847688  0.006800069
## sample estimates:
## mean of x mean of y 
## 0.9144762 0.9335000</a:t>
            </a:r>
          </a:p>
          <a:p>
            <a:pPr lvl="0" indent="0">
              <a:buNone/>
            </a:pPr>
            <a:r>
              <a:rPr>
                <a:solidFill>
                  <a:srgbClr val="06287E"/>
                </a:solidFill>
                <a:latin typeface="Courier"/>
              </a:rPr>
              <a:t>test_reg_diff</a:t>
            </a:r>
            <a:r>
              <a:rPr>
                <a:latin typeface="Courier"/>
              </a:rPr>
              <a:t>(</a:t>
            </a:r>
            <a:r>
              <a:rPr>
                <a:solidFill>
                  <a:srgbClr val="7D9029"/>
                </a:solidFill>
                <a:latin typeface="Courier"/>
              </a:rPr>
              <a:t>aspect =</a:t>
            </a:r>
            <a:r>
              <a:rPr>
                <a:latin typeface="Courier"/>
              </a:rPr>
              <a:t> </a:t>
            </a:r>
            <a:r>
              <a:rPr>
                <a:solidFill>
                  <a:srgbClr val="06287E"/>
                </a:solidFill>
                <a:latin typeface="Courier"/>
              </a:rPr>
              <a:t>c</a:t>
            </a:r>
            <a:r>
              <a:rPr>
                <a:latin typeface="Courier"/>
              </a:rPr>
              <a:t>(</a:t>
            </a:r>
            <a:r>
              <a:rPr>
                <a:solidFill>
                  <a:srgbClr val="4070A0"/>
                </a:solidFill>
                <a:latin typeface="Courier"/>
              </a:rPr>
              <a:t>"Healthy life expectancy"</a:t>
            </a:r>
            <a:r>
              <a:rPr>
                <a:latin typeface="Courier"/>
              </a:rPr>
              <a:t>))</a:t>
            </a:r>
          </a:p>
          <a:p>
            <a:pPr lvl="0" indent="0">
              <a:buNone/>
            </a:pPr>
            <a:r>
              <a:rPr>
                <a:latin typeface="Courier"/>
              </a:rPr>
              <a:t>## 
##  Welch Two Sample t-test
## 
## data:  pull(West_Eur, aspect) and pull(NAmer, aspect)
## t = 0.50945, df = 3.0939, p-value = 0.6446
## alternative hypothesis: true difference in means is not equal to 0
## 95 percent confidence interval:
##  -3.640256  5.056447
## sample estimates:
## mean of x mean of y 
##   73.0331   72.3250</a:t>
            </a:r>
          </a:p>
          <a:p>
            <a:pPr lvl="0" marL="0" indent="0">
              <a:buNone/>
            </a:pPr>
            <a:r>
              <a:rPr/>
              <a:t>This tests if there is a column name that is the same as what is supplied as </a:t>
            </a:r>
            <a:r>
              <a:rPr>
                <a:latin typeface="Courier"/>
              </a:rPr>
              <a:t>aspect</a:t>
            </a:r>
            <a:r>
              <a:rPr/>
              <a:t>. This then gets pulled from each dataset for the t test.</a:t>
            </a:r>
          </a:p>
          <a:p>
            <a:pPr lvl="0" marL="0" indent="0">
              <a:buNone/>
            </a:pPr>
            <a:r>
              <a:rPr/>
              <a:t>There appears to be no significant difference according to the p-value for </a:t>
            </a:r>
            <a:r>
              <a:rPr>
                <a:latin typeface="Courier"/>
              </a:rPr>
              <a:t>Social Support</a:t>
            </a:r>
            <a:r>
              <a:rPr/>
              <a:t> or </a:t>
            </a:r>
            <a:r>
              <a:rPr>
                <a:latin typeface="Courier"/>
              </a:rPr>
              <a:t>Healthy life expectancy</a:t>
            </a:r>
            <a:r>
              <a:rPr/>
              <a:t>, as they are less than 0.5.</a:t>
            </a:r>
          </a:p>
          <a:p>
            <a:pPr lvl="0" marL="0" indent="0">
              <a:buNone/>
            </a:pPr>
            <a:r>
              <a:rPr/>
              <a:t>Disclaimer - this was intended to demonstrate how one might perform such an analysis. We are not claiming that there is a difference or is not a difference in social support or healthy life expectancy between the countries in these two regions.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marL="0" indent="0">
              <a:buNone/>
            </a:pPr>
            <a:r>
              <a:rPr/>
              <a:t>Versions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06287E"/>
                </a:solidFill>
                <a:latin typeface="Courier"/>
              </a:rPr>
              <a:t>sessionInfo</a:t>
            </a:r>
            <a:r>
              <a:rPr>
                <a:latin typeface="Courier"/>
              </a:rPr>
              <a:t>()</a:t>
            </a:r>
          </a:p>
          <a:p>
            <a:pPr lvl="0" indent="0">
              <a:buNone/>
            </a:pPr>
            <a:r>
              <a:rPr>
                <a:latin typeface="Courier"/>
              </a:rPr>
              <a:t>## R version 4.5.0 (2025-04-11)
## Platform: x86_64-pc-linux-gnu
## Running under: Ubuntu 24.04.2 LTS
## 
## Matrix products: default
## BLAS:   /usr/lib/x86_64-linux-gnu/openblas-pthread/libblas.so.3 
## LAPACK: /usr/lib/x86_64-linux-gnu/openblas-pthread/libopenblasp-r0.3.26.so;  LAPACK version 3.12.0
## 
## locale:
##  [1] LC_CTYPE=en_US.UTF-8       LC_NUMERIC=C              
##  [3] LC_TIME=en_US.UTF-8        LC_COLLATE=en_US.UTF-8    
##  [5] LC_MONETARY=en_US.UTF-8    LC_MESSAGES=en_US.UTF-8   
##  [7] LC_PAPER=en_US.UTF-8       LC_NAME=C                 
##  [9] LC_ADDRESS=C               LC_TELEPHONE=C            
## [11] LC_MEASUREMENT=en_US.UTF-8 LC_IDENTIFICATION=C       
## 
## time zone: Etc/UTC
## tzcode source: system (glibc)
## 
## attached base packages:
## [1] stats     graphics  grDevices utils     datasets  methods   base     
## 
## other attached packages:
##  [1] here_1.0.1             directlabels_2024.1.21 patchwork_1.3.0       
##  [4] plotly_4.10.4          scales_1.4.0           emoji_16.0.0          
##  [7] knitr_1.50             janitor_2.2.1          broom_1.0.8           
## [10] esquisse_2.1.0         ThemePark_0.0.1        naniar_1.1.0          
## [13] lubridate_1.9.4        forcats_1.0.0          stringr_1.5.1         
## [16] dplyr_1.1.4            purrr_1.0.4            readr_2.1.5           
## [19] tidyr_1.3.1            tibble_3.2.1           ggplot2_3.5.2         
## [22] tidyverse_2.0.0       
## 
## loaded via a namespace (and not attached):
##  [1] writexl_1.5.4       readxl_1.4.5        datamods_1.5.3     
##  [4] rlang_1.1.6         magrittr_2.0.3      snakecase_0.11.1   
##  [7] rio_1.2.3           e1071_1.7-16        compiler_4.5.0     
## [10] systemfonts_1.2.2   vctrs_0.6.5         quadprog_1.5-8     
## [13] sysfonts_0.8.9      pkgconfig_2.0.3     crayon_1.5.3       
## [16] fastmap_1.2.0       backports_1.5.0     labeling_0.4.3     
## [19] utf8_1.2.4          promises_1.3.2      phosphoricons_0.2.1
## [22] rmarkdown_2.29      tzdb_0.5.0          visdat_0.6.0       
## [25] ragg_1.4.0          bit_4.6.0           xfun_0.52          
## [28] showtext_0.9-7      cachem_1.1.0        jsonlite_2.0.0     
## [31] later_1.4.2         parallel_4.5.0      R6_2.6.1           
## [34] bslib_0.9.0         stringi_1.8.7       RColorBrewer_1.1-3 
## [37] shinybusy_0.3.3     jquerylib_0.1.4     cellranger_1.1.0   
## [40] Rcpp_1.0.14         clisymbols_1.2.0    httpuv_1.6.15      
## [43] timechange_0.3.0    tidyselect_1.2.1    rstudioapi_0.17.1  
## [46] yaml_2.3.10         curl_6.2.2          shiny_1.10.0       
## [49] withr_3.0.2         evaluate_1.0.3      proxy_0.4-27       
## [52] getopt_1.20.4       zip_2.3.2           pillar_1.10.2      
## [55] KernSmooth_2.23-26  generics_0.1.3      vroom_1.6.5        
## [58] rprojroot_2.0.4     hms_1.1.3           xtable_1.8-4       
## [61] class_7.3-23        glue_1.8.0          toastui_0.4.0      
## [64] lazyeval_0.2.2      tools_4.5.0         data.table_1.17.0  
## [67] reactable_0.4.4     grid_4.5.0          optparse_1.7.5     
## [70] crosstalk_1.2.1     showtextdb_3.0      cli_3.6.5          
## [73] config_0.3.2        textshaping_1.0.0   viridisLite_0.4.2  
## [76] gtable_0.3.6        sass_0.4.10         digest_0.6.37      
## [79] classInt_0.4-11     htmlwidgets_1.6.4   farver_2.1.2       
## [82] htmltools_0.5.8.1   lifecycle_1.0.4     httr_1.4.7         
## [85] shinyWidgets_0.9.0  mime_0.13           bit64_4.6.0-1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Example</dc:title>
  <dc:creator/>
  <cp:keywords/>
  <dcterms:created xsi:type="dcterms:W3CDTF">2026-06-12T16:56:00Z</dcterms:created>
  <dcterms:modified xsi:type="dcterms:W3CDTF">2026-06-12T16:56:00Z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html_document</vt:lpwstr>
  </property>
</Properties>
</file>