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Relationship Id="rId4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modules/cheatsheets/Day-3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Data_Summarization/lab/Data_Summarization_Lab.Rmd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Data_Summarization/lab/Data_Summarization_Lab.Rmd" TargetMode="External" /><Relationship Id="rId4" Type="http://schemas.openxmlformats.org/officeDocument/2006/relationships/hyperlink" Target="https://daseh.org/modules/cheatsheets/Day-4.pdf" TargetMode="External" /><Relationship Id="rId5" Type="http://schemas.openxmlformats.org/officeDocument/2006/relationships/hyperlink" Target="https://rstudio.github.io/cheatsheets/data-transformation.pdf" TargetMode="External" /><Relationship Id="rId6" Type="http://schemas.openxmlformats.org/officeDocument/2006/relationships/hyperlink" Target="https://www.danieldsjoberg.com/gtsummary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Summarization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select()</a:t>
            </a:r>
            <a:r>
              <a:rPr/>
              <a:t>: subset and/or reorder columns</a:t>
            </a:r>
          </a:p>
          <a:p>
            <a:pPr lvl="1"/>
            <a:r>
              <a:rPr>
                <a:latin typeface="Courier"/>
              </a:rPr>
              <a:t>filter()</a:t>
            </a:r>
            <a:r>
              <a:rPr/>
              <a:t>: remove rows</a:t>
            </a:r>
          </a:p>
          <a:p>
            <a:pPr lvl="1"/>
            <a:r>
              <a:rPr>
                <a:latin typeface="Courier"/>
              </a:rPr>
              <a:t>arrange()</a:t>
            </a:r>
            <a:r>
              <a:rPr/>
              <a:t>: reorder rows</a:t>
            </a:r>
          </a:p>
          <a:p>
            <a:pPr lvl="1"/>
            <a:r>
              <a:rPr>
                <a:latin typeface="Courier"/>
              </a:rPr>
              <a:t>mutate()</a:t>
            </a:r>
            <a:r>
              <a:rPr/>
              <a:t>: create new columns or modify them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and </a:t>
            </a:r>
            <a:r>
              <a:rPr>
                <a:latin typeface="Courier"/>
              </a:rPr>
              <a:t>filter()</a:t>
            </a:r>
            <a:r>
              <a:rPr/>
              <a:t> can be combined together</a:t>
            </a:r>
          </a:p>
          <a:p>
            <a:pPr lvl="1"/>
            <a:r>
              <a:rPr/>
              <a:t>remove a column: </a:t>
            </a:r>
            <a:r>
              <a:rPr>
                <a:latin typeface="Courier"/>
              </a:rPr>
              <a:t>select()</a:t>
            </a:r>
            <a:r>
              <a:rPr/>
              <a:t> with </a:t>
            </a:r>
            <a:r>
              <a:rPr>
                <a:latin typeface="Courier"/>
              </a:rPr>
              <a:t>!</a:t>
            </a:r>
            <a:r>
              <a:rPr/>
              <a:t> mark (</a:t>
            </a:r>
            <a:r>
              <a:rPr>
                <a:latin typeface="Courier"/>
              </a:rPr>
              <a:t>!col_name</a:t>
            </a:r>
            <a:r>
              <a:rPr/>
              <a:t>)</a:t>
            </a:r>
          </a:p>
          <a:p>
            <a:pPr lvl="1"/>
            <a:r>
              <a:rPr/>
              <a:t>you can do sequential steps: especially using pipes </a:t>
            </a:r>
            <a:r>
              <a:rPr>
                <a:latin typeface="Courier"/>
              </a:rPr>
              <a:t>|&gt;</a:t>
            </a:r>
          </a:p>
          <a:p>
            <a:pPr lvl="0" marL="0" indent="0">
              <a:buNone/>
            </a:pPr>
            <a:r>
              <a:rPr/>
              <a:t>📃</a:t>
            </a:r>
            <a:r>
              <a:rPr>
                <a:hlinkClick r:id="rId2"/>
              </a:rPr>
              <a:t>Day 3 Cheatsheet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use the CO heat-related ER visits dataset to explore different ways of summarizing data.</a:t>
            </a:r>
          </a:p>
          <a:p>
            <a:pPr lvl="0" marL="0" indent="0">
              <a:buNone/>
            </a:pPr>
            <a:r>
              <a:rPr i="1"/>
              <a:t>Reminder</a:t>
            </a:r>
            <a:r>
              <a:rPr/>
              <a:t>: This dataset contains information about the number and rate of visits for heat-related illness to ERs in Colorado from 2011-2022, adjusted for age.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use the CO heat-related ER visits dataset to explore different ways of summarizing data.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head</a:t>
            </a:r>
            <a:r>
              <a:rPr/>
              <a:t> function displays the first rows of an object: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"https://daseh.org/data/CO_ER_heat_visits.csv"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(er)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county  rate lower95cl upper95cl visits  year
  &lt;chr&gt;  &lt;dbl&gt;     &lt;dbl&gt;     &lt;dbl&gt;  &lt;dbl&gt; &lt;dbl&gt;
1 Adams   6.73     NA         9.24     29  2011
2 Adams   4.84      2.85     NA        23  2012
3 Adams   6.84      4.36      9.31     31  2013
4 Adams   3.08      1.71      4.85     15  2014
5 Adams   3.36      1.89      5.23     16  2015
6 Adams   8.85      6.12     11.6      42  2016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Behavior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>
                <a:latin typeface="Courier"/>
              </a:rPr>
              <a:t>pull()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pull()</a:t>
            </a:r>
            <a:r>
              <a:rPr/>
              <a:t> converts a single data column into a vector.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(visits)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Now that we have a vector of numbers.. what can we do with it?</a:t>
            </a:r>
          </a:p>
          <a:p>
            <a:pPr lvl="1"/>
            <a:r>
              <a:rPr/>
              <a:t>Basic statistical summarization</a:t>
            </a:r>
          </a:p>
          <a:p>
            <a:pPr lvl="2"/>
            <a:r>
              <a:rPr>
                <a:latin typeface="Courier"/>
              </a:rPr>
              <a:t>mean(x)</a:t>
            </a:r>
            <a:r>
              <a:rPr/>
              <a:t>: takes the mean of x</a:t>
            </a:r>
          </a:p>
          <a:p>
            <a:pPr lvl="2"/>
            <a:r>
              <a:rPr>
                <a:latin typeface="Courier"/>
              </a:rPr>
              <a:t>sd(x)</a:t>
            </a:r>
            <a:r>
              <a:rPr/>
              <a:t>: takes the standard deviation of x</a:t>
            </a:r>
          </a:p>
          <a:p>
            <a:pPr lvl="2"/>
            <a:r>
              <a:rPr>
                <a:latin typeface="Courier"/>
              </a:rPr>
              <a:t>median(x)</a:t>
            </a:r>
            <a:r>
              <a:rPr/>
              <a:t>: takes the median of x</a:t>
            </a:r>
          </a:p>
          <a:p>
            <a:pPr lvl="2"/>
            <a:r>
              <a:rPr>
                <a:latin typeface="Courier"/>
              </a:rPr>
              <a:t>quantile(x)</a:t>
            </a:r>
            <a:r>
              <a:rPr/>
              <a:t>: displays sample quantiles of x. Default is min, IQR, max</a:t>
            </a:r>
          </a:p>
          <a:p>
            <a:pPr lvl="2"/>
            <a:r>
              <a:rPr>
                <a:latin typeface="Courier"/>
              </a:rPr>
              <a:t>range(x)</a:t>
            </a:r>
            <a:r>
              <a:rPr/>
              <a:t>: displays the range. Same as </a:t>
            </a:r>
            <a:r>
              <a:rPr>
                <a:latin typeface="Courier"/>
              </a:rPr>
              <a:t>c(min(x), max(x))</a:t>
            </a:r>
          </a:p>
          <a:p>
            <a:pPr lvl="2"/>
            <a:r>
              <a:rPr>
                <a:latin typeface="Courier"/>
              </a:rPr>
              <a:t>sum(x)</a:t>
            </a:r>
            <a:r>
              <a:rPr/>
              <a:t>: sum of x</a:t>
            </a:r>
          </a:p>
          <a:p>
            <a:pPr lvl="2"/>
            <a:r>
              <a:rPr>
                <a:latin typeface="Courier"/>
              </a:rPr>
              <a:t>max(x)</a:t>
            </a:r>
            <a:r>
              <a:rPr/>
              <a:t>: maximum value in x</a:t>
            </a:r>
          </a:p>
          <a:p>
            <a:pPr lvl="2"/>
            <a:r>
              <a:rPr>
                <a:latin typeface="Courier"/>
              </a:rPr>
              <a:t>min(x)</a:t>
            </a:r>
            <a:r>
              <a:rPr/>
              <a:t>: minimum value in x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Pipe</a:t>
            </a:r>
            <a:r>
              <a:rPr/>
              <a:t> </a:t>
            </a:r>
            <a:r>
              <a:rPr/>
              <a:t>vectors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summarizing</a:t>
            </a:r>
            <a:r>
              <a:rPr/>
              <a:t> </a:t>
            </a:r>
            <a:r>
              <a:rPr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vector can be summarized: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(visits)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NA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Add the </a:t>
            </a:r>
            <a:r>
              <a:rPr>
                <a:latin typeface="Courier"/>
              </a:rPr>
              <a:t>na.rm =</a:t>
            </a:r>
            <a:r>
              <a:rPr/>
              <a:t> argument for missing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(visits)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na.rm=</a:t>
            </a:r>
            <a:r>
              <a:rPr>
                <a:latin typeface="Courier"/>
              </a:rPr>
              <a:t>T)</a:t>
            </a:r>
          </a:p>
          <a:p>
            <a:pPr lvl="0" indent="0">
              <a:buNone/>
            </a:pPr>
            <a:r>
              <a:rPr>
                <a:latin typeface="Courier"/>
              </a:rPr>
              <a:t>[1] 7.189247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kind of object do we need to run summary operators like </a:t>
            </a:r>
            <a:r>
              <a:rPr>
                <a:latin typeface="Courier"/>
              </a:rPr>
              <a:t>mean()</a:t>
            </a:r>
            <a:r>
              <a:rPr/>
              <a:t> ?</a:t>
            </a:r>
          </a:p>
          <a:p>
            <a:pPr lvl="0" marL="0" indent="0">
              <a:buNone/>
            </a:pPr>
            <a:r>
              <a:rPr/>
              <a:t>A. A vector of numbers</a:t>
            </a:r>
          </a:p>
          <a:p>
            <a:pPr lvl="0" marL="0" indent="0">
              <a:buNone/>
            </a:pPr>
            <a:r>
              <a:rPr/>
              <a:t>B. A vector of characters</a:t>
            </a:r>
          </a:p>
          <a:p>
            <a:pPr lvl="0" marL="0" indent="0">
              <a:buNone/>
            </a:pPr>
            <a:r>
              <a:rPr/>
              <a:t>C. A dataset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Summarization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tibbles</a:t>
            </a:r>
            <a:r>
              <a:rPr/>
              <a:t> </a:t>
            </a:r>
            <a:r>
              <a:rPr/>
              <a:t>(data</a:t>
            </a:r>
            <a:r>
              <a:rPr/>
              <a:t> </a:t>
            </a:r>
            <a:r>
              <a:rPr/>
              <a:t>frames)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</a:t>
            </a:r>
            <a:r>
              <a:rPr>
                <a:latin typeface="Courier"/>
              </a:rPr>
              <a:t>summarize()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summarize()</a:t>
            </a:r>
            <a:r>
              <a:rPr/>
              <a:t> is special!</a:t>
            </a:r>
          </a:p>
          <a:p>
            <a:pPr lvl="0" marL="0" indent="0">
              <a:buNone/>
            </a:pPr>
            <a:r>
              <a:rPr/>
              <a:t>It works on datasets without </a:t>
            </a:r>
            <a:r>
              <a:rPr>
                <a:latin typeface="Courier"/>
              </a:rPr>
              <a:t>pull()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Multiple summary statistics can be calculated at once!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General format - Not the code!</a:t>
            </a:r>
            <a:br/>
            <a:r>
              <a:rPr>
                <a:latin typeface="Courier"/>
              </a:rPr>
              <a:t>{data to use}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({summary column name}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(source column)},</a:t>
            </a:r>
            <a:br/>
            <a:r>
              <a:rPr>
                <a:latin typeface="Courier"/>
              </a:rPr>
              <a:t>             {summary column name}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(source column)}) 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</a:t>
            </a:r>
            <a:r>
              <a:rPr>
                <a:latin typeface="Courier"/>
              </a:rPr>
              <a:t>summarize()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mean_visits
        &lt;dbl&gt;
1          NA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mean_visits
        &lt;dbl&gt;
1        7.19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</a:t>
            </a:r>
            <a:r>
              <a:rPr>
                <a:latin typeface="Courier"/>
              </a:rPr>
              <a:t>summarize()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summarize()</a:t>
            </a:r>
            <a:r>
              <a:rPr/>
              <a:t> can do multiple operations at once. Just separate by a comma.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median_visits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median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mean_rate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(rate,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mean_visits median_visits mean_rate
        &lt;dbl&gt;         &lt;dbl&gt;     &lt;dbl&gt;
1        7.19             0      2.43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</a:t>
            </a:r>
            <a:r>
              <a:rPr>
                <a:latin typeface="Courier"/>
              </a:rPr>
              <a:t>summarize()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Note that </a:t>
            </a:r>
            <a:r>
              <a:rPr>
                <a:latin typeface="Courier"/>
              </a:rPr>
              <a:t>summarize()</a:t>
            </a:r>
            <a:r>
              <a:rPr/>
              <a:t> creates a separate tibble from the original data.</a:t>
            </a:r>
          </a:p>
          <a:p>
            <a:pPr lvl="0" marL="0" indent="0">
              <a:buNone/>
            </a:pPr>
            <a:r>
              <a:rPr/>
              <a:t>If you want to save a summary statistic in the original data, use </a:t>
            </a:r>
            <a:r>
              <a:rPr>
                <a:latin typeface="Courier"/>
              </a:rPr>
              <a:t>mutate()</a:t>
            </a:r>
            <a:r>
              <a:rPr/>
              <a:t> instead to create a new column for the summary statistic.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summary()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Using </a:t>
            </a:r>
            <a:r>
              <a:rPr>
                <a:latin typeface="Courier"/>
              </a:rPr>
              <a:t>summary()</a:t>
            </a:r>
            <a:r>
              <a:rPr/>
              <a:t> can give you rough snapshots of each numeric column (character columns are skipped):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(er)</a:t>
            </a:r>
          </a:p>
          <a:p>
            <a:pPr lvl="0" indent="0">
              <a:buNone/>
            </a:pPr>
            <a:r>
              <a:rPr>
                <a:latin typeface="Courier"/>
              </a:rPr>
              <a:t>    county               rate          lower95cl        upper95cl      
 Length:768         Min.   : 0.000   Min.   : 0.000   Min.   :  0.000  
 Class :character   1st Qu.: 0.000   1st Qu.: 0.000   1st Qu.:  0.000  
 Mode  :character   Median : 0.000   Median : 0.000   Median :  0.000  
                    Mean   : 2.431   Mean   : 1.449   Mean   :  3.526  
                    3rd Qu.: 3.509   3rd Qu.: 1.895   3rd Qu.:  5.173  
                    Max.   :89.275   Max.   :43.398   Max.   :151.420  
                    NA's   :303      NA's   :304      NA's   :304      
     visits            year     
 Min.   : 0.000   Min.   :2011  
 1st Qu.: 0.000   1st Qu.:2014  
 Median : 0.000   Median :2016  
 Mean   : 7.189   Mean   :2016  
 3rd Qu.:13.000   3rd Qu.:2019  
 Max.   :48.000   Max.   :2022  
 NA's   :303                    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Lab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pull()</a:t>
            </a:r>
            <a:r>
              <a:rPr/>
              <a:t> creates a </a:t>
            </a:r>
            <a:r>
              <a:rPr i="1"/>
              <a:t>vector</a:t>
            </a:r>
          </a:p>
          <a:p>
            <a:pPr lvl="1"/>
            <a:r>
              <a:rPr/>
              <a:t>don’t forget the </a:t>
            </a:r>
            <a:r>
              <a:rPr>
                <a:latin typeface="Courier"/>
              </a:rPr>
              <a:t>na.rm = TRUE</a:t>
            </a:r>
            <a:r>
              <a:rPr/>
              <a:t> argument!</a:t>
            </a:r>
          </a:p>
          <a:p>
            <a:pPr lvl="1"/>
            <a:r>
              <a:rPr>
                <a:latin typeface="Courier"/>
              </a:rPr>
              <a:t>summary(x)</a:t>
            </a:r>
            <a:r>
              <a:rPr/>
              <a:t>: quantile information</a:t>
            </a:r>
          </a:p>
          <a:p>
            <a:pPr lvl="1"/>
            <a:r>
              <a:rPr>
                <a:latin typeface="Courier"/>
              </a:rPr>
              <a:t>summarize</a:t>
            </a:r>
            <a:r>
              <a:rPr/>
              <a:t>: creates a summary table of columns of interest</a:t>
            </a:r>
          </a:p>
          <a:p>
            <a:pPr lvl="1"/>
            <a:r>
              <a:rPr/>
              <a:t>summary stats (</a:t>
            </a:r>
            <a:r>
              <a:rPr>
                <a:latin typeface="Courier"/>
              </a:rPr>
              <a:t>mean()</a:t>
            </a:r>
            <a:r>
              <a:rPr/>
              <a:t>) work with vectors or with </a:t>
            </a:r>
            <a:r>
              <a:rPr>
                <a:latin typeface="Courier"/>
              </a:rPr>
              <a:t>summarize()</a:t>
            </a:r>
          </a:p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Lab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distinct()</a:t>
            </a:r>
            <a:r>
              <a:rPr/>
              <a:t> </a:t>
            </a:r>
            <a:r>
              <a:rPr/>
              <a:t>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distinct(x)</a:t>
            </a:r>
            <a:r>
              <a:rPr/>
              <a:t> will return the unique elements of column </a:t>
            </a:r>
            <a:r>
              <a:rPr>
                <a:latin typeface="Courier"/>
              </a:rPr>
              <a:t>x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(county)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1
   county    
   &lt;chr&gt;     
 1 Adams     
 2 Alamosa   
 3 Arapahoe  
 4 Archuleta 
 5 Baca      
 6 Bent      
 7 Boulder   
 8 Broomfield
 9 Chaffee   
10 Cheyenne  
# ℹ 54 more rows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>
                <a:latin typeface="Courier"/>
              </a:rPr>
              <a:t>distinct()</a:t>
            </a:r>
            <a:r>
              <a:rPr/>
              <a:t> </a:t>
            </a:r>
            <a:r>
              <a:rPr/>
              <a:t>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n_distinct()</a:t>
            </a:r>
            <a:r>
              <a:rPr/>
              <a:t> tells you the number of unique elements (including </a:t>
            </a:r>
            <a:r>
              <a:rPr>
                <a:latin typeface="Courier"/>
              </a:rPr>
              <a:t>NA</a:t>
            </a:r>
            <a:r>
              <a:rPr/>
              <a:t>).</a:t>
            </a:r>
          </a:p>
          <a:p>
            <a:pPr lvl="0" marL="0" indent="0">
              <a:buNone/>
            </a:pPr>
            <a:r>
              <a:rPr/>
              <a:t>It needs a vector so you </a:t>
            </a:r>
            <a:r>
              <a:rPr i="1"/>
              <a:t>must pull the column first!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(county)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n_distinct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64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</a:t>
            </a:r>
            <a:r>
              <a:rPr/>
              <a:t> </a:t>
            </a:r>
            <a:r>
              <a:rPr>
                <a:latin typeface="Courier"/>
              </a:rPr>
              <a:t>count()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return</a:t>
            </a:r>
            <a:r>
              <a:rPr/>
              <a:t> </a:t>
            </a:r>
            <a:r>
              <a:rPr/>
              <a:t>row</a:t>
            </a:r>
            <a:r>
              <a:rPr/>
              <a:t> </a:t>
            </a:r>
            <a:r>
              <a:rPr/>
              <a:t>count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category.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(county)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2
   county         n
   &lt;chr&gt;      &lt;int&gt;
 1 Adams         12
 2 Alamosa       12
 3 Arapahoe      12
 4 Archuleta     12
 5 Baca          12
 6 Bent          12
 7 Boulder       12
 8 Broomfield    12
 9 Chaffee       12
10 Cheyenne      12
# ℹ 54 more rows</a:t>
            </a:r>
          </a:p>
          <a:p>
            <a:pPr lvl="0" marL="0" indent="0">
              <a:buNone/>
            </a:pPr>
            <a:r>
              <a:rPr i="1"/>
              <a:t>Looks like 12 rows/observations per county!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Multiple</a:t>
            </a:r>
            <a:r>
              <a:rPr/>
              <a:t> </a:t>
            </a:r>
            <a:r>
              <a:rPr/>
              <a:t>columns</a:t>
            </a:r>
            <a:r>
              <a:rPr/>
              <a:t> </a:t>
            </a:r>
            <a:r>
              <a:rPr/>
              <a:t>listed</a:t>
            </a:r>
            <a:r>
              <a:rPr/>
              <a:t> </a:t>
            </a:r>
            <a:r>
              <a:rPr/>
              <a:t>further</a:t>
            </a:r>
            <a:r>
              <a:rPr/>
              <a:t> </a:t>
            </a:r>
            <a:r>
              <a:rPr/>
              <a:t>subdivides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count()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(county, year)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768 × 3
   county  year     n
   &lt;chr&gt;  &lt;dbl&gt; &lt;int&gt;
 1 Adams   2011     1
 2 Adams   2012     1
 3 Adams   2013     1
 4 Adams   2014     1
 5 Adams   2015     1
 6 Adams   2016     1
 7 Adams   2017     1
 8 Adams   2018     1
 9 Adams   2019     1
10 Adams   2020     1
# ℹ 758 more rows</a:t>
            </a:r>
          </a:p>
          <a:p>
            <a:pPr lvl="0" marL="0" indent="0">
              <a:buNone/>
            </a:pPr>
            <a:r>
              <a:rPr i="1"/>
              <a:t>Looks like 1 row/observation per county and year!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count()</a:t>
            </a:r>
            <a:r>
              <a:rPr/>
              <a:t> function can help us tally:</a:t>
            </a:r>
          </a:p>
          <a:p>
            <a:pPr lvl="0" marL="0" indent="0">
              <a:buNone/>
            </a:pPr>
            <a:r>
              <a:rPr/>
              <a:t>A. Sample size</a:t>
            </a:r>
          </a:p>
          <a:p>
            <a:pPr lvl="0" marL="0" indent="0">
              <a:buNone/>
            </a:pPr>
            <a:r>
              <a:rPr/>
              <a:t>B. Rows per each category</a:t>
            </a:r>
          </a:p>
          <a:p>
            <a:pPr lvl="0" marL="0" indent="0">
              <a:buNone/>
            </a:pPr>
            <a:r>
              <a:rPr/>
              <a:t>C. How many categories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Grouping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want to find the mean number of ER visits per year in the dataset.</a:t>
            </a:r>
          </a:p>
          <a:p>
            <a:pPr lvl="0" marL="0" indent="0">
              <a:buNone/>
            </a:pPr>
            <a:r>
              <a:rPr i="1"/>
              <a:t>How do we do this?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</a:t>
            </a:r>
            <a:r>
              <a:rPr/>
              <a:t> </a:t>
            </a:r>
            <a:r>
              <a:rPr/>
              <a:t>Operations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Groups:</a:t>
            </a:r>
            <a:r>
              <a:rPr/>
              <a:t> </a:t>
            </a:r>
            <a:r>
              <a:rPr/>
              <a:t>dplyr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First, let’s group the data.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group_by</a:t>
            </a:r>
            <a:r>
              <a:rPr/>
              <a:t> allows you group the data set by variables/columns you specify:</a:t>
            </a:r>
          </a:p>
          <a:p>
            <a:pPr lvl="0" indent="0">
              <a:buNone/>
            </a:pPr>
            <a:r>
              <a:rPr>
                <a:latin typeface="Courier"/>
              </a:rPr>
              <a:t>er_grouped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(year)</a:t>
            </a:r>
            <a:br/>
            <a:r>
              <a:rPr>
                <a:latin typeface="Courier"/>
              </a:rPr>
              <a:t>er_grouped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768 × 6
# Groups:   year [12]
   county  rate lower95cl upper95cl visits  year
   &lt;chr&gt;  &lt;dbl&gt;     &lt;dbl&gt;     &lt;dbl&gt;  &lt;dbl&gt; &lt;dbl&gt;
 1 Adams   6.73     NA         9.24     29  2011
 2 Adams   4.84      2.85     NA        23  2012
 3 Adams   6.84      4.36      9.31     31  2013
 4 Adams   3.08      1.71      4.85     15  2014
 5 Adams   3.36      1.89      5.23     16  2015
 6 Adams   8.85      6.12     11.6      42  2016
 7 Adams   6.63      4.29      8.98     32  2017
 8 Adams   7.11      4.77      9.44     37  2018
 9 Adams   6.76      4.53      8.99     36  2019
10 Adams   4.76      2.82      6.70     24  2020
# ℹ 758 more rows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Summarize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grouped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It’s grouped! Grouping doesn’t change the data in any way, but how </a:t>
            </a:r>
            <a:r>
              <a:rPr b="1"/>
              <a:t>functions operate on it</a:t>
            </a:r>
            <a:r>
              <a:rPr/>
              <a:t>. Now we can summarize </a:t>
            </a:r>
            <a:r>
              <a:rPr>
                <a:latin typeface="Courier"/>
              </a:rPr>
              <a:t>visits</a:t>
            </a:r>
            <a:r>
              <a:rPr/>
              <a:t> by group:</a:t>
            </a:r>
          </a:p>
          <a:p>
            <a:pPr lvl="0" indent="0">
              <a:buNone/>
            </a:pPr>
            <a:r>
              <a:rPr>
                <a:latin typeface="Courier"/>
              </a:rPr>
              <a:t>er_grouped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avg_visits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2
    year avg_visits
   &lt;dbl&gt;      &lt;dbl&gt;
 1  2011       5.20
 2  2012       5.89
 3  2013       5.63
 4  2014       4.12
 5  2015       6.4 
 6  2016      10.1 
 7  2017       7.24
 8  2018      11.7 
 9  2019       9.12
10  2020       6.26
11  2021       8.06
12  2022       9.29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step: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string</a:t>
            </a:r>
            <a:r>
              <a:rPr/>
              <a:t> </a:t>
            </a:r>
            <a:r>
              <a:rPr/>
              <a:t>these</a:t>
            </a:r>
            <a:r>
              <a:rPr/>
              <a:t> </a:t>
            </a:r>
            <a:r>
              <a:rPr/>
              <a:t>together!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Pipe </a:t>
            </a:r>
            <a:r>
              <a:rPr>
                <a:latin typeface="Courier"/>
              </a:rPr>
              <a:t>er</a:t>
            </a:r>
            <a:r>
              <a:rPr/>
              <a:t> into </a:t>
            </a:r>
            <a:r>
              <a:rPr>
                <a:latin typeface="Courier"/>
              </a:rPr>
              <a:t>group_by</a:t>
            </a:r>
            <a:r>
              <a:rPr/>
              <a:t>, then pipe that into </a:t>
            </a:r>
            <a:r>
              <a:rPr>
                <a:latin typeface="Courier"/>
              </a:rPr>
              <a:t>summarize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avg_visits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2
    year avg_visits
   &lt;dbl&gt;      &lt;dbl&gt;
 1  2011       5.20
 2  2012       5.89
 3  2013       5.63
 4  2014       4.12
 5  2015       6.4 
 6  2016      10.1 
 7  2017       7.24
 8  2018      11.7 
 9  2019       9.12
10  2020       6.26
11  2021       8.06
12  2022       9.29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Group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variables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want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group_by</a:t>
            </a:r>
            <a:r>
              <a:rPr/>
              <a:t> county and year: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(year, county)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avg_visits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768 × 3
# Groups:   year [12]
    year county     avg_visits
   &lt;dbl&gt; &lt;chr&gt;           &lt;dbl&gt;
 1  2011 Adams              29
 2  2011 Alamosa             0
 3  2011 Arapahoe           33
 4  2011 Archuleta           0
 5  2011 Baca                0
 6  2011 Bent                0
 7  2011 Boulder            12
 8  2011 Broomfield        NaN
 9  2011 Chaffee             0
10  2011 Cheyenne            0
# ℹ 758 more rows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Counting</a:t>
            </a:r>
            <a:r>
              <a:rPr/>
              <a:t> </a:t>
            </a:r>
            <a:r>
              <a:rPr/>
              <a:t>rows/observations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There are other summarizing functions, such as </a:t>
            </a:r>
            <a:r>
              <a:rPr>
                <a:latin typeface="Courier"/>
              </a:rPr>
              <a:t>n()</a:t>
            </a:r>
            <a:r>
              <a:rPr/>
              <a:t> count the number of rows/observations (NAs included).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</a:t>
            </a:r>
            <a:r>
              <a:rPr>
                <a:latin typeface="Courier"/>
              </a:rPr>
              <a:t>(),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mean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3
    year     n  mean
   &lt;dbl&gt; &lt;int&gt; &lt;dbl&gt;
 1  2011    64  5.20
 2  2012    64  5.89
 3  2013    64  5.63
 4  2014    64  4.12
 5  2015    64  6.4 
 6  2016    64 10.1 
 7  2017    64  7.24
 8  2018    64 11.7 
 9  2019    64  9.12
10  2020    64  6.26
11  2021    64  8.06
12  2022    64  9.29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Counting:</a:t>
            </a:r>
            <a:r>
              <a:rPr/>
              <a:t> </a:t>
            </a:r>
            <a:r>
              <a:rPr>
                <a:latin typeface="Courier"/>
              </a:rPr>
              <a:t>count()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count()</a:t>
            </a:r>
            <a:r>
              <a:rPr/>
              <a:t> and </a:t>
            </a:r>
            <a:r>
              <a:rPr>
                <a:latin typeface="Courier"/>
              </a:rPr>
              <a:t>n()</a:t>
            </a:r>
            <a:r>
              <a:rPr/>
              <a:t> can give very similar information.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Here we use count()</a:t>
            </a:r>
            <a:br/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(year)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2
    year     n
   &lt;dbl&gt; &lt;int&gt;
 1  2011    64
 2  2012    64
 3  2013    64
 4  2014    64
 5  2015    64
 6  2016    64
 7  2017    64
 8  2018    64
 9  2019    64
10  2020    64
11  2021    64
12  2022    64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Counting:</a:t>
            </a:r>
            <a:r>
              <a:rPr/>
              <a:t> </a:t>
            </a:r>
            <a:r>
              <a:rPr>
                <a:latin typeface="Courier"/>
              </a:rPr>
              <a:t>count()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count()</a:t>
            </a:r>
            <a:r>
              <a:rPr/>
              <a:t> and </a:t>
            </a:r>
            <a:r>
              <a:rPr>
                <a:latin typeface="Courier"/>
              </a:rPr>
              <a:t>n()</a:t>
            </a:r>
            <a:r>
              <a:rPr/>
              <a:t> can give very similar information.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n() with summarize</a:t>
            </a:r>
            <a:br/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n</a:t>
            </a:r>
            <a:r>
              <a:rPr>
                <a:latin typeface="Courier"/>
              </a:rPr>
              <a:t>())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12 × 2
    year `n()`
   &lt;dbl&gt; &lt;int&gt;
 1  2011    64
 2  2012    64
 3  2013    64
 4  2014    64
 5  2015    64
 6  2016    64
 7  2017    64
 8  2018    64
 9  2019    64
10  2020    64
11  2021    64
12  2022    64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few</a:t>
            </a:r>
            <a:r>
              <a:rPr/>
              <a:t> </a:t>
            </a:r>
            <a:r>
              <a:rPr/>
              <a:t>miscellaneous</a:t>
            </a:r>
            <a:r>
              <a:rPr/>
              <a:t> </a:t>
            </a:r>
            <a:r>
              <a:rPr/>
              <a:t>topics</a:t>
            </a:r>
            <a:r>
              <a:rPr/>
              <a:t> </a:t>
            </a:r>
            <a:r>
              <a:rPr/>
              <a:t>..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Base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might</a:t>
            </a:r>
            <a:r>
              <a:rPr/>
              <a:t> </a:t>
            </a:r>
            <a:r>
              <a:rPr/>
              <a:t>see:</a:t>
            </a:r>
            <a:r>
              <a:rPr/>
              <a:t> </a:t>
            </a:r>
            <a:r>
              <a:rPr>
                <a:latin typeface="Courier"/>
              </a:rPr>
              <a:t>length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 functions require a column as a vector using </a:t>
            </a:r>
            <a:r>
              <a:rPr>
                <a:latin typeface="Courier"/>
              </a:rPr>
              <a:t>pull()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er_year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(year) </a:t>
            </a:r>
            <a:r>
              <a:rPr i="1">
                <a:solidFill>
                  <a:srgbClr val="60A0B0"/>
                </a:solidFill>
                <a:latin typeface="Courier"/>
              </a:rPr>
              <a:t># pull() to make a vector</a:t>
            </a:r>
            <a:br/>
            <a:br/>
            <a:r>
              <a:rPr>
                <a:latin typeface="Courier"/>
              </a:rPr>
              <a:t>er_year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unique</a:t>
            </a:r>
            <a:r>
              <a:rPr>
                <a:latin typeface="Courier"/>
              </a:rPr>
              <a:t>() </a:t>
            </a:r>
            <a:r>
              <a:rPr i="1">
                <a:solidFill>
                  <a:srgbClr val="60A0B0"/>
                </a:solidFill>
                <a:latin typeface="Courier"/>
              </a:rPr>
              <a:t># similar to distinct()</a:t>
            </a:r>
          </a:p>
          <a:p>
            <a:pPr lvl="0" indent="0">
              <a:buNone/>
            </a:pPr>
            <a:r>
              <a:rPr>
                <a:latin typeface="Courier"/>
              </a:rPr>
              <a:t> [1] 2011 2012 2013 2014 2015 2016 2017 2018 2019 2020 2021 2022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Base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might</a:t>
            </a:r>
            <a:r>
              <a:rPr/>
              <a:t> </a:t>
            </a:r>
            <a:r>
              <a:rPr/>
              <a:t>see:</a:t>
            </a:r>
            <a:r>
              <a:rPr/>
              <a:t> </a:t>
            </a:r>
            <a:r>
              <a:rPr>
                <a:latin typeface="Courier"/>
              </a:rPr>
              <a:t>length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 functions require a column as a vector using </a:t>
            </a:r>
            <a:r>
              <a:rPr>
                <a:latin typeface="Courier"/>
              </a:rPr>
              <a:t>pull()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er_year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unique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() </a:t>
            </a:r>
            <a:r>
              <a:rPr i="1">
                <a:solidFill>
                  <a:srgbClr val="60A0B0"/>
                </a:solidFill>
                <a:latin typeface="Courier"/>
              </a:rPr>
              <a:t># similar to n_distinct()</a:t>
            </a:r>
          </a:p>
          <a:p>
            <a:pPr lvl="0" indent="0">
              <a:buNone/>
            </a:pPr>
            <a:r>
              <a:rPr>
                <a:latin typeface="Courier"/>
              </a:rPr>
              <a:t>[1] 12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summary()</a:t>
            </a:r>
            <a:r>
              <a:rPr/>
              <a:t> </a:t>
            </a:r>
            <a:r>
              <a:rPr/>
              <a:t>vs. 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summary()</a:t>
            </a:r>
            <a:r>
              <a:rPr/>
              <a:t> (base R) gives statistics table on a dataset.</a:t>
            </a:r>
          </a:p>
          <a:p>
            <a:pPr lvl="1"/>
            <a:r>
              <a:rPr>
                <a:latin typeface="Courier"/>
              </a:rPr>
              <a:t>summarize()</a:t>
            </a:r>
            <a:r>
              <a:rPr/>
              <a:t> (dplyr) creates a more customized summary tibble/dataframe.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count(x)</a:t>
            </a:r>
            <a:r>
              <a:rPr/>
              <a:t>: what unique values do you have?</a:t>
            </a:r>
          </a:p>
          <a:p>
            <a:pPr lvl="2"/>
            <a:r>
              <a:rPr>
                <a:latin typeface="Courier"/>
              </a:rPr>
              <a:t>distinct()</a:t>
            </a:r>
            <a:r>
              <a:rPr/>
              <a:t>: what are the distinct values?</a:t>
            </a:r>
          </a:p>
          <a:p>
            <a:pPr lvl="2"/>
            <a:r>
              <a:rPr>
                <a:latin typeface="Courier"/>
              </a:rPr>
              <a:t>n_distinct()</a:t>
            </a:r>
            <a:r>
              <a:rPr/>
              <a:t> with </a:t>
            </a:r>
            <a:r>
              <a:rPr>
                <a:latin typeface="Courier"/>
              </a:rPr>
              <a:t>pull()</a:t>
            </a:r>
            <a:r>
              <a:rPr/>
              <a:t>: how many distinct values?</a:t>
            </a:r>
          </a:p>
          <a:p>
            <a:pPr lvl="1"/>
            <a:r>
              <a:rPr>
                <a:latin typeface="Courier"/>
              </a:rPr>
              <a:t>group_by()</a:t>
            </a:r>
            <a:r>
              <a:rPr/>
              <a:t>: changes all subsequent functions</a:t>
            </a:r>
          </a:p>
          <a:p>
            <a:pPr lvl="2"/>
            <a:r>
              <a:rPr/>
              <a:t>combine with </a:t>
            </a:r>
            <a:r>
              <a:rPr>
                <a:latin typeface="Courier"/>
              </a:rPr>
              <a:t>summarize()</a:t>
            </a:r>
            <a:r>
              <a:rPr/>
              <a:t> to get statistics per group</a:t>
            </a:r>
          </a:p>
          <a:p>
            <a:pPr lvl="1"/>
            <a:r>
              <a:rPr>
                <a:latin typeface="Courier"/>
              </a:rPr>
              <a:t>summarize()</a:t>
            </a:r>
            <a:r>
              <a:rPr/>
              <a:t> with </a:t>
            </a:r>
            <a:r>
              <a:rPr>
                <a:latin typeface="Courier"/>
              </a:rPr>
              <a:t>n()</a:t>
            </a:r>
            <a:r>
              <a:rPr/>
              <a:t> gives the count (NAs included)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</a:p>
          <a:p>
            <a:pPr lvl="0" marL="0" indent="0">
              <a:buNone/>
            </a:pPr>
            <a:r>
              <a:rPr/>
              <a:t>💻 </a:t>
            </a:r>
            <a:r>
              <a:rPr>
                <a:hlinkClick r:id="rId3"/>
              </a:rPr>
              <a:t>Lab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4"/>
              </a:rPr>
              <a:t>Day 4 Cheatsheet</a:t>
            </a:r>
          </a:p>
          <a:p>
            <a:pPr lvl="0" marL="0" indent="0">
              <a:buNone/>
            </a:pPr>
            <a:r>
              <a:rPr/>
              <a:t>📃 </a:t>
            </a:r>
            <a:r>
              <a:rPr>
                <a:hlinkClick r:id="rId5"/>
              </a:rPr>
              <a:t>Posit’s data transformation Cheatsheet</a:t>
            </a:r>
          </a:p>
          <a:p>
            <a:pPr lvl="0" marL="0" indent="0">
              <a:buNone/>
            </a:pPr>
            <a:r>
              <a:rPr b="1"/>
              <a:t>For more advanced learning:</a:t>
            </a:r>
          </a:p>
          <a:p>
            <a:pPr lvl="1"/>
            <a:r>
              <a:rPr>
                <a:hlinkClick r:id="rId6"/>
              </a:rPr>
              <a:t>https://www.danieldsjoberg.com/gtsummary/</a:t>
            </a:r>
            <a:r>
              <a:rPr/>
              <a:t> for tables</a:t>
            </a:r>
          </a:p>
          <a:p>
            <a:pPr lvl="1"/>
            <a:r>
              <a:rPr/>
              <a:t>extra slides in this file.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the-end-g23b994289_128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 by Gerd Altmann from Pixabay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Extra</a:t>
            </a:r>
            <a:r>
              <a:rPr/>
              <a:t> </a:t>
            </a:r>
            <a:r>
              <a:rPr/>
              <a:t>Slides: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advanced</a:t>
            </a:r>
            <a:r>
              <a:rPr/>
              <a:t> </a:t>
            </a:r>
            <a:r>
              <a:rPr/>
              <a:t>summarization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Summarization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Statistical summarization across the data frame</a:t>
            </a:r>
          </a:p>
          <a:p>
            <a:pPr lvl="2"/>
            <a:r>
              <a:rPr>
                <a:latin typeface="Courier"/>
              </a:rPr>
              <a:t>rowMeans(x)</a:t>
            </a:r>
            <a:r>
              <a:rPr/>
              <a:t>: takes the means of each row of x</a:t>
            </a:r>
          </a:p>
          <a:p>
            <a:pPr lvl="2"/>
            <a:r>
              <a:rPr>
                <a:latin typeface="Courier"/>
              </a:rPr>
              <a:t>colMeans(x)</a:t>
            </a:r>
            <a:r>
              <a:rPr/>
              <a:t>: takes the means of each column of x</a:t>
            </a:r>
          </a:p>
          <a:p>
            <a:pPr lvl="2"/>
            <a:r>
              <a:rPr>
                <a:latin typeface="Courier"/>
              </a:rPr>
              <a:t>rowSums(x)</a:t>
            </a:r>
            <a:r>
              <a:rPr/>
              <a:t>: takes the sum of each row of x</a:t>
            </a:r>
          </a:p>
          <a:p>
            <a:pPr lvl="2"/>
            <a:r>
              <a:rPr>
                <a:latin typeface="Courier"/>
              </a:rPr>
              <a:t>colSums(x)</a:t>
            </a:r>
            <a:r>
              <a:rPr/>
              <a:t>: takes the sum of each column of x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"https://daseh.org/data/Yearly_CO2_Emissions_1000_tonnes.csv"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rowMeans()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Get means for each row.</a:t>
            </a:r>
          </a:p>
          <a:p>
            <a:pPr lvl="0" marL="0" indent="0">
              <a:buNone/>
            </a:pPr>
            <a:r>
              <a:rPr/>
              <a:t>Let’s see what the mean CO2 emissions is across the years 2010-2014 for each row (country):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starts_with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"201"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rowMeans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 10254   5106 129800    487  32040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(country)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rowMeans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starts_with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"201"</a:t>
            </a:r>
            <a:r>
              <a:rPr>
                <a:latin typeface="Courier"/>
              </a:rPr>
              <a:t>)),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2
  country       mean
  &lt;chr&gt;        &lt;dbl&gt;
1 Afghanistan  10254
2 Albania       5106
3 Algeria     129800
4 Andorra        487
5 Angola       32040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colMeans()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Get means for each column.</a:t>
            </a:r>
          </a:p>
          <a:p>
            <a:pPr lvl="0" marL="0" indent="0">
              <a:buNone/>
            </a:pPr>
            <a:r>
              <a:rPr/>
              <a:t>Let’s see what the mean is across each column (year):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starts_with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"201"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colMeans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2010     2011     2012     2013     2014 
165334.1 171764.9 174033.4 174856.2 175992.5 </a:t>
            </a:r>
          </a:p>
          <a:p>
            <a:pPr lvl="0" indent="0">
              <a:buNone/>
            </a:pPr>
            <a:r>
              <a:rPr>
                <a:latin typeface="Courier"/>
              </a:rPr>
              <a:t>yearly_co2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starts_with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"201"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(.x,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5
   `2010`  `2011`  `2012`  `2013`  `2014`
    &lt;dbl&gt;   &lt;dbl&gt;   &lt;dbl&gt;   &lt;dbl&gt;   &lt;dbl&gt;
1 165334. 171765. 174033. 174856. 175993.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*</a:t>
            </a:r>
            <a:r>
              <a:rPr/>
              <a:t> </a:t>
            </a:r>
            <a:r>
              <a:rPr/>
              <a:t>New!</a:t>
            </a:r>
            <a:r>
              <a:rPr/>
              <a:t> </a:t>
            </a:r>
            <a:r>
              <a:rPr/>
              <a:t>*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dplyr</a:t>
            </a:r>
            <a:r>
              <a:rPr/>
              <a:t> </a:t>
            </a:r>
            <a:r>
              <a:rPr/>
              <a:t>functions</a:t>
            </a:r>
            <a:r>
              <a:rPr/>
              <a:t> </a:t>
            </a:r>
            <a:r>
              <a:rPr/>
              <a:t>now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>
                <a:latin typeface="Courier"/>
              </a:rPr>
              <a:t>.by=</a:t>
            </a:r>
            <a:r>
              <a:rPr/>
              <a:t> </a:t>
            </a:r>
            <a:r>
              <a:rPr/>
              <a:t>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Pipe </a:t>
            </a:r>
            <a:r>
              <a:rPr>
                <a:latin typeface="Courier"/>
              </a:rPr>
              <a:t>er</a:t>
            </a:r>
            <a:r>
              <a:rPr/>
              <a:t> into </a:t>
            </a:r>
            <a:r>
              <a:rPr>
                <a:latin typeface="Courier"/>
              </a:rPr>
              <a:t>group_by</a:t>
            </a:r>
            <a:r>
              <a:rPr/>
              <a:t>, then pipe that into </a:t>
            </a:r>
            <a:r>
              <a:rPr>
                <a:latin typeface="Courier"/>
              </a:rPr>
              <a:t>summarize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(year)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avg_visits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max_visits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</a:p>
          <a:p>
            <a:pPr lvl="0" marL="0" indent="0">
              <a:buNone/>
            </a:pPr>
            <a:r>
              <a:rPr/>
              <a:t>is the same as..</a:t>
            </a:r>
          </a:p>
          <a:p>
            <a:pPr lvl="0" indent="0">
              <a:buNone/>
            </a:pPr>
            <a:r>
              <a:rPr>
                <a:latin typeface="Courier"/>
              </a:rPr>
              <a:t>er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avg_visits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mean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max_visits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.by =</a:t>
            </a:r>
            <a:r>
              <a:rPr>
                <a:latin typeface="Courier"/>
              </a:rPr>
              <a:t> year)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Summarization</dc:title>
  <dc:creator/>
  <cp:keywords/>
  <dcterms:created xsi:type="dcterms:W3CDTF">2026-06-11T18:30:23Z</dcterms:created>
  <dcterms:modified xsi:type="dcterms:W3CDTF">2026-06-11T18:30:23Z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