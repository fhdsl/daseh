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Relationship Id="rId43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n.wikipedia.org/wiki/Double-precision_floating-point_forma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ibble.tidyverse.org/articles/number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lubridate.tidyverse.org/" TargetMode="External" /><Relationship Id="rId3" Type="http://schemas.openxmlformats.org/officeDocument/2006/relationships/hyperlink" Target="https://lubridate.tidyverse.org/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/Data_Classes/lab/Data_Classes_Lab.Rmd" TargetMode="External" /><Relationship Id="rId4" Type="http://schemas.openxmlformats.org/officeDocument/2006/relationships/hyperlink" Target="https://daseh.org/modules/cheatsheets/Day-4.pdf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One</a:t>
            </a:r>
            <a:r>
              <a:rPr/>
              <a:t> </a:t>
            </a:r>
            <a:r>
              <a:rPr/>
              <a:t>dimensional</a:t>
            </a:r>
            <a:r>
              <a:rPr/>
              <a:t> </a:t>
            </a:r>
            <a:r>
              <a:rPr/>
              <a:t>vectors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numeric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have already covered </a:t>
            </a:r>
            <a:r>
              <a:rPr>
                <a:latin typeface="Courier"/>
              </a:rPr>
              <a:t>character</a:t>
            </a:r>
            <a:r>
              <a:rPr/>
              <a:t> and </a:t>
            </a:r>
            <a:r>
              <a:rPr>
                <a:latin typeface="Courier"/>
              </a:rPr>
              <a:t>numeric</a:t>
            </a:r>
            <a:r>
              <a:rPr/>
              <a:t> types.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"tree"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"stars_&amp;_sky"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"numeric"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numeric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 predominates if there are mixed classes.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"tree"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"4"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"7"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logical</a:t>
            </a:r>
            <a:r>
              <a:rPr/>
              <a:t> is a type that only has two possible elements: </a:t>
            </a:r>
            <a:r>
              <a:rPr>
                <a:latin typeface="Courier"/>
              </a:rPr>
              <a:t>TRUE</a:t>
            </a:r>
            <a:r>
              <a:rPr/>
              <a:t> and </a:t>
            </a:r>
            <a:r>
              <a:rPr>
                <a:latin typeface="Courier"/>
              </a:rPr>
              <a:t>FALSE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"logical"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logical</a:t>
            </a:r>
            <a:r>
              <a:rPr/>
              <a:t> elements are NOT in quotes.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Why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class of the data tells R how to process the data.</a:t>
            </a:r>
          </a:p>
          <a:p>
            <a:pPr lvl="0" marL="0" indent="0">
              <a:buNone/>
            </a:pPr>
            <a:r>
              <a:rPr/>
              <a:t>For example, it determines whether you can make summary statistics (numbers) or if you can sort alphabetically (characters).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General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is one useful functions associated with practically all R classes: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as.CLASS_NAME(x)</a:t>
            </a:r>
            <a:r>
              <a:rPr/>
              <a:t> </a:t>
            </a:r>
            <a:r>
              <a:rPr b="1"/>
              <a:t>coerces between classes</a:t>
            </a:r>
            <a:r>
              <a:rPr/>
              <a:t>. It turns </a:t>
            </a:r>
            <a:r>
              <a:rPr>
                <a:latin typeface="Courier"/>
              </a:rPr>
              <a:t>x</a:t>
            </a:r>
            <a:r>
              <a:rPr/>
              <a:t> into a certain class.</a:t>
            </a:r>
          </a:p>
          <a:p>
            <a:pPr lvl="0" marL="0" indent="0">
              <a:buNone/>
            </a:pPr>
            <a:r>
              <a:rPr/>
              <a:t>Examples:</a:t>
            </a:r>
          </a:p>
          <a:p>
            <a:pPr lvl="1"/>
            <a:r>
              <a:rPr>
                <a:latin typeface="Courier"/>
              </a:rPr>
              <a:t>as.numeric()</a:t>
            </a:r>
          </a:p>
          <a:p>
            <a:pPr lvl="1"/>
            <a:r>
              <a:rPr>
                <a:latin typeface="Courier"/>
              </a:rPr>
              <a:t>as.character()</a:t>
            </a:r>
          </a:p>
          <a:p>
            <a:pPr lvl="1"/>
            <a:r>
              <a:rPr>
                <a:latin typeface="Courier"/>
              </a:rPr>
              <a:t>as.logical()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Coercing:</a:t>
            </a:r>
            <a:r>
              <a:rPr/>
              <a:t> </a:t>
            </a:r>
            <a:r>
              <a:rPr/>
              <a:t>seamless</a:t>
            </a:r>
            <a:r>
              <a:rPr/>
              <a:t> </a:t>
            </a:r>
            <a:r>
              <a:rPr/>
              <a:t>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Sometimes coercing works great!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as.character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"4"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"4"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"7"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4 7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as.logical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"TRUE"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"FALSE"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"FALSE"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 TRUE FALSE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as.logical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FALSE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Coercing:</a:t>
            </a:r>
            <a:r>
              <a:rPr/>
              <a:t> </a:t>
            </a:r>
            <a:r>
              <a:rPr/>
              <a:t>not-so-seamless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When interpretation is ambiguous, R will return </a:t>
            </a:r>
            <a:r>
              <a:rPr>
                <a:latin typeface="Courier"/>
              </a:rPr>
              <a:t>NA</a:t>
            </a:r>
            <a:r>
              <a:rPr/>
              <a:t> (an R constant representing “</a:t>
            </a:r>
            <a:r>
              <a:rPr b="1"/>
              <a:t>N</a:t>
            </a:r>
            <a:r>
              <a:rPr/>
              <a:t>ot </a:t>
            </a:r>
            <a:r>
              <a:rPr b="1"/>
              <a:t>A</a:t>
            </a:r>
            <a:r>
              <a:rPr/>
              <a:t>vailable” i.e. missing value)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"4"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"7a"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Warning: NAs introduced by coercion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 1  4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as.logical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"TRUE"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"FALSE"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"UNKNOWN"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 TRUE FALSE    NA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is one reason we might want to convert data to numeric?</a:t>
            </a:r>
          </a:p>
          <a:p>
            <a:pPr lvl="0" marL="0" indent="0">
              <a:buNone/>
            </a:pPr>
            <a:r>
              <a:rPr/>
              <a:t>A. So we can take the mean</a:t>
            </a:r>
          </a:p>
          <a:p>
            <a:pPr lvl="0" marL="0" indent="0">
              <a:buNone/>
            </a:pPr>
            <a:r>
              <a:rPr/>
              <a:t>B. So the data looks better</a:t>
            </a:r>
          </a:p>
          <a:p>
            <a:pPr lvl="0" marL="0" indent="0">
              <a:buNone/>
            </a:pPr>
            <a:r>
              <a:rPr/>
              <a:t>C. So our data is correct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Number</a:t>
            </a:r>
            <a:r>
              <a:rPr/>
              <a:t> </a:t>
            </a:r>
            <a:r>
              <a:rPr/>
              <a:t>Subclasses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are two major number subclasses or types</a:t>
            </a:r>
          </a:p>
          <a:p>
            <a:pPr lvl="1">
              <a:buAutoNum type="arabicParenR"/>
            </a:pPr>
            <a:r>
              <a:rPr/>
              <a:t>Double (1.003)</a:t>
            </a:r>
          </a:p>
          <a:p>
            <a:pPr lvl="1">
              <a:buAutoNum type="arabicParenR"/>
            </a:pPr>
            <a:r>
              <a:rPr/>
              <a:t>Integer (1)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Number</a:t>
            </a:r>
            <a:r>
              <a:rPr/>
              <a:t> </a:t>
            </a:r>
            <a:r>
              <a:rPr/>
              <a:t>Subclasses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Double</a:t>
            </a:r>
            <a:r>
              <a:rPr/>
              <a:t> is equivalent to </a:t>
            </a:r>
            <a:r>
              <a:rPr>
                <a:latin typeface="Courier"/>
              </a:rPr>
              <a:t>numeric</a:t>
            </a:r>
            <a:r>
              <a:rPr/>
              <a:t>. It is a number that contains fractional values . Can be any amount of places after the decimal.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Double</a:t>
            </a:r>
            <a:r>
              <a:rPr/>
              <a:t> stands for </a:t>
            </a:r>
            <a:r>
              <a:rPr>
                <a:hlinkClick r:id="rId2"/>
              </a:rPr>
              <a:t>double-precision</a:t>
            </a:r>
          </a:p>
          <a:p>
            <a:pPr lvl="0" marL="0" indent="0">
              <a:buNone/>
            </a:pPr>
            <a:r>
              <a:rPr/>
              <a:t>For most purposes, the difference between integers and doubles doesn’t matter.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Significant</a:t>
            </a:r>
            <a:r>
              <a:rPr/>
              <a:t> </a:t>
            </a:r>
            <a:r>
              <a:rPr/>
              <a:t>figures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other</a:t>
            </a:r>
            <a:r>
              <a:rPr/>
              <a:t> </a:t>
            </a:r>
            <a:r>
              <a:rPr/>
              <a:t>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num</a:t>
            </a:r>
            <a:r>
              <a:rPr/>
              <a:t> function of the </a:t>
            </a:r>
            <a:r>
              <a:rPr>
                <a:latin typeface="Courier"/>
              </a:rPr>
              <a:t>tibble</a:t>
            </a:r>
            <a:r>
              <a:rPr/>
              <a:t> package can be used to change format. See here for more: </a:t>
            </a:r>
            <a:r>
              <a:rPr>
                <a:hlinkClick r:id="rId2"/>
              </a:rPr>
              <a:t>https://tibble.tidyverse.org/articles/numbers.html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</a:t>
            </a:r>
            <a:r>
              <a:rPr>
                <a:latin typeface="Courier"/>
              </a:rPr>
              <a:t>factor</a:t>
            </a:r>
            <a:r>
              <a:rPr/>
              <a:t> is a special </a:t>
            </a:r>
            <a:r>
              <a:rPr>
                <a:latin typeface="Courier"/>
              </a:rPr>
              <a:t>character</a:t>
            </a:r>
            <a:r>
              <a:rPr/>
              <a:t> vector where the elements have pre-defined groups or ‘levels’. You can think of these as qualitative or categorical variables. Order is often important.</a:t>
            </a:r>
          </a:p>
          <a:p>
            <a:pPr lvl="0" marL="0" indent="0">
              <a:buNone/>
            </a:pPr>
            <a:r>
              <a:rPr/>
              <a:t>Examples:</a:t>
            </a:r>
          </a:p>
          <a:p>
            <a:pPr lvl="1"/>
            <a:r>
              <a:rPr/>
              <a:t>red, orange, yellow, green, blue, purple</a:t>
            </a:r>
          </a:p>
          <a:p>
            <a:pPr lvl="1"/>
            <a:r>
              <a:rPr/>
              <a:t>breakfast, lunch, dinner</a:t>
            </a:r>
          </a:p>
          <a:p>
            <a:pPr lvl="1"/>
            <a:r>
              <a:rPr/>
              <a:t>baby, toddler, child, teen, adult</a:t>
            </a:r>
          </a:p>
          <a:p>
            <a:pPr lvl="1"/>
            <a:r>
              <a:rPr/>
              <a:t>Strongly Agree, Agree, Neutral, Disagree, Strongly Disagree</a:t>
            </a:r>
          </a:p>
          <a:p>
            <a:pPr lvl="1"/>
            <a:r>
              <a:rPr/>
              <a:t>beginner, novice, intermediate, expert</a:t>
            </a:r>
          </a:p>
          <a:p>
            <a:pPr lvl="0" marL="0" indent="0">
              <a:buNone/>
            </a:pPr>
            <a:r>
              <a:rPr/>
              <a:t>** We will learn more about factors in a later module. **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Classes</a:t>
            </a:r>
            <a:r>
              <a:rPr/>
              <a:t> </a:t>
            </a:r>
            <a:r>
              <a:rPr/>
              <a:t>Overview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double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Default</a:t>
                      </a:r>
                      <a:r>
                        <a:rPr/>
                        <a:t> </a:t>
                      </a:r>
                      <a:r>
                        <a:rPr/>
                        <a:t>for</a:t>
                      </a:r>
                      <a:r>
                        <a:rPr/>
                        <a:t> </a:t>
                      </a:r>
                      <a:r>
                        <a:rPr/>
                        <a:t>numbers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integer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integer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coerce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integer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as.integer()</a:t>
                      </a:r>
                      <a:r>
                        <a:rPr/>
                        <a:t> </a:t>
                      </a:r>
                      <a:r>
                        <a:rPr/>
                        <a:t>or</a:t>
                      </a:r>
                      <a:r>
                        <a:rPr/>
                        <a:t> </a:t>
                      </a:r>
                      <a:r>
                        <a:rPr/>
                        <a:t>use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sample()</a:t>
                      </a:r>
                      <a:r>
                        <a:rPr/>
                        <a:t> </a:t>
                      </a:r>
                      <a:r>
                        <a:rPr/>
                        <a:t>or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seq()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create</a:t>
                      </a:r>
                      <a:r>
                        <a:rPr/>
                        <a:t> </a:t>
                      </a:r>
                      <a:r>
                        <a:rPr/>
                        <a:t>whole</a:t>
                      </a:r>
                      <a:r>
                        <a:rPr/>
                        <a:t> </a:t>
                      </a:r>
                      <a:r>
                        <a:rPr/>
                        <a:t>numbers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“</a:t>
                      </a:r>
                      <a:r>
                        <a:rPr/>
                        <a:t>FALSE</a:t>
                      </a:r>
                      <a:r>
                        <a:rPr/>
                        <a:t>”</a:t>
                      </a:r>
                      <a:r>
                        <a:rPr/>
                        <a:t>,</a:t>
                      </a:r>
                      <a:r>
                        <a:rPr/>
                        <a:t> </a:t>
                      </a:r>
                      <a:r>
                        <a:rPr/>
                        <a:t>“</a:t>
                      </a:r>
                      <a:r>
                        <a:rPr/>
                        <a:t>Ball</a:t>
                      </a:r>
                      <a:r>
                        <a:rPr/>
                        <a:t>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Need</a:t>
                      </a:r>
                      <a:r>
                        <a:rPr/>
                        <a:t> </a:t>
                      </a:r>
                      <a:r>
                        <a:rPr/>
                        <a:t>quotes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FALSE,</a:t>
                      </a:r>
                      <a:r>
                        <a:rPr/>
                        <a:t> </a:t>
                      </a:r>
                      <a:r>
                        <a:rPr/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</a:t>
                      </a:r>
                      <a:r>
                        <a:rPr/>
                        <a:t> </a:t>
                      </a:r>
                      <a:r>
                        <a:rPr/>
                        <a:t>quotes,</a:t>
                      </a:r>
                      <a:r>
                        <a:rPr/>
                        <a:t> </a:t>
                      </a:r>
                      <a:r>
                        <a:rPr/>
                        <a:t>0</a:t>
                      </a:r>
                      <a:r>
                        <a:rPr/>
                        <a:t> </a:t>
                      </a:r>
                      <a:r>
                        <a:rPr/>
                        <a:t>and</a:t>
                      </a:r>
                      <a:r>
                        <a:rPr/>
                        <a:t> </a:t>
                      </a:r>
                      <a:r>
                        <a:rPr/>
                        <a:t>1,</a:t>
                      </a:r>
                      <a:r>
                        <a:rPr/>
                        <a:t> </a:t>
                      </a:r>
                      <a:r>
                        <a:rPr/>
                        <a:t>respectively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“</a:t>
                      </a:r>
                      <a:r>
                        <a:rPr/>
                        <a:t>Small</a:t>
                      </a:r>
                      <a:r>
                        <a:rPr/>
                        <a:t>”</a:t>
                      </a:r>
                      <a:r>
                        <a:rPr/>
                        <a:t>,</a:t>
                      </a:r>
                      <a:r>
                        <a:rPr/>
                        <a:t> </a:t>
                      </a:r>
                      <a:r>
                        <a:rPr/>
                        <a:t>“</a:t>
                      </a:r>
                      <a:r>
                        <a:rPr/>
                        <a:t>Large</a:t>
                      </a:r>
                      <a:r>
                        <a:rPr/>
                        <a:t>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factor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factor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coerce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factor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factor()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Special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are two most popular R classes used when working with dates and times:</a:t>
            </a:r>
          </a:p>
          <a:p>
            <a:pPr lvl="1"/>
            <a:r>
              <a:rPr>
                <a:latin typeface="Courier"/>
              </a:rPr>
              <a:t>Date</a:t>
            </a:r>
            <a:r>
              <a:rPr/>
              <a:t> class - a calendar date</a:t>
            </a:r>
          </a:p>
          <a:p>
            <a:pPr lvl="1"/>
            <a:r>
              <a:rPr>
                <a:latin typeface="Courier"/>
              </a:rPr>
              <a:t>POSIXct</a:t>
            </a:r>
            <a:r>
              <a:rPr/>
              <a:t> class - a calendar date with hours, minutes, seconds</a:t>
            </a:r>
          </a:p>
          <a:p>
            <a:pPr lvl="0" marL="0" indent="0">
              <a:buNone/>
            </a:pPr>
            <a:r>
              <a:rPr/>
              <a:t>Converting data from character to </a:t>
            </a:r>
            <a:r>
              <a:rPr>
                <a:latin typeface="Courier"/>
              </a:rPr>
              <a:t>Date</a:t>
            </a:r>
            <a:r>
              <a:rPr/>
              <a:t>/</a:t>
            </a:r>
            <a:r>
              <a:rPr>
                <a:latin typeface="Courier"/>
              </a:rPr>
              <a:t>POSIXct</a:t>
            </a:r>
            <a:r>
              <a:rPr/>
              <a:t> allows special functions date/date and time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lubridate</a:t>
            </a:r>
            <a:r>
              <a:rPr/>
              <a:t> (part of </a:t>
            </a:r>
            <a:r>
              <a:rPr>
                <a:latin typeface="Courier"/>
              </a:rPr>
              <a:t>tidyverse</a:t>
            </a:r>
            <a:r>
              <a:rPr/>
              <a:t>) helps work with </a:t>
            </a:r>
            <a:r>
              <a:rPr>
                <a:latin typeface="Courier"/>
              </a:rPr>
              <a:t>Date</a:t>
            </a:r>
            <a:r>
              <a:rPr/>
              <a:t> / </a:t>
            </a:r>
            <a:r>
              <a:rPr>
                <a:latin typeface="Courier"/>
              </a:rPr>
              <a:t>POSIXct</a:t>
            </a:r>
            <a:r>
              <a:rPr/>
              <a:t> class objects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 </a:t>
            </a:r>
            <a:r>
              <a:rPr i="1">
                <a:solidFill>
                  <a:srgbClr val="60A0B0"/>
                </a:solidFill>
                <a:latin typeface="Courier"/>
              </a:rPr>
              <a:t># Contains lubridate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lubridate package Year Month Day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"Date"</a:t>
            </a:r>
          </a:p>
          <a:p>
            <a:pPr lvl="0" marL="0" indent="0">
              <a:buNone/>
            </a:pPr>
            <a:r>
              <a:rPr/>
              <a:t>Note for function </a:t>
            </a:r>
            <a:r>
              <a:rPr>
                <a:latin typeface="Courier"/>
              </a:rPr>
              <a:t>ymd</a:t>
            </a:r>
            <a:r>
              <a:rPr/>
              <a:t>: </a:t>
            </a:r>
            <a:r>
              <a:rPr b="1"/>
              <a:t>y</a:t>
            </a:r>
            <a:r>
              <a:rPr/>
              <a:t>ear </a:t>
            </a:r>
            <a:r>
              <a:rPr b="1"/>
              <a:t>m</a:t>
            </a:r>
            <a:r>
              <a:rPr/>
              <a:t>onth </a:t>
            </a:r>
            <a:r>
              <a:rPr b="1"/>
              <a:t>d</a:t>
            </a:r>
            <a:r>
              <a:rPr/>
              <a:t>ay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Dates</a:t>
            </a:r>
            <a:r>
              <a:rPr/>
              <a:t> </a:t>
            </a:r>
            <a:r>
              <a:rPr/>
              <a:t>are</a:t>
            </a:r>
            <a:r>
              <a:rPr/>
              <a:t> </a:t>
            </a:r>
            <a:r>
              <a:rPr/>
              <a:t>useful!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"2021-06-18"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b</a:t>
            </a:r>
          </a:p>
          <a:p>
            <a:pPr lvl="0" indent="0">
              <a:buNone/>
            </a:pPr>
            <a:r>
              <a:rPr>
                <a:latin typeface="Courier"/>
              </a:rPr>
              <a:t>## Time difference of -3 days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matches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"06/15/2021"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dmy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"15-June-2021"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</a:t>
            </a:r>
            <a:r>
              <a:rPr/>
              <a:t> </a:t>
            </a:r>
            <a:r>
              <a:rPr/>
              <a:t>conversion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Here’s a dataset on the SARS-CoV-2 viral load measured in wastewater between 2022 and 2024, collected by the collected by the National Wastewater Surveillance System.</a:t>
            </a:r>
          </a:p>
          <a:p>
            <a:pPr lvl="0" marL="0" indent="0">
              <a:buNone/>
            </a:pPr>
            <a:r>
              <a:rPr/>
              <a:t>Let’s look at the </a:t>
            </a:r>
            <a:r>
              <a:rPr i="1"/>
              <a:t>date_start</a:t>
            </a:r>
            <a:r>
              <a:rPr/>
              <a:t> variable, the first date of the sampling window.</a:t>
            </a:r>
          </a:p>
          <a:p>
            <a:pPr lvl="0" indent="0">
              <a:buNone/>
            </a:pPr>
            <a:r>
              <a:rPr>
                <a:latin typeface="Courier"/>
              </a:rPr>
              <a:t>sars_ww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"https://daseh.org/data/SARS-CoV-2_Wastewater_Data.csv"</a:t>
            </a:r>
            <a:r>
              <a:rPr>
                <a:latin typeface="Courier"/>
              </a:rPr>
              <a:t>) </a:t>
            </a:r>
            <a:br/>
            <a:r>
              <a:rPr>
                <a:latin typeface="Courier"/>
              </a:rPr>
              <a:t> 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Selecting a few columns for easy viewing</a:t>
            </a:r>
            <a:br/>
            <a:r>
              <a:rPr>
                <a:latin typeface="Courier"/>
              </a:rPr>
              <a:t>sars_ww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sars_ww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(town_name, date_start)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</a:t>
            </a:r>
            <a:r>
              <a:rPr/>
              <a:t> </a:t>
            </a:r>
            <a:r>
              <a:rPr/>
              <a:t>conversion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Notice that </a:t>
            </a:r>
            <a:r>
              <a:rPr>
                <a:latin typeface="Courier"/>
              </a:rPr>
              <a:t>date_start</a:t>
            </a:r>
            <a:r>
              <a:rPr/>
              <a:t> is </a:t>
            </a:r>
            <a:r>
              <a:rPr>
                <a:latin typeface="Courier"/>
              </a:rPr>
              <a:t>chr</a:t>
            </a:r>
            <a:r>
              <a:rPr/>
              <a:t> class, not </a:t>
            </a:r>
            <a:r>
              <a:rPr>
                <a:latin typeface="Courier"/>
              </a:rPr>
              <a:t>date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sars_ww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2,813 × 2
##    town_name date_start
##    &lt;chr&gt;     &lt;chr&gt;     
##  1 Barry     6/21/2020 
##  2 Barry     6/22/2020 
##  3 Barry     6/23/2020 
##  4 Barry     6/24/2020 
##  5 Barry     6/25/2020 
##  6 Barry     6/26/2020 
##  7 Barry     6/27/2020 
##  8 Barry     6/28/2020 
##  9 Barry     6/29/2020 
## 10 Barry     6/30/2020 
## # ℹ 2,803 more rows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</a:t>
            </a:r>
            <a:r>
              <a:rPr/>
              <a:t> </a:t>
            </a:r>
            <a:r>
              <a:rPr/>
              <a:t>conversion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would need to use </a:t>
            </a:r>
            <a:r>
              <a:rPr>
                <a:latin typeface="Courier"/>
              </a:rPr>
              <a:t>mutate()</a:t>
            </a:r>
            <a:r>
              <a:rPr/>
              <a:t> to help us modify that column.</a:t>
            </a:r>
          </a:p>
          <a:p>
            <a:pPr lvl="0" indent="0">
              <a:buNone/>
            </a:pPr>
            <a:r>
              <a:rPr>
                <a:latin typeface="Courier"/>
              </a:rPr>
              <a:t>sars_ww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date_start_fixed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mdy</a:t>
            </a:r>
            <a:r>
              <a:rPr>
                <a:latin typeface="Courier"/>
              </a:rPr>
              <a:t>(date_start))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2,813 × 3
##    town_name date_start date_start_fixed
##    &lt;chr&gt;     &lt;chr&gt;      &lt;date&gt;          
##  1 Barry     6/21/2020  2020-06-21      
##  2 Barry     6/22/2020  2020-06-22      
##  3 Barry     6/23/2020  2020-06-23      
##  4 Barry     6/24/2020  2020-06-24      
##  5 Barry     6/25/2020  2020-06-25      
##  6 Barry     6/26/2020  2020-06-26      
##  7 Barry     6/27/2020  2020-06-27      
##  8 Barry     6/28/2020  2020-06-28      
##  9 Barry     6/29/2020  2020-06-29      
## 10 Barry     6/30/2020  2020-06-30      
## # ℹ 2,803 more rows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Other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Two-dimensional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Two-dimensional classes are those we would often use to store data read from a file</a:t>
            </a:r>
          </a:p>
          <a:p>
            <a:pPr lvl="1"/>
            <a:r>
              <a:rPr/>
              <a:t>a data frame (</a:t>
            </a:r>
            <a:r>
              <a:rPr>
                <a:latin typeface="Courier"/>
              </a:rPr>
              <a:t>data.frame</a:t>
            </a:r>
            <a:r>
              <a:rPr/>
              <a:t> or </a:t>
            </a:r>
            <a:r>
              <a:rPr>
                <a:latin typeface="Courier"/>
              </a:rPr>
              <a:t>tibble</a:t>
            </a:r>
            <a:r>
              <a:rPr/>
              <a:t> class)</a:t>
            </a:r>
          </a:p>
          <a:p>
            <a:pPr lvl="1"/>
            <a:r>
              <a:rPr/>
              <a:t>a matrix (</a:t>
            </a:r>
            <a:r>
              <a:rPr>
                <a:latin typeface="Courier"/>
              </a:rPr>
              <a:t>matrix</a:t>
            </a:r>
            <a:r>
              <a:rPr/>
              <a:t> class)</a:t>
            </a:r>
          </a:p>
          <a:p>
            <a:pPr lvl="2"/>
            <a:r>
              <a:rPr/>
              <a:t>also composed of rows and columns</a:t>
            </a:r>
          </a:p>
          <a:p>
            <a:pPr lvl="2"/>
            <a:r>
              <a:rPr/>
              <a:t>unlike </a:t>
            </a:r>
            <a:r>
              <a:rPr>
                <a:latin typeface="Courier"/>
              </a:rPr>
              <a:t>data.frame</a:t>
            </a:r>
            <a:r>
              <a:rPr/>
              <a:t> or </a:t>
            </a:r>
            <a:r>
              <a:rPr>
                <a:latin typeface="Courier"/>
              </a:rPr>
              <a:t>tibble</a:t>
            </a:r>
            <a:r>
              <a:rPr/>
              <a:t>, the entire matrix is composed of one R class</a:t>
            </a:r>
          </a:p>
          <a:p>
            <a:pPr lvl="2"/>
            <a:r>
              <a:rPr/>
              <a:t>for example: all entries are </a:t>
            </a:r>
            <a:r>
              <a:rPr>
                <a:latin typeface="Courier"/>
              </a:rPr>
              <a:t>numeric</a:t>
            </a:r>
            <a:r>
              <a:rPr/>
              <a:t>, or all entries are </a:t>
            </a:r>
            <a:r>
              <a:rPr>
                <a:latin typeface="Courier"/>
              </a:rPr>
              <a:t>character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One other data type that is the most generic are </a:t>
            </a:r>
            <a:r>
              <a:rPr>
                <a:latin typeface="Courier"/>
              </a:rPr>
              <a:t>lists</a:t>
            </a:r>
            <a:r>
              <a:rPr/>
              <a:t>.</a:t>
            </a:r>
          </a:p>
          <a:p>
            <a:pPr lvl="1"/>
            <a:r>
              <a:rPr/>
              <a:t>Can hold vectors, strings, matrices, models, list of other list!</a:t>
            </a:r>
          </a:p>
          <a:p>
            <a:pPr lvl="1"/>
            <a:r>
              <a:rPr/>
              <a:t>Lists are used when you need to do something repeatedly across lots of data - for example wrangling several similar files at once</a:t>
            </a:r>
          </a:p>
          <a:p>
            <a:pPr lvl="1"/>
            <a:r>
              <a:rPr/>
              <a:t>Lists are a bit more advanced but you may encounter them when you work with others or look up solutions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Making</a:t>
            </a:r>
            <a:r>
              <a:rPr/>
              <a:t> </a:t>
            </a: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Can be created using </a:t>
            </a:r>
            <a:r>
              <a:rPr>
                <a:latin typeface="Courier"/>
              </a:rPr>
              <a:t>list()</a:t>
            </a:r>
          </a:p>
          <a:p>
            <a:pPr lvl="0" indent="0">
              <a:buNone/>
            </a:pPr>
            <a:r>
              <a:rPr>
                <a:latin typeface="Courier"/>
              </a:rPr>
              <a:t>mylist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mylist</a:t>
            </a:r>
          </a:p>
          <a:p>
            <a:pPr lvl="0" indent="0">
              <a:buNone/>
            </a:pPr>
            <a:r>
              <a:rPr>
                <a:latin typeface="Courier"/>
              </a:rPr>
              <a:t>## [[1]]
## [1] "A" "b" "c"
## 
## [[2]]
## [1] 1 2 3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(mylist)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"list"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coerce between classes using </a:t>
            </a:r>
            <a:r>
              <a:rPr>
                <a:latin typeface="Courier"/>
              </a:rPr>
              <a:t>as.numeric()</a:t>
            </a:r>
            <a:r>
              <a:rPr/>
              <a:t> or </a:t>
            </a:r>
            <a:r>
              <a:rPr>
                <a:latin typeface="Courier"/>
              </a:rPr>
              <a:t>as.character()</a:t>
            </a:r>
          </a:p>
          <a:p>
            <a:pPr lvl="1"/>
            <a:r>
              <a:rPr/>
              <a:t>data frames, tibbles, matrices, and lists are all classes of objects</a:t>
            </a:r>
          </a:p>
          <a:p>
            <a:pPr lvl="1"/>
            <a:r>
              <a:rPr/>
              <a:t>lists can contain multiples of any other class of data including lists!</a:t>
            </a:r>
          </a:p>
          <a:p>
            <a:pPr lvl="1"/>
            <a:r>
              <a:rPr/>
              <a:t>calendar dates can be represented with the </a:t>
            </a:r>
            <a:r>
              <a:rPr>
                <a:latin typeface="Courier"/>
              </a:rPr>
              <a:t>Date</a:t>
            </a:r>
            <a:r>
              <a:rPr/>
              <a:t> class using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mdy()</a:t>
            </a:r>
            <a:r>
              <a:rPr/>
              <a:t> functions from </a:t>
            </a:r>
            <a:r>
              <a:rPr>
                <a:hlinkClick r:id="rId2"/>
                <a:latin typeface="Courier"/>
              </a:rPr>
              <a:t>lubridate</a:t>
            </a:r>
            <a:r>
              <a:rPr>
                <a:hlinkClick r:id="rId3"/>
              </a:rPr>
              <a:t> package</a:t>
            </a:r>
          </a:p>
          <a:p>
            <a:pPr lvl="1"/>
            <a:r>
              <a:rPr/>
              <a:t>can then easily subtract </a:t>
            </a:r>
            <a:r>
              <a:rPr>
                <a:latin typeface="Courier"/>
              </a:rPr>
              <a:t>Date</a:t>
            </a:r>
            <a:r>
              <a:rPr/>
              <a:t> or </a:t>
            </a:r>
            <a:r>
              <a:rPr>
                <a:latin typeface="Courier"/>
              </a:rPr>
              <a:t>POSIXct</a:t>
            </a:r>
            <a:r>
              <a:rPr/>
              <a:t> class variables or pull out aspects like year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4"/>
              </a:rPr>
              <a:t>Day 4 Cheatsheet</a:t>
            </a:r>
          </a:p>
          <a:p>
            <a:pPr lvl="0" marL="0" indent="0">
              <a:buNone/>
            </a:pPr>
            <a:r>
              <a:rPr/>
              <a:t> </a:t>
            </a:r>
            <a:r>
              <a:rPr b="1"/>
              <a:t>For more advanced learning:</a:t>
            </a:r>
            <a:r>
              <a:rPr/>
              <a:t> see the extra slides in this file!  </a:t>
            </a:r>
          </a:p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Extra</a:t>
            </a:r>
            <a:r>
              <a:rPr/>
              <a:t> </a:t>
            </a:r>
            <a:r>
              <a:rPr/>
              <a:t>Slides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as.matrix()</a:t>
            </a:r>
            <a:r>
              <a:rPr/>
              <a:t> creates a matrix from a data frame or tibble (where all values are the same class).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matrix()</a:t>
            </a:r>
            <a:r>
              <a:rPr/>
              <a:t> creates a matrix from scratch.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ncol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
## [1,]    1    4
## [2,]    2    5
## [3,]    3    6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 elements can be named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letters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numbers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one_matrix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ncol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mylist_named</a:t>
            </a:r>
          </a:p>
          <a:p>
            <a:pPr lvl="0" indent="0">
              <a:buNone/>
            </a:pPr>
            <a:r>
              <a:rPr>
                <a:latin typeface="Courier"/>
              </a:rPr>
              <a:t>## $letters
## [1] "A" "b" "c"
## 
## $numbers
## [1] 1 2 3
## 
## $one_matrix
##      [,1] [,2]
## [1,]    1    3
## [2,]    2    4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lubridate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manipulate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"2021-07-15"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 "2021-07-15"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day</a:t>
            </a:r>
            <a:r>
              <a:rPr>
                <a:latin typeface="Courier"/>
              </a:rPr>
              <a:t>(x) </a:t>
            </a:r>
            <a:r>
              <a:rPr i="1">
                <a:solidFill>
                  <a:srgbClr val="60A0B0"/>
                </a:solidFill>
                <a:latin typeface="Courier"/>
              </a:rPr>
              <a:t># see also: month(x) , year(x)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15 15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days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"2021-06-25" "2021-07-25"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months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days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"2021-07-25" "2021-08-25"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wday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label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Tue Thu
## Levels: Sun &lt; Mon &lt; Tue &lt; Wed &lt; Thu &lt; Fri &lt; Sat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lubridate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manipulate</a:t>
            </a:r>
            <a:r>
              <a:rPr/>
              <a:t> </a:t>
            </a:r>
            <a:r>
              <a:rPr>
                <a:latin typeface="Courier"/>
              </a:rPr>
              <a:t>POSIXct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ymd_hms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"2013-01-24 19:39:07"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 19:39:07 UTC"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date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"2013-01-24"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hours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 22:39:07 UTC"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floor_date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4070A0"/>
                </a:solidFill>
                <a:latin typeface="Courier"/>
              </a:rPr>
              <a:t>"1 hour"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see also: ceiling_date()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 19:00:00 UTC"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Differences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x1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x2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"2021-07-15"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difftime</a:t>
            </a:r>
            <a:r>
              <a:rPr>
                <a:latin typeface="Courier"/>
              </a:rPr>
              <a:t>(x2, x1, </a:t>
            </a:r>
            <a:r>
              <a:rPr>
                <a:solidFill>
                  <a:srgbClr val="7D9029"/>
                </a:solidFill>
                <a:latin typeface="Courier"/>
              </a:rPr>
              <a:t>units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"weeks"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Time difference of 4.285714 weeks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difftime</a:t>
            </a:r>
            <a:r>
              <a:rPr>
                <a:latin typeface="Courier"/>
              </a:rPr>
              <a:t>(x2, x1, </a:t>
            </a:r>
            <a:r>
              <a:rPr>
                <a:solidFill>
                  <a:srgbClr val="7D9029"/>
                </a:solidFill>
                <a:latin typeface="Courier"/>
              </a:rPr>
              <a:t>units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"weeks"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4.285714</a:t>
            </a:r>
          </a:p>
          <a:p>
            <a:pPr lvl="0" marL="0" indent="0">
              <a:buNone/>
            </a:pPr>
            <a:r>
              <a:rPr/>
              <a:t>Similar can be done with time (e.g. difference in hours).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n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br/>
            <a:r>
              <a:rPr>
                <a:latin typeface="Courier"/>
              </a:rPr>
              <a:t>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2 3 4 5 6 7 8 9</a:t>
            </a:r>
          </a:p>
          <a:p>
            <a:pPr lvl="0" indent="0">
              <a:buNone/>
            </a:pPr>
            <a:r>
              <a:rPr>
                <a:latin typeface="Courier"/>
              </a:rPr>
              <a:t>mat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matrix</a:t>
            </a:r>
            <a:r>
              <a:rPr>
                <a:latin typeface="Courier"/>
              </a:rPr>
              <a:t>(n, </a:t>
            </a:r>
            <a:r>
              <a:rPr>
                <a:solidFill>
                  <a:srgbClr val="7D9029"/>
                </a:solidFill>
                <a:latin typeface="Courier"/>
              </a:rPr>
              <a:t>nrow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mat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 [,3]
## [1,]    1    4    7
## [2,]    2    5    8
## [3,]    3    6    9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Vectors: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 get element(s) of a vector (one-dimensional object):</a:t>
            </a:r>
          </a:p>
          <a:p>
            <a:pPr lvl="1"/>
            <a:r>
              <a:rPr/>
              <a:t>Type the name of the variable and open the rectangular brackets </a:t>
            </a:r>
            <a:r>
              <a:rPr>
                <a:latin typeface="Courier"/>
              </a:rPr>
              <a:t>[ ]</a:t>
            </a:r>
          </a:p>
          <a:p>
            <a:pPr lvl="1"/>
            <a:r>
              <a:rPr/>
              <a:t>In the rectangular brackets, type index (/vector of indexes) of element (/elements) you want to pull. </a:t>
            </a:r>
            <a:r>
              <a:rPr b="1"/>
              <a:t>In R, indexes start from 1</a:t>
            </a:r>
            <a:r>
              <a:rPr/>
              <a:t> (not: 0)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 "d" "e" "f" "g" "h"</a:t>
            </a:r>
          </a:p>
          <a:p>
            <a:pPr lvl="0" indent="0">
              <a:buNone/>
            </a:pPr>
            <a:r>
              <a:rPr>
                <a:latin typeface="Courier"/>
              </a:rPr>
              <a:t>x[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"b"</a:t>
            </a:r>
          </a:p>
          <a:p>
            <a:pPr lvl="0" indent="0">
              <a:buNone/>
            </a:pPr>
            <a:r>
              <a:rPr>
                <a:latin typeface="Courier"/>
              </a:rPr>
              <a:t>x[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)]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NA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Matrices: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 you cannot use </a:t>
            </a:r>
            <a:r>
              <a:rPr>
                <a:latin typeface="Courier"/>
              </a:rPr>
              <a:t>dplyr</a:t>
            </a:r>
            <a:r>
              <a:rPr/>
              <a:t> functions (like </a:t>
            </a:r>
            <a:r>
              <a:rPr>
                <a:latin typeface="Courier"/>
              </a:rPr>
              <a:t>select</a:t>
            </a:r>
            <a:r>
              <a:rPr/>
              <a:t>) on matrices. To subset matrix rows and/or columns, use </a:t>
            </a:r>
            <a:r>
              <a:rPr>
                <a:latin typeface="Courier"/>
              </a:rPr>
              <a:t>matrix[row_index, column_index]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mat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 [,3]
## [1,]    1    4    7
## [2,]    2    5    8
## [3,]    3    6    9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individual entry: row 1, column 1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individual entry: row 1, column 2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4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] </a:t>
            </a:r>
            <a:r>
              <a:rPr i="1">
                <a:solidFill>
                  <a:srgbClr val="60A0B0"/>
                </a:solidFill>
                <a:latin typeface="Courier"/>
              </a:rPr>
              <a:t># first row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4 7</a:t>
            </a:r>
          </a:p>
          <a:p>
            <a:pPr lvl="0" indent="0">
              <a:buNone/>
            </a:pPr>
            <a:r>
              <a:rPr>
                <a:latin typeface="Courier"/>
              </a:rPr>
              <a:t>mat[,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first column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2 3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)] </a:t>
            </a:r>
            <a:r>
              <a:rPr i="1">
                <a:solidFill>
                  <a:srgbClr val="60A0B0"/>
                </a:solidFill>
                <a:latin typeface="Courier"/>
              </a:rPr>
              <a:t># subset of original matrix: two rows and two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
## [1,]    4    7
## [2,]    5    8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Lists: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reference data from list using </a:t>
            </a:r>
            <a:r>
              <a:rPr>
                <a:latin typeface="Courier"/>
              </a:rPr>
              <a:t>$</a:t>
            </a:r>
            <a:r>
              <a:rPr/>
              <a:t> (if elements are named) or using </a:t>
            </a:r>
            <a:r>
              <a:rPr>
                <a:latin typeface="Courier"/>
              </a:rPr>
              <a:t>[[ ]]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mylist_named[[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]]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mylist_named[[</a:t>
            </a:r>
            <a:r>
              <a:rPr>
                <a:solidFill>
                  <a:srgbClr val="4070A0"/>
                </a:solidFill>
                <a:latin typeface="Courier"/>
              </a:rPr>
              <a:t>"letters"</a:t>
            </a:r>
            <a:r>
              <a:rPr>
                <a:latin typeface="Courier"/>
              </a:rPr>
              <a:t>]] </a:t>
            </a:r>
            <a:r>
              <a:rPr i="1">
                <a:solidFill>
                  <a:srgbClr val="60A0B0"/>
                </a:solidFill>
                <a:latin typeface="Courier"/>
              </a:rPr>
              <a:t># works only for a list with elements' names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letters </a:t>
            </a:r>
            <a:r>
              <a:rPr i="1">
                <a:solidFill>
                  <a:srgbClr val="60A0B0"/>
                </a:solidFill>
                <a:latin typeface="Courier"/>
              </a:rPr>
              <a:t># works only for a list with elements' names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Classes</dc:title>
  <dc:creator/>
  <cp:keywords/>
  <dcterms:created xsi:type="dcterms:W3CDTF">2026-06-11T15:50:31Z</dcterms:created>
  <dcterms:modified xsi:type="dcterms:W3CDTF">2026-06-11T15:50:31Z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