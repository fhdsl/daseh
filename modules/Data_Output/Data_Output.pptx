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100"/>
    <p:restoredTop autoAdjust="0" sz="94752"/>
  </p:normalViewPr>
  <p:slideViewPr>
    <p:cSldViewPr snapToGrid="0" snapToObjects="1">
      <p:cViewPr varScale="1">
        <p:scale>
          <a:sx d="100" n="198"/>
          <a:sy d="100" n="198"/>
        </p:scale>
        <p:origin x="1208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Relationship Id="rId18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>
            <a:lvl1pPr algn="ctr"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1730"/>
            <a:ext cx="6400800" cy="347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18C2E-CA3D-3E7E-792D-7E5EF1245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6" y="289937"/>
            <a:ext cx="4638608" cy="259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 baseline="0">
          <a:solidFill>
            <a:schemeClr val="tx1"/>
          </a:solidFill>
          <a:latin typeface="Montserrat" panose="00000500000000000000" pitchFamily="2" charset="77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itchFamily="2" charset="2"/>
        <a:buChar char="§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" TargetMode="External" /><Relationship Id="rId3" Type="http://schemas.openxmlformats.org/officeDocument/2006/relationships/hyperlink" Target="https://daseh.org/modules/Data_Output/lab/Data_Output_Lab.Rmd" TargetMode="External" /><Relationship Id="rId4" Type="http://schemas.openxmlformats.org/officeDocument/2006/relationships/hyperlink" Target="https://rstudio.github.io/cheatsheets/data-import.pdf" TargetMode="External" /><Relationship Id="rId5" Type="http://schemas.openxmlformats.org/officeDocument/2006/relationships/hyperlink" Target="https://daseh.org/modules/cheatsheets/Day-2.pdf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Output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1730"/>
            <a:ext cx="6400800" cy="34737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While it’s nice to be able to read in a variety of data formats, it’s equally important to be able to output data somewhere.</a:t>
            </a:r>
          </a:p>
          <a:p>
            <a:pPr lvl="0" marL="0" indent="0">
              <a:buNone/>
            </a:pPr>
            <a:r>
              <a:rPr/>
              <a:t>The </a:t>
            </a:r>
            <a:r>
              <a:rPr>
                <a:latin typeface="Courier"/>
              </a:rPr>
              <a:t>readr</a:t>
            </a:r>
            <a:r>
              <a:rPr/>
              <a:t> package provides data exporting functions which have the pattern </a:t>
            </a:r>
            <a:r>
              <a:rPr>
                <a:latin typeface="Courier"/>
              </a:rPr>
              <a:t>write_*</a:t>
            </a:r>
            <a:r>
              <a:rPr/>
              <a:t>:</a:t>
            </a:r>
          </a:p>
          <a:p>
            <a:pPr lvl="1"/>
            <a:r>
              <a:rPr>
                <a:latin typeface="Courier"/>
              </a:rPr>
              <a:t>write_csv()</a:t>
            </a:r>
            <a:r>
              <a:rPr/>
              <a:t>,</a:t>
            </a:r>
          </a:p>
          <a:p>
            <a:pPr lvl="1"/>
            <a:r>
              <a:rPr>
                <a:latin typeface="Courier"/>
              </a:rPr>
              <a:t>write_delim()</a:t>
            </a:r>
            <a:r>
              <a:rPr/>
              <a:t>, others.</a:t>
            </a:r>
          </a:p>
          <a:p>
            <a:pPr lvl="0" marL="0" indent="0">
              <a:buNone/>
            </a:pPr>
            <a:r>
              <a:rPr/>
              <a:t>From </a:t>
            </a:r>
            <a:r>
              <a:rPr>
                <a:latin typeface="Courier"/>
              </a:rPr>
              <a:t>write_csv()</a:t>
            </a:r>
            <a:r>
              <a:rPr/>
              <a:t> documentation:</a:t>
            </a:r>
          </a:p>
          <a:p>
            <a:pPr lvl="0" indent="0">
              <a:buNone/>
            </a:pPr>
            <a:r>
              <a:rPr>
                <a:latin typeface="Courier"/>
              </a:rPr>
              <a:t>write_csv(x, file, 
  na = "NA", append = FALSE, 
  col_names = !append, quote_escape = "double",
  eol = "\n", path = deprecated()
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768 Columns: 6
── Column specification ────────────────────────────────────────────────────────
Delimiter: ","
chr (1): county
dbl (5): rate, lower95cl, upper95cl, visits, year
ℹ Use `spec()` to retrieve the full column specification for this data.
ℹ Specify the column types or set `show_col_types = FALSE` to quiet this message.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x</a:t>
            </a:r>
            <a:r>
              <a:rPr/>
              <a:t>: data frame you want to write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file</a:t>
            </a:r>
            <a:r>
              <a:rPr/>
              <a:t>: file path where you want to R object written; it can be:</a:t>
            </a:r>
          </a:p>
          <a:p>
            <a:pPr lvl="1"/>
            <a:r>
              <a:rPr/>
              <a:t>an absolute path,</a:t>
            </a:r>
          </a:p>
          <a:p>
            <a:pPr lvl="1"/>
            <a:r>
              <a:rPr/>
              <a:t>a relative path (relative to your working directory),</a:t>
            </a:r>
          </a:p>
          <a:p>
            <a:pPr lvl="1"/>
            <a:r>
              <a:rPr/>
              <a:t>a file name only (which writes the file to your working directory)</a:t>
            </a:r>
          </a:p>
          <a:p>
            <a:pPr lvl="1"/>
            <a:r>
              <a:rPr/>
              <a:t>remember to include the file extension (</a:t>
            </a:r>
            <a:r>
              <a:rPr>
                <a:latin typeface="Courier"/>
              </a:rPr>
              <a:t>.csv</a:t>
            </a:r>
            <a:r>
              <a:rPr/>
              <a:t>, </a:t>
            </a:r>
            <a:r>
              <a:rPr>
                <a:latin typeface="Courier"/>
              </a:rPr>
              <a:t>.txt</a:t>
            </a:r>
            <a:r>
              <a:rPr/>
              <a:t>, or </a:t>
            </a:r>
            <a:r>
              <a:rPr>
                <a:latin typeface="Courier"/>
              </a:rPr>
              <a:t>.tsv</a:t>
            </a:r>
            <a:r>
              <a:rPr/>
              <a:t>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Examples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write_csv</a:t>
            </a:r>
            <a:r>
              <a:rPr>
                <a:latin typeface="Courier"/>
              </a:rPr>
              <a:t>(dat, </a:t>
            </a:r>
            <a:r>
              <a:rPr>
                <a:solidFill>
                  <a:srgbClr val="7D9029"/>
                </a:solidFill>
                <a:latin typeface="Courier"/>
              </a:rPr>
              <a:t>file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"CO_ER_heat_newNames.csv"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write_delim</a:t>
            </a:r>
            <a:r>
              <a:rPr>
                <a:latin typeface="Courier"/>
              </a:rPr>
              <a:t>(dat, </a:t>
            </a:r>
            <a:r>
              <a:rPr>
                <a:solidFill>
                  <a:srgbClr val="7D9029"/>
                </a:solidFill>
                <a:latin typeface="Courier"/>
              </a:rPr>
              <a:t>file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"CO_ER_heat_newNames.csv"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delim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GUT</a:t>
            </a:r>
            <a:r>
              <a:rPr/>
              <a:t> </a:t>
            </a:r>
            <a:r>
              <a:rPr/>
              <a:t>CHECK!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 does </a:t>
            </a:r>
            <a:r>
              <a:rPr>
                <a:latin typeface="Courier"/>
              </a:rPr>
              <a:t>write_csv()</a:t>
            </a:r>
            <a:r>
              <a:rPr/>
              <a:t> do? Saves data to..</a:t>
            </a:r>
          </a:p>
          <a:p>
            <a:pPr lvl="0" marL="0" indent="0">
              <a:buNone/>
            </a:pPr>
            <a:r>
              <a:rPr/>
              <a:t>A. R’s memory</a:t>
            </a:r>
          </a:p>
          <a:p>
            <a:pPr lvl="0" marL="0" indent="0">
              <a:buNone/>
            </a:pPr>
            <a:r>
              <a:rPr/>
              <a:t>B. A file on your hard drive</a:t>
            </a:r>
          </a:p>
          <a:p>
            <a:pPr lvl="0" marL="0" indent="0">
              <a:buNone/>
            </a:pPr>
            <a:r>
              <a:rPr/>
              <a:t>C. A ggplot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</a:t>
            </a:r>
            <a:r>
              <a:rPr/>
              <a:t> </a:t>
            </a:r>
            <a:r>
              <a:rPr/>
              <a:t>binary</a:t>
            </a:r>
            <a:r>
              <a:rPr/>
              <a:t> </a:t>
            </a:r>
            <a:r>
              <a:rPr/>
              <a:t>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.rds</a:t>
            </a:r>
            <a:r>
              <a:rPr/>
              <a:t> is an extension for R native file format.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write_rds()</a:t>
            </a:r>
            <a:r>
              <a:rPr/>
              <a:t> and </a:t>
            </a:r>
            <a:r>
              <a:rPr>
                <a:latin typeface="Courier"/>
              </a:rPr>
              <a:t>read_rds()</a:t>
            </a:r>
            <a:r>
              <a:rPr/>
              <a:t> from </a:t>
            </a:r>
            <a:r>
              <a:rPr>
                <a:latin typeface="Courier"/>
              </a:rPr>
              <a:t>readr</a:t>
            </a:r>
            <a:r>
              <a:rPr/>
              <a:t> package can be used to write/read a single R object to/from file.</a:t>
            </a:r>
          </a:p>
          <a:p>
            <a:pPr lvl="0" marL="0" indent="0">
              <a:buNone/>
            </a:pPr>
            <a:r>
              <a:rPr/>
              <a:t>Saving datasets in </a:t>
            </a:r>
            <a:r>
              <a:rPr>
                <a:latin typeface="Courier"/>
              </a:rPr>
              <a:t>.rds</a:t>
            </a:r>
            <a:r>
              <a:rPr/>
              <a:t> format can save time if you have to read it back in later.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write an object: a data frame "dat"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write_rds</a:t>
            </a:r>
            <a:r>
              <a:rPr>
                <a:latin typeface="Courier"/>
              </a:rPr>
              <a:t>(er, </a:t>
            </a:r>
            <a:r>
              <a:rPr>
                <a:solidFill>
                  <a:srgbClr val="7D9029"/>
                </a:solidFill>
                <a:latin typeface="Courier"/>
              </a:rPr>
              <a:t>file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"CO_heat_dataset.rds"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write an object: vector "x"</a:t>
            </a:r>
            <a:br/>
            <a:r>
              <a:rPr>
                <a:latin typeface="Courier"/>
              </a:rPr>
              <a:t>x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write_rds</a:t>
            </a:r>
            <a:r>
              <a:rPr>
                <a:latin typeface="Courier"/>
              </a:rPr>
              <a:t>(x, </a:t>
            </a:r>
            <a:r>
              <a:rPr>
                <a:solidFill>
                  <a:srgbClr val="7D9029"/>
                </a:solidFill>
                <a:latin typeface="Courier"/>
              </a:rPr>
              <a:t>file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"my_vector.rds"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read an object from file and assign to a new object named "y"</a:t>
            </a:r>
            <a:br/>
            <a:r>
              <a:rPr>
                <a:latin typeface="Courier"/>
              </a:rPr>
              <a:t>x2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read_rds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file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"my_vector.rds"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x2</a:t>
            </a:r>
          </a:p>
          <a:p>
            <a:pPr lvl="0" indent="0">
              <a:buNone/>
            </a:pPr>
            <a:r>
              <a:rPr>
                <a:latin typeface="Courier"/>
              </a:rPr>
              <a:t>[1] 1 3 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Saving</a:t>
            </a:r>
            <a:r>
              <a:rPr/>
              <a:t> </a:t>
            </a:r>
            <a:r>
              <a:rPr/>
              <a:t>multiple</a:t>
            </a:r>
            <a:r>
              <a:rPr/>
              <a:t> </a:t>
            </a:r>
            <a:r>
              <a:rPr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 may want to export a set of objects from R for later use, either to save time or to use in another R script. You can output these to an </a:t>
            </a:r>
            <a:r>
              <a:rPr>
                <a:latin typeface="Courier"/>
              </a:rPr>
              <a:t>.RData</a:t>
            </a:r>
            <a:r>
              <a:rPr/>
              <a:t> file individually, or save your entire Environment with </a:t>
            </a:r>
            <a:r>
              <a:rPr>
                <a:latin typeface="Courier"/>
              </a:rPr>
              <a:t>save.image()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save</a:t>
            </a:r>
            <a:r>
              <a:rPr>
                <a:latin typeface="Courier"/>
              </a:rPr>
              <a:t>(x, x2, </a:t>
            </a:r>
            <a:r>
              <a:rPr>
                <a:solidFill>
                  <a:srgbClr val="7D9029"/>
                </a:solidFill>
                <a:latin typeface="Courier"/>
              </a:rPr>
              <a:t>file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"x_x2_output.RData"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save.image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file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"my_environment.RData"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Using</a:t>
            </a:r>
            <a:r>
              <a:rPr/>
              <a:t> </a:t>
            </a:r>
            <a:r>
              <a:rPr/>
              <a:t>RStudio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importing/exporting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If there is an </a:t>
            </a:r>
            <a:r>
              <a:rPr>
                <a:latin typeface="Courier"/>
              </a:rPr>
              <a:t>.rds</a:t>
            </a:r>
            <a:r>
              <a:rPr/>
              <a:t> or </a:t>
            </a:r>
            <a:r>
              <a:rPr>
                <a:latin typeface="Courier"/>
              </a:rPr>
              <a:t>.RData</a:t>
            </a:r>
            <a:r>
              <a:rPr/>
              <a:t> file that you want to work with, you can open it into your environment using the file icon.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images/open_R_data_fi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65300"/>
            <a:ext cx="82296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Can also save your entire environment or a subset of objects in your environment to a new </a:t>
            </a:r>
            <a:r>
              <a:rPr>
                <a:latin typeface="Courier"/>
              </a:rPr>
              <a:t>.RData</a:t>
            </a:r>
            <a:r>
              <a:rPr/>
              <a:t> file with the save icon. Click the “List” button and switch to “Grid” to select which objects to delete or keep before saving the Environment.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images/subset_objects_in_environ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27200"/>
            <a:ext cx="82296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images/save_environ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65300"/>
            <a:ext cx="82296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REMINDER:</a:t>
            </a:r>
            <a:r>
              <a:rPr/>
              <a:t> </a:t>
            </a:r>
            <a:r>
              <a:rPr/>
              <a:t>Saving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ggplot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 few options:</a:t>
            </a:r>
          </a:p>
          <a:p>
            <a:pPr lvl="1"/>
            <a:r>
              <a:rPr/>
              <a:t>RStudio &gt; Plots &gt; Export &gt; Save as image / Save as PDF</a:t>
            </a:r>
          </a:p>
          <a:p>
            <a:pPr lvl="1"/>
            <a:r>
              <a:rPr/>
              <a:t>RStudio &gt; Plots &gt; Zoom &gt; [right mouse click on the plot] &gt; Save image as</a:t>
            </a:r>
          </a:p>
          <a:p>
            <a:pPr lvl="1"/>
            <a:r>
              <a:rPr/>
              <a:t>In the code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ggsave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filename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"saved_plot.png"</a:t>
            </a:r>
            <a:r>
              <a:rPr>
                <a:latin typeface="Courier"/>
              </a:rPr>
              <a:t>,  </a:t>
            </a:r>
            <a:r>
              <a:rPr i="1">
                <a:solidFill>
                  <a:srgbClr val="60A0B0"/>
                </a:solidFill>
                <a:latin typeface="Courier"/>
              </a:rPr>
              <a:t># will save in working directory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plot =</a:t>
            </a:r>
            <a:r>
              <a:rPr>
                <a:latin typeface="Courier"/>
              </a:rPr>
              <a:t> rp_fac_plot,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width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height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3.5</a:t>
            </a:r>
            <a:r>
              <a:rPr>
                <a:latin typeface="Courier"/>
              </a:rPr>
              <a:t>)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by default in inches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Use </a:t>
            </a:r>
            <a:r>
              <a:rPr>
                <a:latin typeface="Courier"/>
              </a:rPr>
              <a:t>write_csv()</a:t>
            </a:r>
            <a:r>
              <a:rPr/>
              <a:t> and </a:t>
            </a:r>
            <a:r>
              <a:rPr>
                <a:latin typeface="Courier"/>
              </a:rPr>
              <a:t>write_delim()</a:t>
            </a:r>
            <a:r>
              <a:rPr/>
              <a:t> from the </a:t>
            </a:r>
            <a:r>
              <a:rPr>
                <a:latin typeface="Courier"/>
              </a:rPr>
              <a:t>readr</a:t>
            </a:r>
            <a:r>
              <a:rPr/>
              <a:t> package to write your (modified) data</a:t>
            </a:r>
          </a:p>
          <a:p>
            <a:pPr lvl="1"/>
            <a:r>
              <a:rPr>
                <a:latin typeface="Courier"/>
              </a:rPr>
              <a:t>.rds</a:t>
            </a:r>
            <a:r>
              <a:rPr/>
              <a:t> files can be handy for saving intermediate work</a:t>
            </a:r>
          </a:p>
          <a:p>
            <a:pPr lvl="1"/>
            <a:r>
              <a:rPr/>
              <a:t>Can save environment (or subset) using </a:t>
            </a:r>
            <a:r>
              <a:rPr>
                <a:latin typeface="Courier"/>
              </a:rPr>
              <a:t>save()</a:t>
            </a:r>
            <a:r>
              <a:rPr/>
              <a:t> and </a:t>
            </a:r>
            <a:r>
              <a:rPr>
                <a:latin typeface="Courier"/>
              </a:rPr>
              <a:t>save.image()</a:t>
            </a:r>
          </a:p>
          <a:p>
            <a:pPr lvl="0" marL="0" indent="0">
              <a:buNone/>
            </a:pPr>
            <a:r>
              <a:rPr/>
              <a:t>🏠 </a:t>
            </a:r>
            <a:r>
              <a:rPr>
                <a:hlinkClick r:id="rId2"/>
              </a:rPr>
              <a:t>Class Website</a:t>
            </a:r>
          </a:p>
          <a:p>
            <a:pPr lvl="0" marL="0" indent="0">
              <a:buNone/>
            </a:pPr>
            <a:r>
              <a:rPr/>
              <a:t>💻 </a:t>
            </a:r>
            <a:r>
              <a:rPr>
                <a:hlinkClick r:id="rId3"/>
              </a:rPr>
              <a:t>Data Output Lab</a:t>
            </a:r>
          </a:p>
          <a:p>
            <a:pPr lvl="0" marL="0" indent="0">
              <a:buNone/>
            </a:pPr>
            <a:r>
              <a:rPr/>
              <a:t>📃 </a:t>
            </a:r>
            <a:r>
              <a:rPr>
                <a:hlinkClick r:id="rId4"/>
              </a:rPr>
              <a:t>Posit’s Data Import Cheatsheet</a:t>
            </a:r>
          </a:p>
          <a:p>
            <a:pPr lvl="0" marL="0" indent="0">
              <a:buNone/>
            </a:pPr>
            <a:r>
              <a:rPr/>
              <a:t>📃 </a:t>
            </a:r>
            <a:r>
              <a:rPr>
                <a:hlinkClick r:id="rId5"/>
              </a:rPr>
              <a:t>Day 8 Cheatsheet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images/the-end-g23b994289_128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00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Image by Gerd Altmann from Pixabay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Lato</vt:lpstr>
      <vt:lpstr>Montserrat</vt:lpstr>
      <vt:lpstr>Wingdings</vt:lpstr>
      <vt:lpstr>Office Theme</vt:lpstr>
      <vt:lpstr>Basic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Output</dc:title>
  <dc:creator/>
  <cp:keywords/>
  <dcterms:created xsi:type="dcterms:W3CDTF">2026-06-12T16:54:38Z</dcterms:created>
  <dcterms:modified xsi:type="dcterms:W3CDTF">2026-06-12T16:54:38Z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