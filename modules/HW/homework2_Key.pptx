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2100"/>
    <p:restoredTop autoAdjust="0" sz="94752"/>
  </p:normalViewPr>
  <p:slideViewPr>
    <p:cSldViewPr snapToGrid="0" snapToObjects="1">
      <p:cViewPr varScale="1">
        <p:scale>
          <a:sx d="100" n="198"/>
          <a:sy d="100" n="198"/>
        </p:scale>
        <p:origin x="1208"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 Id="rId7"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lvl1pPr algn="ctr">
              <a:defRPr sz="4000" baseline="0"/>
            </a:lvl1pPr>
          </a:lstStyle>
          <a:p>
            <a:r>
              <a:rPr lang="en-US" dirty="0"/>
              <a:t>Click to edit Master title style</a:t>
            </a:r>
          </a:p>
        </p:txBody>
      </p:sp>
      <p:sp>
        <p:nvSpPr>
          <p:cNvPr id="3" name="Subtitle 2"/>
          <p:cNvSpPr>
            <a:spLocks noGrp="1"/>
          </p:cNvSpPr>
          <p:nvPr>
            <p:ph type="subTitle" idx="1"/>
          </p:nvPr>
        </p:nvSpPr>
        <p:spPr>
          <a:xfrm>
            <a:off x="1371600" y="3881730"/>
            <a:ext cx="6400800" cy="34737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1026" name="Picture 2">
            <a:extLst>
              <a:ext uri="{FF2B5EF4-FFF2-40B4-BE49-F238E27FC236}">
                <a16:creationId xmlns:a16="http://schemas.microsoft.com/office/drawing/2014/main" id="{CE918C2E-CA3D-3E7E-792D-7E5EF1245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52696" y="289937"/>
            <a:ext cx="4638608" cy="259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5/12/26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buNone/>
        <a:defRPr sz="3300" kern="1200" baseline="0">
          <a:solidFill>
            <a:schemeClr val="tx1"/>
          </a:solidFill>
          <a:latin typeface="Montserrat" panose="00000500000000000000" pitchFamily="2" charset="77"/>
          <a:ea typeface="+mj-ea"/>
          <a:cs typeface="+mj-cs"/>
        </a:defRPr>
      </a:lvl1pPr>
    </p:titleStyle>
    <p:bodyStyle>
      <a:lvl1pPr marL="342900" indent="-342900" algn="l" defTabSz="342900" rtl="0" eaLnBrk="1" latinLnBrk="0" hangingPunct="1">
        <a:spcBef>
          <a:spcPct val="20000"/>
        </a:spcBef>
        <a:buFont typeface="Arial"/>
        <a:buChar char="•"/>
        <a:defRPr sz="1300" kern="1200" baseline="0">
          <a:solidFill>
            <a:schemeClr val="tx1"/>
          </a:solidFill>
          <a:latin typeface="Lato" panose="020F0502020204030203" pitchFamily="34" charset="0"/>
          <a:ea typeface="+mn-ea"/>
          <a:cs typeface="+mn-cs"/>
        </a:defRPr>
      </a:lvl1pPr>
      <a:lvl2pPr marL="6858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2pPr>
      <a:lvl3pPr marL="1028700" indent="-342900" algn="l" defTabSz="342900" rtl="0" eaLnBrk="1" latinLnBrk="0" hangingPunct="1">
        <a:spcBef>
          <a:spcPct val="20000"/>
        </a:spcBef>
        <a:buFont typeface="Wingdings" pitchFamily="2" charset="2"/>
        <a:buChar char="§"/>
        <a:defRPr sz="1100" kern="1200" baseline="0">
          <a:solidFill>
            <a:schemeClr val="tx1"/>
          </a:solidFill>
          <a:latin typeface="Lato" panose="020F0502020204030203" pitchFamily="34" charset="0"/>
          <a:ea typeface="+mn-ea"/>
          <a:cs typeface="+mn-cs"/>
        </a:defRPr>
      </a:lvl3pPr>
      <a:lvl4pPr marL="1371600" indent="-342900" algn="l" defTabSz="342900" rtl="0" eaLnBrk="1" latinLnBrk="0" hangingPunct="1">
        <a:spcBef>
          <a:spcPct val="20000"/>
        </a:spcBef>
        <a:buFont typeface="Arial" panose="020B0604020202020204" pitchFamily="34" charset="0"/>
        <a:buChar char="•"/>
        <a:defRPr sz="1100" kern="1200" baseline="0">
          <a:solidFill>
            <a:schemeClr val="tx1"/>
          </a:solidFill>
          <a:latin typeface="Lato" panose="020F0502020204030203" pitchFamily="34" charset="0"/>
          <a:ea typeface="+mn-ea"/>
          <a:cs typeface="+mn-cs"/>
        </a:defRPr>
      </a:lvl4pPr>
      <a:lvl5pPr marL="1714500" indent="-342900" algn="l" defTabSz="342900" rtl="0" eaLnBrk="1" latinLnBrk="0" hangingPunct="1">
        <a:spcBef>
          <a:spcPct val="20000"/>
        </a:spcBef>
        <a:buFont typeface="Courier New" panose="02070309020205020404" pitchFamily="49" charset="0"/>
        <a:buChar char="o"/>
        <a:defRPr sz="1100" kern="1200" baseline="0">
          <a:solidFill>
            <a:schemeClr val="tx1"/>
          </a:solidFill>
          <a:latin typeface="Lato" panose="020F0502020204030203" pitchFamily="34" charset="0"/>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kaggle.com/datasets/deepcontractor/mars-rover-environmental-monitoring-station/data" TargetMode="External" /><Relationship Id="rId3" Type="http://schemas.openxmlformats.org/officeDocument/2006/relationships/hyperlink" Target="https://daseh.org/data/kaggleMars_Dataset.csv" TargetMode="External" /><Relationship Id="rId4" Type="http://schemas.openxmlformats.org/officeDocument/2006/relationships/hyperlink" Target="https://daseh.org/data/kaggleMars_dictionary.txt"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39774"/>
            <a:ext cx="7772400" cy="1102519"/>
          </a:xfrm>
        </p:spPr>
        <p:txBody>
          <a:bodyPr/>
          <a:lstStyle/>
          <a:p>
            <a:pPr lvl="0" marL="0" indent="0">
              <a:buNone/>
            </a:pPr>
            <a:r>
              <a:rPr/>
              <a:t>Introduction</a:t>
            </a:r>
            <a:r>
              <a:rPr/>
              <a:t> </a:t>
            </a:r>
            <a:r>
              <a:rPr/>
              <a:t>to</a:t>
            </a:r>
            <a:r>
              <a:rPr/>
              <a:t> </a:t>
            </a:r>
            <a:r>
              <a:rPr/>
              <a:t>R:</a:t>
            </a:r>
            <a:r>
              <a:rPr/>
              <a:t> </a:t>
            </a:r>
            <a:r>
              <a:rPr/>
              <a:t>Homework</a:t>
            </a:r>
            <a:r>
              <a:rPr/>
              <a:t> </a:t>
            </a:r>
            <a:r>
              <a:rPr/>
              <a:t>2</a:t>
            </a:r>
            <a:r>
              <a:rPr/>
              <a:t> </a:t>
            </a:r>
            <a:r>
              <a:rPr/>
              <a:t>-</a:t>
            </a:r>
            <a:r>
              <a:rPr/>
              <a:t> </a:t>
            </a:r>
            <a:r>
              <a:rPr/>
              <a:t>Key</a:t>
            </a:r>
          </a:p>
        </p:txBody>
      </p:sp>
      <p:sp>
        <p:nvSpPr>
          <p:cNvPr id="3" name="Subtitle 2"/>
          <p:cNvSpPr>
            <a:spLocks noGrp="1"/>
          </p:cNvSpPr>
          <p:nvPr>
            <p:ph idx="1" type="subTitle"/>
          </p:nvPr>
        </p:nvSpPr>
        <p:spPr>
          <a:xfrm>
            <a:off x="1371600" y="3881730"/>
            <a:ext cx="6400800" cy="347370"/>
          </a:xfrm>
        </p:spPr>
        <p:txBody>
          <a:bodyPr/>
          <a:lstStyle/>
          <a:p>
            <a:pPr lvl="0" marL="0" indent="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spcBef>
                <a:spcPts val="3000"/>
              </a:spcBef>
              <a:buNone/>
            </a:pPr>
            <a:r>
              <a:rPr b="1"/>
              <a:t>Instructions</a:t>
            </a:r>
          </a:p>
          <a:p>
            <a:pPr lvl="0" marL="0" indent="0">
              <a:buNone/>
            </a:pPr>
            <a:r>
              <a:rPr/>
              <a:t>Homework is optional, but we recommend it so you can get the most out of this course.</a:t>
            </a:r>
          </a:p>
          <a:p>
            <a:pPr lvl="0" indent="0">
              <a:buNone/>
            </a:pPr>
            <a:r>
              <a:rPr i="1">
                <a:solidFill>
                  <a:srgbClr val="BA2121"/>
                </a:solidFill>
                <a:latin typeface="Courier"/>
              </a:rPr>
              <a:t>## you can add more, or change...these are suggestions</a:t>
            </a:r>
            <a:br/>
            <a:r>
              <a:rPr>
                <a:solidFill>
                  <a:srgbClr val="06287E"/>
                </a:solidFill>
                <a:latin typeface="Courier"/>
              </a:rPr>
              <a:t>library</a:t>
            </a:r>
            <a:r>
              <a:rPr>
                <a:latin typeface="Courier"/>
              </a:rPr>
              <a:t>(tidyverse)</a:t>
            </a:r>
            <a:br/>
            <a:r>
              <a:rPr>
                <a:solidFill>
                  <a:srgbClr val="06287E"/>
                </a:solidFill>
                <a:latin typeface="Courier"/>
              </a:rPr>
              <a:t>library</a:t>
            </a:r>
            <a:r>
              <a:rPr>
                <a:latin typeface="Courier"/>
              </a:rPr>
              <a:t>(readr)</a:t>
            </a:r>
            <a:br/>
            <a:r>
              <a:rPr>
                <a:solidFill>
                  <a:srgbClr val="06287E"/>
                </a:solidFill>
                <a:latin typeface="Courier"/>
              </a:rPr>
              <a:t>library</a:t>
            </a:r>
            <a:r>
              <a:rPr>
                <a:latin typeface="Courier"/>
              </a:rPr>
              <a:t>(dplyr)</a:t>
            </a:r>
            <a:br/>
            <a:r>
              <a:rPr>
                <a:solidFill>
                  <a:srgbClr val="06287E"/>
                </a:solidFill>
                <a:latin typeface="Courier"/>
              </a:rPr>
              <a:t>library</a:t>
            </a:r>
            <a:r>
              <a:rPr>
                <a:latin typeface="Courier"/>
              </a:rPr>
              <a:t>(ggplot2)</a:t>
            </a:r>
            <a:br/>
            <a:r>
              <a:rPr>
                <a:solidFill>
                  <a:srgbClr val="06287E"/>
                </a:solidFill>
                <a:latin typeface="Courier"/>
              </a:rPr>
              <a:t>library</a:t>
            </a:r>
            <a:r>
              <a:rPr>
                <a:latin typeface="Courier"/>
              </a:rPr>
              <a:t>(tidyr)</a:t>
            </a:r>
          </a:p>
          <a:p>
            <a:pPr lvl="0" marL="0" indent="0">
              <a:spcBef>
                <a:spcPts val="3000"/>
              </a:spcBef>
              <a:buNone/>
            </a:pPr>
            <a:r>
              <a:rPr b="1"/>
              <a:t>Problem Set</a:t>
            </a:r>
          </a:p>
          <a:p>
            <a:pPr lvl="0" marL="0" indent="0">
              <a:buNone/>
            </a:pPr>
            <a:r>
              <a:rPr/>
              <a:t>1. Create the following two objects.</a:t>
            </a:r>
          </a:p>
          <a:p>
            <a:pPr lvl="1">
              <a:buAutoNum type="alphaLcParenBoth"/>
            </a:pPr>
            <a:r>
              <a:rPr/>
              <a:t>Make an object “bday”. Assign it your birthday in day-month format (1-Jan).</a:t>
            </a:r>
          </a:p>
          <a:p>
            <a:pPr lvl="1">
              <a:buAutoNum type="alphaLcParenBoth"/>
            </a:pPr>
            <a:r>
              <a:rPr/>
              <a:t>Make another object “name”. Assign it your name. Make sure to use quotation marks for anything with text!</a:t>
            </a:r>
          </a:p>
          <a:p>
            <a:pPr lvl="0" indent="0">
              <a:buNone/>
            </a:pPr>
            <a:r>
              <a:rPr>
                <a:latin typeface="Courier"/>
              </a:rPr>
              <a:t>bday </a:t>
            </a:r>
            <a:r>
              <a:rPr>
                <a:solidFill>
                  <a:srgbClr val="007020"/>
                </a:solidFill>
                <a:latin typeface="Courier"/>
              </a:rPr>
              <a:t>&lt;-</a:t>
            </a:r>
            <a:r>
              <a:rPr>
                <a:latin typeface="Courier"/>
              </a:rPr>
              <a:t> </a:t>
            </a:r>
            <a:r>
              <a:rPr>
                <a:solidFill>
                  <a:srgbClr val="4070A0"/>
                </a:solidFill>
                <a:latin typeface="Courier"/>
              </a:rPr>
              <a:t>"19-Feb"</a:t>
            </a:r>
            <a:br/>
            <a:r>
              <a:rPr>
                <a:latin typeface="Courier"/>
              </a:rPr>
              <a:t>name </a:t>
            </a:r>
            <a:r>
              <a:rPr>
                <a:solidFill>
                  <a:srgbClr val="007020"/>
                </a:solidFill>
                <a:latin typeface="Courier"/>
              </a:rPr>
              <a:t>&lt;-</a:t>
            </a:r>
            <a:r>
              <a:rPr>
                <a:latin typeface="Courier"/>
              </a:rPr>
              <a:t> </a:t>
            </a:r>
            <a:r>
              <a:rPr>
                <a:solidFill>
                  <a:srgbClr val="4070A0"/>
                </a:solidFill>
                <a:latin typeface="Courier"/>
              </a:rPr>
              <a:t>"Bruce Wayne"</a:t>
            </a:r>
          </a:p>
          <a:p>
            <a:pPr lvl="0" marL="0" indent="0">
              <a:buNone/>
            </a:pPr>
            <a:r>
              <a:rPr/>
              <a:t>2. Make an object “me” that is “bday” and “name” combined.</a:t>
            </a:r>
          </a:p>
          <a:p>
            <a:pPr lvl="0" indent="0">
              <a:buNone/>
            </a:pPr>
            <a:r>
              <a:rPr>
                <a:latin typeface="Courier"/>
              </a:rPr>
              <a:t>me </a:t>
            </a:r>
            <a:r>
              <a:rPr>
                <a:solidFill>
                  <a:srgbClr val="007020"/>
                </a:solidFill>
                <a:latin typeface="Courier"/>
              </a:rPr>
              <a:t>&lt;-</a:t>
            </a:r>
            <a:r>
              <a:rPr>
                <a:latin typeface="Courier"/>
              </a:rPr>
              <a:t> </a:t>
            </a:r>
            <a:r>
              <a:rPr>
                <a:solidFill>
                  <a:srgbClr val="06287E"/>
                </a:solidFill>
                <a:latin typeface="Courier"/>
              </a:rPr>
              <a:t>c</a:t>
            </a:r>
            <a:r>
              <a:rPr>
                <a:latin typeface="Courier"/>
              </a:rPr>
              <a:t>(bday, name)</a:t>
            </a:r>
          </a:p>
          <a:p>
            <a:pPr lvl="0" marL="0" indent="0">
              <a:buNone/>
            </a:pPr>
            <a:r>
              <a:rPr/>
              <a:t>3. Determine the data class for “me”.</a:t>
            </a:r>
          </a:p>
          <a:p>
            <a:pPr lvl="0" indent="0">
              <a:buNone/>
            </a:pPr>
            <a:r>
              <a:rPr>
                <a:solidFill>
                  <a:srgbClr val="06287E"/>
                </a:solidFill>
                <a:latin typeface="Courier"/>
              </a:rPr>
              <a:t>class</a:t>
            </a:r>
            <a:r>
              <a:rPr>
                <a:latin typeface="Courier"/>
              </a:rPr>
              <a:t>(me)</a:t>
            </a:r>
          </a:p>
          <a:p>
            <a:pPr lvl="0" indent="0">
              <a:buNone/>
            </a:pPr>
            <a:r>
              <a:rPr>
                <a:latin typeface="Courier"/>
              </a:rPr>
              <a:t>## [1] "character"</a:t>
            </a:r>
          </a:p>
          <a:p>
            <a:pPr lvl="0" indent="0">
              <a:buNone/>
            </a:pPr>
            <a:r>
              <a:rPr i="1">
                <a:solidFill>
                  <a:srgbClr val="60A0B0"/>
                </a:solidFill>
                <a:latin typeface="Courier"/>
              </a:rPr>
              <a:t># The class for "me" is "character"</a:t>
            </a:r>
          </a:p>
          <a:p>
            <a:pPr lvl="0" marL="0" indent="0">
              <a:buNone/>
            </a:pPr>
            <a:r>
              <a:rPr/>
              <a:t>4. If I want to do </a:t>
            </a:r>
            <a:r>
              <a:rPr>
                <a:latin typeface="Courier"/>
              </a:rPr>
              <a:t>me / 2</a:t>
            </a:r>
            <a:r>
              <a:rPr/>
              <a:t> I get the following error: </a:t>
            </a:r>
            <a:r>
              <a:rPr>
                <a:latin typeface="Courier"/>
              </a:rPr>
              <a:t>Error in me/2 : non-numeric argument to binary operator</a:t>
            </a:r>
            <a:r>
              <a:rPr/>
              <a:t>. Why? Write your answer as a comment inside the R chunk below.</a:t>
            </a:r>
          </a:p>
          <a:p>
            <a:pPr lvl="0" indent="0">
              <a:buNone/>
            </a:pPr>
            <a:r>
              <a:rPr i="1">
                <a:solidFill>
                  <a:srgbClr val="60A0B0"/>
                </a:solidFill>
                <a:latin typeface="Courier"/>
              </a:rPr>
              <a:t># R cannot perform math functions on character data classes (types).</a:t>
            </a:r>
          </a:p>
          <a:p>
            <a:pPr lvl="0" marL="0" indent="0">
              <a:buNone/>
            </a:pPr>
            <a:r>
              <a:rPr b="1"/>
              <a:t>The following questions involve an outside dataset.</a:t>
            </a:r>
          </a:p>
          <a:p>
            <a:pPr lvl="0" marL="0" indent="0">
              <a:buNone/>
            </a:pPr>
            <a:r>
              <a:rPr/>
              <a:t>We will be working with a dataset from the “Kaggle” website, which hosts competitions for prediction and machine learning. This particular dataset contains information about temperature measures from the Rover Environmental Monitoring Station (REMS) on Mars. These data are collected by Spain and Finland. More details on this dataset are here: </a:t>
            </a:r>
            <a:r>
              <a:rPr>
                <a:hlinkClick r:id="rId2"/>
              </a:rPr>
              <a:t>https://www.kaggle.com/datasets/deepcontractor/mars-rover-environmental-monitoring-station/data</a:t>
            </a:r>
            <a:r>
              <a:rPr/>
              <a:t>.</a:t>
            </a:r>
          </a:p>
          <a:p>
            <a:pPr lvl="0" marL="0" indent="0">
              <a:buNone/>
            </a:pPr>
            <a:r>
              <a:rPr/>
              <a:t>5. Bring the dataset into R. The dataset is located at: </a:t>
            </a:r>
            <a:r>
              <a:rPr>
                <a:hlinkClick r:id="rId3"/>
              </a:rPr>
              <a:t>https://daseh.org/data/kaggleMars_Dataset.csv</a:t>
            </a:r>
            <a:r>
              <a:rPr/>
              <a:t>. You can use the link, download it, or use whatever method you like for getting the file. Once you get the file, read the dataset in using </a:t>
            </a:r>
            <a:r>
              <a:rPr>
                <a:latin typeface="Courier"/>
              </a:rPr>
              <a:t>read_csv()</a:t>
            </a:r>
            <a:r>
              <a:rPr/>
              <a:t> and assign it the name </a:t>
            </a:r>
            <a:r>
              <a:rPr>
                <a:latin typeface="Courier"/>
              </a:rPr>
              <a:t>mars</a:t>
            </a:r>
            <a:r>
              <a:rPr/>
              <a:t>.</a:t>
            </a:r>
          </a:p>
          <a:p>
            <a:pPr lvl="0" indent="0">
              <a:buNone/>
            </a:pPr>
            <a:r>
              <a:rPr>
                <a:latin typeface="Courier"/>
              </a:rPr>
              <a:t>mars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7D9029"/>
                </a:solidFill>
                <a:latin typeface="Courier"/>
              </a:rPr>
              <a:t>file =</a:t>
            </a:r>
            <a:r>
              <a:rPr>
                <a:latin typeface="Courier"/>
              </a:rPr>
              <a:t> </a:t>
            </a:r>
            <a:r>
              <a:rPr>
                <a:solidFill>
                  <a:srgbClr val="4070A0"/>
                </a:solidFill>
                <a:latin typeface="Courier"/>
              </a:rPr>
              <a:t>"https://daseh.org/data/kaggleMars_Dataset.csv"</a:t>
            </a:r>
            <a:r>
              <a:rPr>
                <a:latin typeface="Courier"/>
              </a:rPr>
              <a:t>)</a:t>
            </a:r>
          </a:p>
          <a:p>
            <a:pPr lvl="0" indent="0">
              <a:buNone/>
            </a:pPr>
            <a:r>
              <a:rPr>
                <a:latin typeface="Courier"/>
              </a:rPr>
              <a:t>## Rows: 3197 Columns: 13
## ── Column specification ────────────────────────────────────────────────────────
## Delimiter: ","
## chr  (4): earth_date, mars_date, UV_Radiation, weather
## dbl  (7): earth_year, solar_day, max_ground_temp, min_ground_temp, max_air_t...
## time (2): sunrise, sunset
## 
## ℹ Use `spec()` to retrieve the full column specification for this data.
## ℹ Specify the column types or set `show_col_types = FALSE` to quiet this message.</a:t>
            </a:r>
          </a:p>
          <a:p>
            <a:pPr lvl="0" indent="0">
              <a:buNone/>
            </a:pPr>
            <a:r>
              <a:rPr i="1">
                <a:solidFill>
                  <a:srgbClr val="60A0B0"/>
                </a:solidFill>
                <a:latin typeface="Courier"/>
              </a:rPr>
              <a:t># OR</a:t>
            </a:r>
            <a:br/>
            <a:r>
              <a:rPr>
                <a:latin typeface="Courier"/>
              </a:rPr>
              <a:t>mars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4070A0"/>
                </a:solidFill>
                <a:latin typeface="Courier"/>
              </a:rPr>
              <a:t>"https://daseh.org/data/kaggleMars_Dataset.csv"</a:t>
            </a:r>
            <a:r>
              <a:rPr>
                <a:latin typeface="Courier"/>
              </a:rPr>
              <a:t>)</a:t>
            </a:r>
          </a:p>
          <a:p>
            <a:pPr lvl="0" indent="0">
              <a:buNone/>
            </a:pPr>
            <a:r>
              <a:rPr>
                <a:latin typeface="Courier"/>
              </a:rPr>
              <a:t>## Rows: 3197 Columns: 13
## ── Column specification ────────────────────────────────────────────────────────
## Delimiter: ","
## chr  (4): earth_date, mars_date, UV_Radiation, weather
## dbl  (7): earth_year, solar_day, max_ground_temp, min_ground_temp, max_air_t...
## time (2): sunrise, sunset
## 
## ℹ Use `spec()` to retrieve the full column specification for this data.
## ℹ Specify the column types or set `show_col_types = FALSE` to quiet this message.</a:t>
            </a:r>
          </a:p>
          <a:p>
            <a:pPr lvl="0" indent="0">
              <a:buNone/>
            </a:pPr>
            <a:r>
              <a:rPr i="1">
                <a:solidFill>
                  <a:srgbClr val="60A0B0"/>
                </a:solidFill>
                <a:latin typeface="Courier"/>
              </a:rPr>
              <a:t># OR</a:t>
            </a:r>
            <a:br/>
            <a:r>
              <a:rPr>
                <a:latin typeface="Courier"/>
              </a:rPr>
              <a:t>url </a:t>
            </a:r>
            <a:r>
              <a:rPr>
                <a:solidFill>
                  <a:srgbClr val="007020"/>
                </a:solidFill>
                <a:latin typeface="Courier"/>
              </a:rPr>
              <a:t>&lt;-</a:t>
            </a:r>
            <a:r>
              <a:rPr>
                <a:latin typeface="Courier"/>
              </a:rPr>
              <a:t> </a:t>
            </a:r>
            <a:r>
              <a:rPr>
                <a:solidFill>
                  <a:srgbClr val="4070A0"/>
                </a:solidFill>
                <a:latin typeface="Courier"/>
              </a:rPr>
              <a:t>"https://daseh.org/data/kaggleMars_Dataset.csv"</a:t>
            </a:r>
            <a:br/>
            <a:r>
              <a:rPr>
                <a:latin typeface="Courier"/>
              </a:rPr>
              <a:t>mars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7D9029"/>
                </a:solidFill>
                <a:latin typeface="Courier"/>
              </a:rPr>
              <a:t>file =</a:t>
            </a:r>
            <a:r>
              <a:rPr>
                <a:latin typeface="Courier"/>
              </a:rPr>
              <a:t> url)</a:t>
            </a:r>
          </a:p>
          <a:p>
            <a:pPr lvl="0" indent="0">
              <a:buNone/>
            </a:pPr>
            <a:r>
              <a:rPr>
                <a:latin typeface="Courier"/>
              </a:rPr>
              <a:t>## Rows: 3197 Columns: 13
## ── Column specification ────────────────────────────────────────────────────────
## Delimiter: ","
## chr  (4): earth_date, mars_date, UV_Radiation, weather
## dbl  (7): earth_year, solar_day, max_ground_temp, min_ground_temp, max_air_t...
## time (2): sunrise, sunset
## 
## ℹ Use `spec()` to retrieve the full column specification for this data.
## ℹ Specify the column types or set `show_col_types = FALSE` to quiet this message.</a:t>
            </a:r>
          </a:p>
          <a:p>
            <a:pPr lvl="0" indent="0">
              <a:buNone/>
            </a:pPr>
            <a:r>
              <a:rPr i="1">
                <a:solidFill>
                  <a:srgbClr val="60A0B0"/>
                </a:solidFill>
                <a:latin typeface="Courier"/>
              </a:rPr>
              <a:t># OR</a:t>
            </a:r>
            <a:br/>
            <a:r>
              <a:rPr>
                <a:solidFill>
                  <a:srgbClr val="06287E"/>
                </a:solidFill>
                <a:latin typeface="Courier"/>
              </a:rPr>
              <a:t>download.file</a:t>
            </a:r>
            <a:r>
              <a:rPr>
                <a:latin typeface="Courier"/>
              </a:rPr>
              <a:t>(</a:t>
            </a:r>
            <a:br/>
            <a:r>
              <a:rPr>
                <a:latin typeface="Courier"/>
              </a:rPr>
              <a:t>  </a:t>
            </a:r>
            <a:r>
              <a:rPr>
                <a:solidFill>
                  <a:srgbClr val="7D9029"/>
                </a:solidFill>
                <a:latin typeface="Courier"/>
              </a:rPr>
              <a:t>url =</a:t>
            </a:r>
            <a:r>
              <a:rPr>
                <a:latin typeface="Courier"/>
              </a:rPr>
              <a:t> </a:t>
            </a:r>
            <a:r>
              <a:rPr>
                <a:solidFill>
                  <a:srgbClr val="4070A0"/>
                </a:solidFill>
                <a:latin typeface="Courier"/>
              </a:rPr>
              <a:t>"https://daseh.org/data/kaggleMars_Dataset.csv"</a:t>
            </a:r>
            <a:r>
              <a:rPr>
                <a:latin typeface="Courier"/>
              </a:rPr>
              <a:t>,</a:t>
            </a:r>
            <a:br/>
            <a:r>
              <a:rPr>
                <a:latin typeface="Courier"/>
              </a:rPr>
              <a:t>  </a:t>
            </a:r>
            <a:r>
              <a:rPr>
                <a:solidFill>
                  <a:srgbClr val="7D9029"/>
                </a:solidFill>
                <a:latin typeface="Courier"/>
              </a:rPr>
              <a:t>destfile =</a:t>
            </a:r>
            <a:r>
              <a:rPr>
                <a:latin typeface="Courier"/>
              </a:rPr>
              <a:t> </a:t>
            </a:r>
            <a:r>
              <a:rPr>
                <a:solidFill>
                  <a:srgbClr val="4070A0"/>
                </a:solidFill>
                <a:latin typeface="Courier"/>
              </a:rPr>
              <a:t>"mars_data.csv"</a:t>
            </a:r>
            <a:r>
              <a:rPr>
                <a:latin typeface="Courier"/>
              </a:rPr>
              <a:t>,</a:t>
            </a:r>
            <a:br/>
            <a:r>
              <a:rPr>
                <a:latin typeface="Courier"/>
              </a:rPr>
              <a:t>  </a:t>
            </a:r>
            <a:r>
              <a:rPr>
                <a:solidFill>
                  <a:srgbClr val="7D9029"/>
                </a:solidFill>
                <a:latin typeface="Courier"/>
              </a:rPr>
              <a:t>overwrite =</a:t>
            </a:r>
            <a:r>
              <a:rPr>
                <a:latin typeface="Courier"/>
              </a:rPr>
              <a:t> </a:t>
            </a:r>
            <a:r>
              <a:rPr>
                <a:solidFill>
                  <a:srgbClr val="880000"/>
                </a:solidFill>
                <a:latin typeface="Courier"/>
              </a:rPr>
              <a:t>TRUE</a:t>
            </a:r>
            <a:r>
              <a:rPr>
                <a:latin typeface="Courier"/>
              </a:rPr>
              <a:t>,</a:t>
            </a:r>
            <a:br/>
            <a:r>
              <a:rPr>
                <a:latin typeface="Courier"/>
              </a:rPr>
              <a:t>  </a:t>
            </a:r>
            <a:r>
              <a:rPr>
                <a:solidFill>
                  <a:srgbClr val="7D9029"/>
                </a:solidFill>
                <a:latin typeface="Courier"/>
              </a:rPr>
              <a:t>mode =</a:t>
            </a:r>
            <a:r>
              <a:rPr>
                <a:latin typeface="Courier"/>
              </a:rPr>
              <a:t> </a:t>
            </a:r>
            <a:r>
              <a:rPr>
                <a:solidFill>
                  <a:srgbClr val="4070A0"/>
                </a:solidFill>
                <a:latin typeface="Courier"/>
              </a:rPr>
              <a:t>"wb"</a:t>
            </a:r>
            <a:br/>
            <a:r>
              <a:rPr>
                <a:latin typeface="Courier"/>
              </a:rPr>
              <a:t>)</a:t>
            </a:r>
            <a:br/>
            <a:r>
              <a:rPr>
                <a:latin typeface="Courier"/>
              </a:rPr>
              <a:t>mars </a:t>
            </a:r>
            <a:r>
              <a:rPr>
                <a:solidFill>
                  <a:srgbClr val="007020"/>
                </a:solidFill>
                <a:latin typeface="Courier"/>
              </a:rPr>
              <a:t>&lt;-</a:t>
            </a:r>
            <a:r>
              <a:rPr>
                <a:latin typeface="Courier"/>
              </a:rPr>
              <a:t> </a:t>
            </a:r>
            <a:r>
              <a:rPr>
                <a:solidFill>
                  <a:srgbClr val="06287E"/>
                </a:solidFill>
                <a:latin typeface="Courier"/>
              </a:rPr>
              <a:t>read_csv</a:t>
            </a:r>
            <a:r>
              <a:rPr>
                <a:latin typeface="Courier"/>
              </a:rPr>
              <a:t>(</a:t>
            </a:r>
            <a:r>
              <a:rPr>
                <a:solidFill>
                  <a:srgbClr val="7D9029"/>
                </a:solidFill>
                <a:latin typeface="Courier"/>
              </a:rPr>
              <a:t>file =</a:t>
            </a:r>
            <a:r>
              <a:rPr>
                <a:latin typeface="Courier"/>
              </a:rPr>
              <a:t> </a:t>
            </a:r>
            <a:r>
              <a:rPr>
                <a:solidFill>
                  <a:srgbClr val="4070A0"/>
                </a:solidFill>
                <a:latin typeface="Courier"/>
              </a:rPr>
              <a:t>"mars_data.csv"</a:t>
            </a:r>
            <a:r>
              <a:rPr>
                <a:latin typeface="Courier"/>
              </a:rPr>
              <a:t>)</a:t>
            </a:r>
          </a:p>
          <a:p>
            <a:pPr lvl="0" indent="0">
              <a:buNone/>
            </a:pPr>
            <a:r>
              <a:rPr>
                <a:latin typeface="Courier"/>
              </a:rPr>
              <a:t>## Rows: 3197 Columns: 13
## ── Column specification ────────────────────────────────────────────────────────
## Delimiter: ","
## chr  (4): earth_date, mars_date, UV_Radiation, weather
## dbl  (7): earth_year, solar_day, max_ground_temp, min_ground_temp, max_air_t...
## time (2): sunrise, sunset
## 
## ℹ Use `spec()` to retrieve the full column specification for this data.
## ℹ Specify the column types or set `show_col_types = FALSE` to quiet this message.</a:t>
            </a:r>
          </a:p>
          <a:p>
            <a:pPr lvl="0" marL="0" indent="0">
              <a:buNone/>
            </a:pPr>
            <a:r>
              <a:rPr/>
              <a:t>6. Import the data “dictionary” from </a:t>
            </a:r>
            <a:r>
              <a:rPr>
                <a:hlinkClick r:id="rId4"/>
              </a:rPr>
              <a:t>https://daseh.org/data/kaggleMars_dictionary.txt</a:t>
            </a:r>
            <a:r>
              <a:rPr/>
              <a:t>. Use the </a:t>
            </a:r>
            <a:r>
              <a:rPr>
                <a:latin typeface="Courier"/>
              </a:rPr>
              <a:t>read_tsv()</a:t>
            </a:r>
            <a:r>
              <a:rPr/>
              <a:t> function and assign it the name “key”.</a:t>
            </a:r>
          </a:p>
          <a:p>
            <a:pPr lvl="0" indent="0">
              <a:buNone/>
            </a:pPr>
            <a:r>
              <a:rPr>
                <a:latin typeface="Courier"/>
              </a:rPr>
              <a:t>key </a:t>
            </a:r>
            <a:r>
              <a:rPr>
                <a:solidFill>
                  <a:srgbClr val="007020"/>
                </a:solidFill>
                <a:latin typeface="Courier"/>
              </a:rPr>
              <a:t>&lt;-</a:t>
            </a:r>
            <a:r>
              <a:rPr>
                <a:latin typeface="Courier"/>
              </a:rPr>
              <a:t> </a:t>
            </a:r>
            <a:r>
              <a:rPr>
                <a:solidFill>
                  <a:srgbClr val="06287E"/>
                </a:solidFill>
                <a:latin typeface="Courier"/>
              </a:rPr>
              <a:t>read_tsv</a:t>
            </a:r>
            <a:r>
              <a:rPr>
                <a:latin typeface="Courier"/>
              </a:rPr>
              <a:t>(</a:t>
            </a:r>
            <a:r>
              <a:rPr>
                <a:solidFill>
                  <a:srgbClr val="7D9029"/>
                </a:solidFill>
                <a:latin typeface="Courier"/>
              </a:rPr>
              <a:t>file =</a:t>
            </a:r>
            <a:r>
              <a:rPr>
                <a:latin typeface="Courier"/>
              </a:rPr>
              <a:t> </a:t>
            </a:r>
            <a:r>
              <a:rPr>
                <a:solidFill>
                  <a:srgbClr val="4070A0"/>
                </a:solidFill>
                <a:latin typeface="Courier"/>
              </a:rPr>
              <a:t>"https://daseh.org/data/kaggleMars_dictionary.txt"</a:t>
            </a:r>
            <a:r>
              <a:rPr>
                <a:latin typeface="Courier"/>
              </a:rPr>
              <a:t>)</a:t>
            </a:r>
          </a:p>
          <a:p>
            <a:pPr lvl="0" indent="0">
              <a:buNone/>
            </a:pPr>
            <a:r>
              <a:rPr>
                <a:latin typeface="Courier"/>
              </a:rPr>
              <a:t>## Rows: 12 Columns: 2
## ── Column specification ────────────────────────────────────────────────────────
## Delimiter: "\t"
## chr (2): earth_year, Year on Earth
## 
## ℹ Use `spec()` to retrieve the full column specification for this data.
## ℹ Specify the column types or set `show_col_types = FALSE` to quiet this message.</a:t>
            </a:r>
          </a:p>
          <a:p>
            <a:pPr lvl="0" indent="0">
              <a:buNone/>
            </a:pPr>
            <a:r>
              <a:rPr i="1">
                <a:solidFill>
                  <a:srgbClr val="60A0B0"/>
                </a:solidFill>
                <a:latin typeface="Courier"/>
              </a:rPr>
              <a:t># OR</a:t>
            </a:r>
            <a:br/>
            <a:r>
              <a:rPr>
                <a:solidFill>
                  <a:srgbClr val="06287E"/>
                </a:solidFill>
                <a:latin typeface="Courier"/>
              </a:rPr>
              <a:t>download.file</a:t>
            </a:r>
            <a:r>
              <a:rPr>
                <a:latin typeface="Courier"/>
              </a:rPr>
              <a:t>(</a:t>
            </a:r>
            <a:br/>
            <a:r>
              <a:rPr>
                <a:latin typeface="Courier"/>
              </a:rPr>
              <a:t>  </a:t>
            </a:r>
            <a:r>
              <a:rPr>
                <a:solidFill>
                  <a:srgbClr val="7D9029"/>
                </a:solidFill>
                <a:latin typeface="Courier"/>
              </a:rPr>
              <a:t>url =</a:t>
            </a:r>
            <a:r>
              <a:rPr>
                <a:latin typeface="Courier"/>
              </a:rPr>
              <a:t> </a:t>
            </a:r>
            <a:r>
              <a:rPr>
                <a:solidFill>
                  <a:srgbClr val="4070A0"/>
                </a:solidFill>
                <a:latin typeface="Courier"/>
              </a:rPr>
              <a:t>"https://daseh.org/data/kaggleMars_dictionary.txt"</a:t>
            </a:r>
            <a:r>
              <a:rPr>
                <a:latin typeface="Courier"/>
              </a:rPr>
              <a:t>,</a:t>
            </a:r>
            <a:br/>
            <a:r>
              <a:rPr>
                <a:latin typeface="Courier"/>
              </a:rPr>
              <a:t>  </a:t>
            </a:r>
            <a:r>
              <a:rPr>
                <a:solidFill>
                  <a:srgbClr val="7D9029"/>
                </a:solidFill>
                <a:latin typeface="Courier"/>
              </a:rPr>
              <a:t>destfile =</a:t>
            </a:r>
            <a:r>
              <a:rPr>
                <a:latin typeface="Courier"/>
              </a:rPr>
              <a:t> </a:t>
            </a:r>
            <a:r>
              <a:rPr>
                <a:solidFill>
                  <a:srgbClr val="4070A0"/>
                </a:solidFill>
                <a:latin typeface="Courier"/>
              </a:rPr>
              <a:t>"dict.txt"</a:t>
            </a:r>
            <a:r>
              <a:rPr>
                <a:latin typeface="Courier"/>
              </a:rPr>
              <a:t>,</a:t>
            </a:r>
            <a:br/>
            <a:r>
              <a:rPr>
                <a:latin typeface="Courier"/>
              </a:rPr>
              <a:t>  </a:t>
            </a:r>
            <a:r>
              <a:rPr>
                <a:solidFill>
                  <a:srgbClr val="7D9029"/>
                </a:solidFill>
                <a:latin typeface="Courier"/>
              </a:rPr>
              <a:t>overwrite =</a:t>
            </a:r>
            <a:r>
              <a:rPr>
                <a:latin typeface="Courier"/>
              </a:rPr>
              <a:t> </a:t>
            </a:r>
            <a:r>
              <a:rPr>
                <a:solidFill>
                  <a:srgbClr val="880000"/>
                </a:solidFill>
                <a:latin typeface="Courier"/>
              </a:rPr>
              <a:t>TRUE</a:t>
            </a:r>
            <a:r>
              <a:rPr>
                <a:latin typeface="Courier"/>
              </a:rPr>
              <a:t>,</a:t>
            </a:r>
            <a:br/>
            <a:r>
              <a:rPr>
                <a:latin typeface="Courier"/>
              </a:rPr>
              <a:t>  </a:t>
            </a:r>
            <a:r>
              <a:rPr>
                <a:solidFill>
                  <a:srgbClr val="7D9029"/>
                </a:solidFill>
                <a:latin typeface="Courier"/>
              </a:rPr>
              <a:t>mode =</a:t>
            </a:r>
            <a:r>
              <a:rPr>
                <a:latin typeface="Courier"/>
              </a:rPr>
              <a:t> </a:t>
            </a:r>
            <a:r>
              <a:rPr>
                <a:solidFill>
                  <a:srgbClr val="4070A0"/>
                </a:solidFill>
                <a:latin typeface="Courier"/>
              </a:rPr>
              <a:t>"wb"</a:t>
            </a:r>
            <a:br/>
            <a:r>
              <a:rPr>
                <a:latin typeface="Courier"/>
              </a:rPr>
              <a:t>)</a:t>
            </a:r>
            <a:br/>
            <a:r>
              <a:rPr>
                <a:latin typeface="Courier"/>
              </a:rPr>
              <a:t>key </a:t>
            </a:r>
            <a:r>
              <a:rPr>
                <a:solidFill>
                  <a:srgbClr val="007020"/>
                </a:solidFill>
                <a:latin typeface="Courier"/>
              </a:rPr>
              <a:t>&lt;-</a:t>
            </a:r>
            <a:r>
              <a:rPr>
                <a:latin typeface="Courier"/>
              </a:rPr>
              <a:t> </a:t>
            </a:r>
            <a:r>
              <a:rPr>
                <a:solidFill>
                  <a:srgbClr val="06287E"/>
                </a:solidFill>
                <a:latin typeface="Courier"/>
              </a:rPr>
              <a:t>read_tsv</a:t>
            </a:r>
            <a:r>
              <a:rPr>
                <a:latin typeface="Courier"/>
              </a:rPr>
              <a:t>(</a:t>
            </a:r>
            <a:r>
              <a:rPr>
                <a:solidFill>
                  <a:srgbClr val="4070A0"/>
                </a:solidFill>
                <a:latin typeface="Courier"/>
              </a:rPr>
              <a:t>"dict.txt"</a:t>
            </a:r>
            <a:r>
              <a:rPr>
                <a:latin typeface="Courier"/>
              </a:rPr>
              <a:t>)</a:t>
            </a:r>
          </a:p>
          <a:p>
            <a:pPr lvl="0" indent="0">
              <a:buNone/>
            </a:pPr>
            <a:r>
              <a:rPr>
                <a:latin typeface="Courier"/>
              </a:rPr>
              <a:t>## Rows: 12 Columns: 2
## ── Column specification ────────────────────────────────────────────────────────
## Delimiter: "\t"
## chr (2): earth_year, Year on Earth
## 
## ℹ Use `spec()` to retrieve the full column specification for this data.
## ℹ Specify the column types or set `show_col_types = FALSE` to quiet this message.</a:t>
            </a:r>
          </a:p>
          <a:p>
            <a:pPr lvl="0" marL="0" indent="0">
              <a:buNone/>
            </a:pPr>
            <a:r>
              <a:rPr/>
              <a:t>7. You should now be ready to work with the “mars” dataset.</a:t>
            </a:r>
          </a:p>
          <a:p>
            <a:pPr lvl="1">
              <a:buAutoNum type="alphaLcParenBoth"/>
            </a:pPr>
            <a:r>
              <a:rPr/>
              <a:t>Preview the data so that you can see the names of the columns. There are several possible functions to do this.</a:t>
            </a:r>
          </a:p>
          <a:p>
            <a:pPr lvl="1">
              <a:buAutoNum type="alphaLcParenBoth"/>
            </a:pPr>
            <a:r>
              <a:rPr/>
              <a:t>Determine the class of the columns using </a:t>
            </a:r>
            <a:r>
              <a:rPr>
                <a:latin typeface="Courier"/>
              </a:rPr>
              <a:t>str()</a:t>
            </a:r>
            <a:r>
              <a:rPr/>
              <a:t>. Write your answer as a comment inside the R chunk below.</a:t>
            </a:r>
          </a:p>
          <a:p>
            <a:pPr lvl="0" indent="0">
              <a:buNone/>
            </a:pPr>
            <a:r>
              <a:rPr>
                <a:solidFill>
                  <a:srgbClr val="06287E"/>
                </a:solidFill>
                <a:latin typeface="Courier"/>
              </a:rPr>
              <a:t>str</a:t>
            </a:r>
            <a:r>
              <a:rPr>
                <a:latin typeface="Courier"/>
              </a:rPr>
              <a:t>(mars)</a:t>
            </a:r>
          </a:p>
          <a:p>
            <a:pPr lvl="0" indent="0">
              <a:buNone/>
            </a:pPr>
            <a:r>
              <a:rPr>
                <a:latin typeface="Courier"/>
              </a:rPr>
              <a:t>## spc_tbl_ [3,197 × 13] (S3: spec_tbl_df/tbl_df/tbl/data.frame)
##  $ earth_year     : num [1:3197] 2022 2022 2022 2022 2022 ...
##  $ earth_date     : chr [1:3197] "01-26 UTC" "01-25 UTC" "01-24 UTC" "01-23 UTC" ...
##  $ mars_date      : chr [1:3197] "Mars, Month 6 - LS 163deg" "Mars, Month 6 - LS 163deg" "Mars, Month 6 - LS 162deg" "Mars, Month 6 - LS 162deg" ...
##  $ solar_day      : num [1:3197] 3368 3367 3366 3365 3364 ...
##  $ max_ground_temp: num [1:3197] -3 -3 -4 -6 -7 -8 -4 -6 -6 -9 ...
##  $ min_ground_temp: num [1:3197] -71 -72 -70 -70 -71 -71 -72 -70 -71 -71 ...
##  $ max_air_temp   : num [1:3197] 10 10 8 9 8 8 5 5 3 5 ...
##  $ min_air_temp   : num [1:3197] -84 -87 -81 -91 -92 -80 -84 -73 -89 -80 ...
##  $ mean_pressure  : num [1:3197] 707 707 708 707 708 707 706 705 707 708 ...
##  $ sunrise        : 'hms' num [1:3197] 05:25:00 05:25:00 05:25:00 05:26:00 ...
##   ..- attr(*, "units")= chr "secs"
##  $ sunset         : 'hms' num [1:3197] 17:20:00 17:20:00 17:21:00 17:21:00 ...
##   ..- attr(*, "units")= chr "secs"
##  $ UV_Radiation   : chr [1:3197] "moderate" "moderate" "moderate" "moderate" ...
##  $ weather        : chr [1:3197] "Sunny" "Sunny" "Sunny" "Sunny" ...
##  - attr(*, "spec")=
##   .. cols(
##   ..   earth_year = col_double(),
##   ..   earth_date = col_character(),
##   ..   mars_date = col_character(),
##   ..   solar_day = col_double(),
##   ..   max_ground_temp = col_double(),
##   ..   min_ground_temp = col_double(),
##   ..   max_air_temp = col_double(),
##   ..   min_air_temp = col_double(),
##   ..   mean_pressure = col_double(),
##   ..   sunrise = col_time(format = ""),
##   ..   sunset = col_time(format = ""),
##   ..   UV_Radiation = col_character(),
##   ..   weather = col_character()
##   .. )
##  - attr(*, "problems")=&lt;externalptr&gt;</a:t>
            </a:r>
          </a:p>
          <a:p>
            <a:pPr lvl="0" indent="0">
              <a:buNone/>
            </a:pPr>
            <a:r>
              <a:rPr i="1">
                <a:solidFill>
                  <a:srgbClr val="60A0B0"/>
                </a:solidFill>
                <a:latin typeface="Courier"/>
              </a:rPr>
              <a:t>#spc_tbl_ [3,197 × 13] (S3: spec_tbl_df/tbl_df/tbl/data.frame)</a:t>
            </a:r>
            <a:br/>
            <a:r>
              <a:rPr i="1">
                <a:solidFill>
                  <a:srgbClr val="60A0B0"/>
                </a:solidFill>
                <a:latin typeface="Courier"/>
              </a:rPr>
              <a:t># $ earth_year           : num [1:3197] 2022 2022 2022 2022 2022 ...</a:t>
            </a:r>
            <a:br/>
            <a:r>
              <a:rPr i="1">
                <a:solidFill>
                  <a:srgbClr val="60A0B0"/>
                </a:solidFill>
                <a:latin typeface="Courier"/>
              </a:rPr>
              <a:t># $ earth_date           : chr [1:3197] "01-26 UTC" "01-25 UTC" "01-24 UTC" "01-23 UTC" ...</a:t>
            </a:r>
            <a:br/>
            <a:r>
              <a:rPr i="1">
                <a:solidFill>
                  <a:srgbClr val="60A0B0"/>
                </a:solidFill>
                <a:latin typeface="Courier"/>
              </a:rPr>
              <a:t># $ mars_date            : chr [1:3197] "Mars, Month 6 - LS 163deg" "Mars, Month 6 - LS 163deg" "Mars, Month 6 - LS 162deg" "Mars, Month 6 - LS 162deg" ...</a:t>
            </a:r>
            <a:br/>
            <a:r>
              <a:rPr i="1">
                <a:solidFill>
                  <a:srgbClr val="60A0B0"/>
                </a:solidFill>
                <a:latin typeface="Courier"/>
              </a:rPr>
              <a:t># $ solar_day            : num [1:3197] 3368 3367 3366 3365 3364 ...</a:t>
            </a:r>
            <a:br/>
            <a:r>
              <a:rPr i="1">
                <a:solidFill>
                  <a:srgbClr val="60A0B0"/>
                </a:solidFill>
                <a:latin typeface="Courier"/>
              </a:rPr>
              <a:t># $ max_ground_temp(degC): chr [1:3197] "-3" "-3" "-4" "-6" ...</a:t>
            </a:r>
            <a:br/>
            <a:r>
              <a:rPr i="1">
                <a:solidFill>
                  <a:srgbClr val="60A0B0"/>
                </a:solidFill>
                <a:latin typeface="Courier"/>
              </a:rPr>
              <a:t># $ min_ground_temp(degC): chr [1:3197] "-71" "-72" "-70" "-70" ...</a:t>
            </a:r>
            <a:br/>
            <a:r>
              <a:rPr i="1">
                <a:solidFill>
                  <a:srgbClr val="60A0B0"/>
                </a:solidFill>
                <a:latin typeface="Courier"/>
              </a:rPr>
              <a:t># $ max_air_temp(degC)   : chr [1:3197] "10" "10" "8" "9" ...</a:t>
            </a:r>
            <a:br/>
            <a:r>
              <a:rPr i="1">
                <a:solidFill>
                  <a:srgbClr val="60A0B0"/>
                </a:solidFill>
                <a:latin typeface="Courier"/>
              </a:rPr>
              <a:t># $ min_air_temp(degC)   : chr [1:3197] "-84" "-87" "-81" "-91" ...</a:t>
            </a:r>
            <a:br/>
            <a:r>
              <a:rPr i="1">
                <a:solidFill>
                  <a:srgbClr val="60A0B0"/>
                </a:solidFill>
                <a:latin typeface="Courier"/>
              </a:rPr>
              <a:t># $ mean_pressure(Pa)    : chr [1:3197] "707" "707" "708" "707" ...</a:t>
            </a:r>
            <a:br/>
            <a:r>
              <a:rPr i="1">
                <a:solidFill>
                  <a:srgbClr val="60A0B0"/>
                </a:solidFill>
                <a:latin typeface="Courier"/>
              </a:rPr>
              <a:t># $ sunrise              : 'hms' num [1:3197] 05:25:00 05:25:00 05:25:00 05:26:00 ...</a:t>
            </a:r>
            <a:br/>
            <a:r>
              <a:rPr i="1">
                <a:solidFill>
                  <a:srgbClr val="60A0B0"/>
                </a:solidFill>
                <a:latin typeface="Courier"/>
              </a:rPr>
              <a:t>#  ..- attr(*, "units")= chr "secs"</a:t>
            </a:r>
            <a:br/>
            <a:r>
              <a:rPr i="1">
                <a:solidFill>
                  <a:srgbClr val="60A0B0"/>
                </a:solidFill>
                <a:latin typeface="Courier"/>
              </a:rPr>
              <a:t># $ sunset               : 'hms' num [1:3197] 17:20:00 17:20:00 17:21:00 17:21:00 ...</a:t>
            </a:r>
            <a:br/>
            <a:r>
              <a:rPr i="1">
                <a:solidFill>
                  <a:srgbClr val="60A0B0"/>
                </a:solidFill>
                <a:latin typeface="Courier"/>
              </a:rPr>
              <a:t>#  ..- attr(*, "units")= chr "secs"</a:t>
            </a:r>
            <a:br/>
            <a:r>
              <a:rPr i="1">
                <a:solidFill>
                  <a:srgbClr val="60A0B0"/>
                </a:solidFill>
                <a:latin typeface="Courier"/>
              </a:rPr>
              <a:t># $ UV_Radiation         : chr [1:3197] "moderate" "moderate" "moderate" "moderate" ...</a:t>
            </a:r>
            <a:br/>
            <a:r>
              <a:rPr i="1">
                <a:solidFill>
                  <a:srgbClr val="60A0B0"/>
                </a:solidFill>
                <a:latin typeface="Courier"/>
              </a:rPr>
              <a:t># $ weather              : chr [1:3197] "Sunny" "Sunny" "Sunny" "Sunny" ...</a:t>
            </a:r>
            <a:br/>
            <a:r>
              <a:rPr i="1">
                <a:solidFill>
                  <a:srgbClr val="60A0B0"/>
                </a:solidFill>
                <a:latin typeface="Courier"/>
              </a:rPr>
              <a:t># - attr(*, "spec")=</a:t>
            </a:r>
            <a:br/>
            <a:r>
              <a:rPr i="1">
                <a:solidFill>
                  <a:srgbClr val="60A0B0"/>
                </a:solidFill>
                <a:latin typeface="Courier"/>
              </a:rPr>
              <a:t>#  .. cols(</a:t>
            </a:r>
            <a:br/>
            <a:r>
              <a:rPr i="1">
                <a:solidFill>
                  <a:srgbClr val="60A0B0"/>
                </a:solidFill>
                <a:latin typeface="Courier"/>
              </a:rPr>
              <a:t>#  ..   earth_year = col_double(),</a:t>
            </a:r>
            <a:br/>
            <a:r>
              <a:rPr i="1">
                <a:solidFill>
                  <a:srgbClr val="60A0B0"/>
                </a:solidFill>
                <a:latin typeface="Courier"/>
              </a:rPr>
              <a:t>#  ..   earth_date = col_character(),</a:t>
            </a:r>
            <a:br/>
            <a:r>
              <a:rPr i="1">
                <a:solidFill>
                  <a:srgbClr val="60A0B0"/>
                </a:solidFill>
                <a:latin typeface="Courier"/>
              </a:rPr>
              <a:t>#  ..   mars_date = col_character(),</a:t>
            </a:r>
            <a:br/>
            <a:r>
              <a:rPr i="1">
                <a:solidFill>
                  <a:srgbClr val="60A0B0"/>
                </a:solidFill>
                <a:latin typeface="Courier"/>
              </a:rPr>
              <a:t>#  ..   solar_day = col_double(),</a:t>
            </a:r>
            <a:br/>
            <a:r>
              <a:rPr i="1">
                <a:solidFill>
                  <a:srgbClr val="60A0B0"/>
                </a:solidFill>
                <a:latin typeface="Courier"/>
              </a:rPr>
              <a:t>#  ..   `max_ground_temp(degC)` = col_character(),</a:t>
            </a:r>
            <a:br/>
            <a:r>
              <a:rPr i="1">
                <a:solidFill>
                  <a:srgbClr val="60A0B0"/>
                </a:solidFill>
                <a:latin typeface="Courier"/>
              </a:rPr>
              <a:t>#  ..   `min_ground_temp(degC)` = col_character(),</a:t>
            </a:r>
            <a:br/>
            <a:r>
              <a:rPr i="1">
                <a:solidFill>
                  <a:srgbClr val="60A0B0"/>
                </a:solidFill>
                <a:latin typeface="Courier"/>
              </a:rPr>
              <a:t>#  ..   `max_air_temp(degC)` = col_character(),</a:t>
            </a:r>
            <a:br/>
            <a:r>
              <a:rPr i="1">
                <a:solidFill>
                  <a:srgbClr val="60A0B0"/>
                </a:solidFill>
                <a:latin typeface="Courier"/>
              </a:rPr>
              <a:t>#  ..   `min_air_temp(degC)` = col_character(),</a:t>
            </a:r>
            <a:br/>
            <a:r>
              <a:rPr i="1">
                <a:solidFill>
                  <a:srgbClr val="60A0B0"/>
                </a:solidFill>
                <a:latin typeface="Courier"/>
              </a:rPr>
              <a:t>#  ..   `mean_pressure(Pa)` = col_character(),</a:t>
            </a:r>
            <a:br/>
            <a:r>
              <a:rPr i="1">
                <a:solidFill>
                  <a:srgbClr val="60A0B0"/>
                </a:solidFill>
                <a:latin typeface="Courier"/>
              </a:rPr>
              <a:t>#  ..   sunrise = col_time(format = ""),</a:t>
            </a:r>
            <a:br/>
            <a:r>
              <a:rPr i="1">
                <a:solidFill>
                  <a:srgbClr val="60A0B0"/>
                </a:solidFill>
                <a:latin typeface="Courier"/>
              </a:rPr>
              <a:t>#  ..   sunset = col_time(format = ""),</a:t>
            </a:r>
            <a:br/>
            <a:r>
              <a:rPr i="1">
                <a:solidFill>
                  <a:srgbClr val="60A0B0"/>
                </a:solidFill>
                <a:latin typeface="Courier"/>
              </a:rPr>
              <a:t>#  ..   UV_Radiation = col_character(),</a:t>
            </a:r>
            <a:br/>
            <a:r>
              <a:rPr i="1">
                <a:solidFill>
                  <a:srgbClr val="60A0B0"/>
                </a:solidFill>
                <a:latin typeface="Courier"/>
              </a:rPr>
              <a:t>#  ..   weather = col_character()</a:t>
            </a:r>
            <a:br/>
            <a:r>
              <a:rPr i="1">
                <a:solidFill>
                  <a:srgbClr val="60A0B0"/>
                </a:solidFill>
                <a:latin typeface="Courier"/>
              </a:rPr>
              <a:t>#  .. )</a:t>
            </a:r>
            <a:br/>
            <a:r>
              <a:rPr i="1">
                <a:solidFill>
                  <a:srgbClr val="60A0B0"/>
                </a:solidFill>
                <a:latin typeface="Courier"/>
              </a:rPr>
              <a:t># - attr(*, "problems")=&lt;externalptr&gt; </a:t>
            </a:r>
          </a:p>
          <a:p>
            <a:pPr lvl="0" marL="0" indent="0">
              <a:buNone/>
            </a:pPr>
            <a:r>
              <a:rPr/>
              <a:t>8. How many data points (rows) are in the dataset? How many variables (columns) are recorded for each data point?</a:t>
            </a:r>
          </a:p>
          <a:p>
            <a:pPr lvl="0" indent="0">
              <a:buNone/>
            </a:pPr>
            <a:r>
              <a:rPr>
                <a:solidFill>
                  <a:srgbClr val="06287E"/>
                </a:solidFill>
                <a:latin typeface="Courier"/>
              </a:rPr>
              <a:t>dim</a:t>
            </a:r>
            <a:r>
              <a:rPr>
                <a:latin typeface="Courier"/>
              </a:rPr>
              <a:t>(mars)</a:t>
            </a:r>
          </a:p>
          <a:p>
            <a:pPr lvl="0" indent="0">
              <a:buNone/>
            </a:pPr>
            <a:r>
              <a:rPr>
                <a:latin typeface="Courier"/>
              </a:rPr>
              <a:t>## [1] 3197   13</a:t>
            </a:r>
          </a:p>
          <a:p>
            <a:pPr lvl="0" indent="0">
              <a:buNone/>
            </a:pPr>
            <a:r>
              <a:rPr>
                <a:solidFill>
                  <a:srgbClr val="06287E"/>
                </a:solidFill>
                <a:latin typeface="Courier"/>
              </a:rPr>
              <a:t>nrow</a:t>
            </a:r>
            <a:r>
              <a:rPr>
                <a:latin typeface="Courier"/>
              </a:rPr>
              <a:t>(mars)</a:t>
            </a:r>
          </a:p>
          <a:p>
            <a:pPr lvl="0" indent="0">
              <a:buNone/>
            </a:pPr>
            <a:r>
              <a:rPr>
                <a:latin typeface="Courier"/>
              </a:rPr>
              <a:t>## [1] 3197</a:t>
            </a:r>
          </a:p>
          <a:p>
            <a:pPr lvl="0" indent="0">
              <a:buNone/>
            </a:pPr>
            <a:r>
              <a:rPr i="1">
                <a:solidFill>
                  <a:srgbClr val="60A0B0"/>
                </a:solidFill>
                <a:latin typeface="Courier"/>
              </a:rPr>
              <a:t># There are 3197 data points in the dataset and 13 variables.</a:t>
            </a:r>
          </a:p>
          <a:p>
            <a:pPr lvl="0" marL="0" indent="0">
              <a:buNone/>
            </a:pPr>
            <a:r>
              <a:rPr/>
              <a:t>9. Filter out (i.e., remove) measurements from earlier than 2015 (according to the Earth year), as well as any rows with missing data (NA). Replace the original “mars” object by reassigning the new filtered dataset to “mars”. How many data points are left after filtering?</a:t>
            </a:r>
          </a:p>
          <a:p>
            <a:pPr lvl="0" marL="0" indent="0">
              <a:buNone/>
            </a:pPr>
            <a:r>
              <a:rPr b="1"/>
              <a:t>Hint:</a:t>
            </a:r>
            <a:r>
              <a:rPr/>
              <a:t> use drop_na() to remove rows with missing values.</a:t>
            </a:r>
          </a:p>
          <a:p>
            <a:pPr lvl="0" indent="0">
              <a:buNone/>
            </a:pPr>
            <a:r>
              <a:rPr>
                <a:latin typeface="Courier"/>
              </a:rPr>
              <a:t>mars </a:t>
            </a:r>
            <a:r>
              <a:rPr>
                <a:solidFill>
                  <a:srgbClr val="007020"/>
                </a:solidFill>
                <a:latin typeface="Courier"/>
              </a:rPr>
              <a:t>&lt;-</a:t>
            </a:r>
            <a:r>
              <a:rPr>
                <a:latin typeface="Courier"/>
              </a:rPr>
              <a:t> </a:t>
            </a:r>
            <a:r>
              <a:rPr>
                <a:solidFill>
                  <a:srgbClr val="06287E"/>
                </a:solidFill>
                <a:latin typeface="Courier"/>
              </a:rPr>
              <a:t>drop_na</a:t>
            </a:r>
            <a:r>
              <a:rPr>
                <a:latin typeface="Courier"/>
              </a:rPr>
              <a:t>(mars)</a:t>
            </a:r>
            <a:br/>
            <a:r>
              <a:rPr>
                <a:latin typeface="Courier"/>
              </a:rPr>
              <a:t>mars </a:t>
            </a:r>
            <a:r>
              <a:rPr>
                <a:solidFill>
                  <a:srgbClr val="007020"/>
                </a:solidFill>
                <a:latin typeface="Courier"/>
              </a:rPr>
              <a:t>&lt;-</a:t>
            </a:r>
            <a:r>
              <a:rPr>
                <a:latin typeface="Courier"/>
              </a:rPr>
              <a:t> </a:t>
            </a:r>
            <a:r>
              <a:rPr>
                <a:solidFill>
                  <a:srgbClr val="06287E"/>
                </a:solidFill>
                <a:latin typeface="Courier"/>
              </a:rPr>
              <a:t>filter</a:t>
            </a:r>
            <a:r>
              <a:rPr>
                <a:latin typeface="Courier"/>
              </a:rPr>
              <a:t>(mars, earth_year </a:t>
            </a:r>
            <a:r>
              <a:rPr>
                <a:solidFill>
                  <a:srgbClr val="4070A0"/>
                </a:solidFill>
                <a:latin typeface="Courier"/>
              </a:rPr>
              <a:t>&gt;</a:t>
            </a:r>
            <a:r>
              <a:rPr>
                <a:latin typeface="Courier"/>
              </a:rPr>
              <a:t> </a:t>
            </a:r>
            <a:r>
              <a:rPr>
                <a:solidFill>
                  <a:srgbClr val="40A070"/>
                </a:solidFill>
                <a:latin typeface="Courier"/>
              </a:rPr>
              <a:t>2014</a:t>
            </a:r>
            <a:r>
              <a:rPr>
                <a:latin typeface="Courier"/>
              </a:rPr>
              <a:t>)</a:t>
            </a:r>
            <a:br/>
            <a:r>
              <a:rPr>
                <a:solidFill>
                  <a:srgbClr val="06287E"/>
                </a:solidFill>
                <a:latin typeface="Courier"/>
              </a:rPr>
              <a:t>nrow</a:t>
            </a:r>
            <a:r>
              <a:rPr>
                <a:latin typeface="Courier"/>
              </a:rPr>
              <a:t>(mars)</a:t>
            </a:r>
          </a:p>
          <a:p>
            <a:pPr lvl="0" indent="0">
              <a:buNone/>
            </a:pPr>
            <a:r>
              <a:rPr>
                <a:latin typeface="Courier"/>
              </a:rPr>
              <a:t>## [1] 2393</a:t>
            </a:r>
          </a:p>
          <a:p>
            <a:pPr lvl="0" indent="0">
              <a:buNone/>
            </a:pPr>
            <a:r>
              <a:rPr i="1">
                <a:solidFill>
                  <a:srgbClr val="60A0B0"/>
                </a:solidFill>
                <a:latin typeface="Courier"/>
              </a:rPr>
              <a:t># OR</a:t>
            </a:r>
            <a:br/>
            <a:r>
              <a:rPr>
                <a:latin typeface="Courier"/>
              </a:rPr>
              <a:t>mars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drop_na</a:t>
            </a:r>
            <a:r>
              <a:rPr>
                <a:latin typeface="Courier"/>
              </a:rPr>
              <a:t>()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(earth_year </a:t>
            </a:r>
            <a:r>
              <a:rPr>
                <a:solidFill>
                  <a:srgbClr val="4070A0"/>
                </a:solidFill>
                <a:latin typeface="Courier"/>
              </a:rPr>
              <a:t>&gt;</a:t>
            </a:r>
            <a:r>
              <a:rPr>
                <a:latin typeface="Courier"/>
              </a:rPr>
              <a:t> </a:t>
            </a:r>
            <a:r>
              <a:rPr>
                <a:solidFill>
                  <a:srgbClr val="40A070"/>
                </a:solidFill>
                <a:latin typeface="Courier"/>
              </a:rPr>
              <a:t>2014</a:t>
            </a:r>
            <a:r>
              <a:rPr>
                <a:latin typeface="Courier"/>
              </a:rPr>
              <a:t>)</a:t>
            </a:r>
            <a:br/>
            <a:r>
              <a:rPr>
                <a:solidFill>
                  <a:srgbClr val="06287E"/>
                </a:solidFill>
                <a:latin typeface="Courier"/>
              </a:rPr>
              <a:t>nrow</a:t>
            </a:r>
            <a:r>
              <a:rPr>
                <a:latin typeface="Courier"/>
              </a:rPr>
              <a:t>(mars)</a:t>
            </a:r>
          </a:p>
          <a:p>
            <a:pPr lvl="0" indent="0">
              <a:buNone/>
            </a:pPr>
            <a:r>
              <a:rPr>
                <a:latin typeface="Courier"/>
              </a:rPr>
              <a:t>## [1] 2393</a:t>
            </a:r>
          </a:p>
          <a:p>
            <a:pPr lvl="0" indent="0">
              <a:buNone/>
            </a:pPr>
            <a:r>
              <a:rPr i="1">
                <a:solidFill>
                  <a:srgbClr val="60A0B0"/>
                </a:solidFill>
                <a:latin typeface="Courier"/>
              </a:rPr>
              <a:t># There are 2393 measurements left after filtering by year.</a:t>
            </a:r>
          </a:p>
          <a:p>
            <a:pPr lvl="0" marL="0" indent="0">
              <a:buNone/>
            </a:pPr>
            <a:r>
              <a:rPr/>
              <a:t>10. From this point on, work with the filtered “mars” dataset from the above question. A Martian year is equivalent to 668.6 sols (or solar days). Create a new variable (column) called “years_since_landing” that shows how many Martian years the Curiosity rover had been on Mars for each measurement (divide “solar_day” by 668.6). Check to make sure the new column is there.</a:t>
            </a:r>
          </a:p>
          <a:p>
            <a:pPr lvl="0" marL="0" indent="0">
              <a:buNone/>
            </a:pPr>
            <a:r>
              <a:rPr b="1"/>
              <a:t>Hint:</a:t>
            </a:r>
            <a:r>
              <a:rPr/>
              <a:t> use the </a:t>
            </a:r>
            <a:r>
              <a:rPr>
                <a:latin typeface="Courier"/>
              </a:rPr>
              <a:t>mutate()</a:t>
            </a:r>
            <a:r>
              <a:rPr/>
              <a:t> function.</a:t>
            </a:r>
          </a:p>
          <a:p>
            <a:pPr lvl="0" indent="0">
              <a:buNone/>
            </a:pPr>
            <a:r>
              <a:rPr>
                <a:latin typeface="Courier"/>
              </a:rPr>
              <a:t>mars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years_since_landing =</a:t>
            </a:r>
            <a:r>
              <a:rPr>
                <a:latin typeface="Courier"/>
              </a:rPr>
              <a:t> solar_day </a:t>
            </a:r>
            <a:r>
              <a:rPr>
                <a:solidFill>
                  <a:srgbClr val="4070A0"/>
                </a:solidFill>
                <a:latin typeface="Courier"/>
              </a:rPr>
              <a:t>/</a:t>
            </a:r>
            <a:r>
              <a:rPr>
                <a:latin typeface="Courier"/>
              </a:rPr>
              <a:t> </a:t>
            </a:r>
            <a:r>
              <a:rPr>
                <a:solidFill>
                  <a:srgbClr val="40A070"/>
                </a:solidFill>
                <a:latin typeface="Courier"/>
              </a:rPr>
              <a:t>668.6</a:t>
            </a:r>
            <a:r>
              <a:rPr>
                <a:latin typeface="Courier"/>
              </a:rPr>
              <a:t>)</a:t>
            </a:r>
            <a:br/>
            <a:r>
              <a:rPr i="1">
                <a:solidFill>
                  <a:srgbClr val="60A0B0"/>
                </a:solidFill>
                <a:latin typeface="Courier"/>
              </a:rPr>
              <a:t># OR</a:t>
            </a:r>
            <a:br/>
            <a:r>
              <a:rPr>
                <a:latin typeface="Courier"/>
              </a:rPr>
              <a:t>mars </a:t>
            </a:r>
            <a:r>
              <a:rPr>
                <a:solidFill>
                  <a:srgbClr val="007020"/>
                </a:solidFill>
                <a:latin typeface="Courier"/>
              </a:rPr>
              <a:t>&lt;-</a:t>
            </a:r>
            <a:r>
              <a:rPr>
                <a:latin typeface="Courier"/>
              </a:rPr>
              <a:t> </a:t>
            </a:r>
            <a:r>
              <a:rPr>
                <a:solidFill>
                  <a:srgbClr val="06287E"/>
                </a:solidFill>
                <a:latin typeface="Courier"/>
              </a:rPr>
              <a:t>mutate</a:t>
            </a:r>
            <a:r>
              <a:rPr>
                <a:latin typeface="Courier"/>
              </a:rPr>
              <a:t>(mars, </a:t>
            </a:r>
            <a:r>
              <a:rPr>
                <a:solidFill>
                  <a:srgbClr val="7D9029"/>
                </a:solidFill>
                <a:latin typeface="Courier"/>
              </a:rPr>
              <a:t>years_since_landing =</a:t>
            </a:r>
            <a:r>
              <a:rPr>
                <a:latin typeface="Courier"/>
              </a:rPr>
              <a:t> solar_day </a:t>
            </a:r>
            <a:r>
              <a:rPr>
                <a:solidFill>
                  <a:srgbClr val="4070A0"/>
                </a:solidFill>
                <a:latin typeface="Courier"/>
              </a:rPr>
              <a:t>/</a:t>
            </a:r>
            <a:r>
              <a:rPr>
                <a:latin typeface="Courier"/>
              </a:rPr>
              <a:t> </a:t>
            </a:r>
            <a:r>
              <a:rPr>
                <a:solidFill>
                  <a:srgbClr val="40A070"/>
                </a:solidFill>
                <a:latin typeface="Courier"/>
              </a:rPr>
              <a:t>668.6</a:t>
            </a:r>
            <a:r>
              <a:rPr>
                <a:latin typeface="Courier"/>
              </a:rPr>
              <a:t>)</a:t>
            </a:r>
            <a:br/>
            <a:r>
              <a:rPr>
                <a:solidFill>
                  <a:srgbClr val="06287E"/>
                </a:solidFill>
                <a:latin typeface="Courier"/>
              </a:rPr>
              <a:t>colnames</a:t>
            </a:r>
            <a:r>
              <a:rPr>
                <a:latin typeface="Courier"/>
              </a:rPr>
              <a:t>(mars)</a:t>
            </a:r>
          </a:p>
          <a:p>
            <a:pPr lvl="0" indent="0">
              <a:buNone/>
            </a:pPr>
            <a:r>
              <a:rPr>
                <a:latin typeface="Courier"/>
              </a:rPr>
              <a:t>##  [1] "earth_year"          "earth_date"          "mars_date"          
##  [4] "solar_day"           "max_ground_temp"     "min_ground_temp"    
##  [7] "max_air_temp"        "min_air_temp"        "mean_pressure"      
## [10] "sunrise"             "sunset"              "UV_Radiation"       
## [13] "weather"             "years_since_landing"</a:t>
            </a:r>
          </a:p>
          <a:p>
            <a:pPr lvl="0" marL="0" indent="0">
              <a:buNone/>
            </a:pPr>
            <a:r>
              <a:rPr/>
              <a:t>11. What is the range of the maximum ground temperature (“max_ground_temp”) of the dataset?</a:t>
            </a:r>
          </a:p>
          <a:p>
            <a:pPr lvl="0" indent="0">
              <a:buNone/>
            </a:pPr>
            <a:r>
              <a:rPr>
                <a:solidFill>
                  <a:srgbClr val="06287E"/>
                </a:solidFill>
                <a:latin typeface="Courier"/>
              </a:rPr>
              <a:t>range</a:t>
            </a:r>
            <a:r>
              <a:rPr>
                <a:latin typeface="Courier"/>
              </a:rPr>
              <a:t>(mars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pull</a:t>
            </a:r>
            <a:r>
              <a:rPr>
                <a:latin typeface="Courier"/>
              </a:rPr>
              <a:t>(max_ground_temp))</a:t>
            </a:r>
          </a:p>
          <a:p>
            <a:pPr lvl="0" indent="0">
              <a:buNone/>
            </a:pPr>
            <a:r>
              <a:rPr>
                <a:latin typeface="Courier"/>
              </a:rPr>
              <a:t>## [1] -67  11</a:t>
            </a:r>
          </a:p>
          <a:p>
            <a:pPr lvl="0" indent="0">
              <a:buNone/>
            </a:pPr>
            <a:r>
              <a:rPr i="1">
                <a:solidFill>
                  <a:srgbClr val="60A0B0"/>
                </a:solidFill>
                <a:latin typeface="Courier"/>
              </a:rPr>
              <a:t># OR</a:t>
            </a:r>
            <a:br/>
            <a:r>
              <a:rPr>
                <a:latin typeface="Courier"/>
              </a:rPr>
              <a:t>gtemp_max_range </a:t>
            </a:r>
            <a:r>
              <a:rPr>
                <a:solidFill>
                  <a:srgbClr val="007020"/>
                </a:solidFill>
                <a:latin typeface="Courier"/>
              </a:rPr>
              <a:t>&lt;-</a:t>
            </a:r>
            <a:r>
              <a:rPr>
                <a:latin typeface="Courier"/>
              </a:rPr>
              <a:t> </a:t>
            </a:r>
            <a:r>
              <a:rPr>
                <a:solidFill>
                  <a:srgbClr val="06287E"/>
                </a:solidFill>
                <a:latin typeface="Courier"/>
              </a:rPr>
              <a:t>pull</a:t>
            </a:r>
            <a:r>
              <a:rPr>
                <a:latin typeface="Courier"/>
              </a:rPr>
              <a:t>(mars, max_ground_temp)</a:t>
            </a:r>
            <a:br/>
            <a:r>
              <a:rPr>
                <a:solidFill>
                  <a:srgbClr val="06287E"/>
                </a:solidFill>
                <a:latin typeface="Courier"/>
              </a:rPr>
              <a:t>range</a:t>
            </a:r>
            <a:r>
              <a:rPr>
                <a:latin typeface="Courier"/>
              </a:rPr>
              <a:t>(gtemp_max_range)</a:t>
            </a:r>
          </a:p>
          <a:p>
            <a:pPr lvl="0" indent="0">
              <a:buNone/>
            </a:pPr>
            <a:r>
              <a:rPr>
                <a:latin typeface="Courier"/>
              </a:rPr>
              <a:t>## [1] -67  11</a:t>
            </a:r>
          </a:p>
          <a:p>
            <a:pPr lvl="0" indent="0">
              <a:buNone/>
            </a:pPr>
            <a:r>
              <a:rPr i="1">
                <a:solidFill>
                  <a:srgbClr val="60A0B0"/>
                </a:solidFill>
                <a:latin typeface="Courier"/>
              </a:rPr>
              <a:t># OR</a:t>
            </a:r>
            <a:br/>
            <a:r>
              <a:rPr>
                <a:solidFill>
                  <a:srgbClr val="06287E"/>
                </a:solidFill>
                <a:latin typeface="Courier"/>
              </a:rPr>
              <a:t>range</a:t>
            </a:r>
            <a:r>
              <a:rPr>
                <a:latin typeface="Courier"/>
              </a:rPr>
              <a:t>(mars</a:t>
            </a:r>
            <a:r>
              <a:rPr>
                <a:solidFill>
                  <a:srgbClr val="4070A0"/>
                </a:solidFill>
                <a:latin typeface="Courier"/>
              </a:rPr>
              <a:t>$</a:t>
            </a:r>
            <a:r>
              <a:rPr>
                <a:latin typeface="Courier"/>
              </a:rPr>
              <a:t>max_ground_temp)</a:t>
            </a:r>
          </a:p>
          <a:p>
            <a:pPr lvl="0" indent="0">
              <a:buNone/>
            </a:pPr>
            <a:r>
              <a:rPr>
                <a:latin typeface="Courier"/>
              </a:rPr>
              <a:t>## [1] -67  11</a:t>
            </a:r>
          </a:p>
          <a:p>
            <a:pPr lvl="0" indent="0">
              <a:buNone/>
            </a:pPr>
            <a:r>
              <a:rPr>
                <a:solidFill>
                  <a:srgbClr val="06287E"/>
                </a:solidFill>
                <a:latin typeface="Courier"/>
              </a:rPr>
              <a:t>table</a:t>
            </a:r>
            <a:r>
              <a:rPr>
                <a:latin typeface="Courier"/>
              </a:rPr>
              <a:t>(mars</a:t>
            </a:r>
            <a:r>
              <a:rPr>
                <a:solidFill>
                  <a:srgbClr val="4070A0"/>
                </a:solidFill>
                <a:latin typeface="Courier"/>
              </a:rPr>
              <a:t>$</a:t>
            </a:r>
            <a:r>
              <a:rPr>
                <a:latin typeface="Courier"/>
              </a:rPr>
              <a:t>max_ground_temp)</a:t>
            </a:r>
          </a:p>
          <a:p>
            <a:pPr lvl="0" indent="0">
              <a:buNone/>
            </a:pPr>
            <a:r>
              <a:rPr>
                <a:latin typeface="Courier"/>
              </a:rPr>
              <a:t>## 
## -67 -54 -53 -37 -35 -34 -33 -32 -31 -30 -29 -28 -27 -26 -25 -24 -23 -22 -21 -20 
##   1   1   1   1   2   2  11  25  33  41  71  78  69  88  71  79  85  84  71  72 
## -19 -18 -17 -16 -15 -14 -13 -12 -11 -10  -9  -8  -7  -6  -5  -4  -3  -2  -1   0 
##  56  47  46  59  56  77  70  77  65  71  51  68  89  97  72  81  75  64  68  59 
##   1   2   3   4   5   6   7   8  10  11 
##  36  31  30  24  18   7   7   4   1   1</a:t>
            </a:r>
          </a:p>
          <a:p>
            <a:pPr lvl="0" indent="0">
              <a:buNone/>
            </a:pPr>
            <a:r>
              <a:rPr i="1">
                <a:solidFill>
                  <a:srgbClr val="60A0B0"/>
                </a:solidFill>
                <a:latin typeface="Courier"/>
              </a:rPr>
              <a:t># The range is -67 degrees Celsius to 11 degrees Celsius. </a:t>
            </a:r>
          </a:p>
          <a:p>
            <a:pPr lvl="0" marL="0" indent="0">
              <a:buNone/>
            </a:pPr>
            <a:r>
              <a:rPr/>
              <a:t>12. Create a random sample with of atmospheric pressure readings from </a:t>
            </a:r>
            <a:r>
              <a:rPr>
                <a:latin typeface="Courier"/>
              </a:rPr>
              <a:t>mars</a:t>
            </a:r>
            <a:r>
              <a:rPr/>
              <a:t>. To determine the column that corresponds to atmospheric pressure, check the “key” corresponding to the data dictionary that you imported above in question 6. Use </a:t>
            </a:r>
            <a:r>
              <a:rPr>
                <a:latin typeface="Courier"/>
              </a:rPr>
              <a:t>sample()</a:t>
            </a:r>
            <a:r>
              <a:rPr/>
              <a:t> and </a:t>
            </a:r>
            <a:r>
              <a:rPr>
                <a:latin typeface="Courier"/>
              </a:rPr>
              <a:t>pull()</a:t>
            </a:r>
            <a:r>
              <a:rPr/>
              <a:t>. Remember that by default random samples differ each time you run the code.</a:t>
            </a:r>
          </a:p>
          <a:p>
            <a:pPr lvl="0" indent="0">
              <a:buNone/>
            </a:pPr>
            <a:r>
              <a:rPr>
                <a:solidFill>
                  <a:srgbClr val="06287E"/>
                </a:solidFill>
                <a:latin typeface="Courier"/>
              </a:rPr>
              <a:t>sample</a:t>
            </a:r>
            <a:r>
              <a:rPr>
                <a:latin typeface="Courier"/>
              </a:rPr>
              <a:t>(</a:t>
            </a:r>
            <a:r>
              <a:rPr>
                <a:solidFill>
                  <a:srgbClr val="06287E"/>
                </a:solidFill>
                <a:latin typeface="Courier"/>
              </a:rPr>
              <a:t>pull</a:t>
            </a:r>
            <a:r>
              <a:rPr>
                <a:latin typeface="Courier"/>
              </a:rPr>
              <a:t>(mars, mean_pressure), </a:t>
            </a:r>
            <a:r>
              <a:rPr>
                <a:solidFill>
                  <a:srgbClr val="7D9029"/>
                </a:solidFill>
                <a:latin typeface="Courier"/>
              </a:rPr>
              <a:t>size =</a:t>
            </a:r>
            <a:r>
              <a:rPr>
                <a:latin typeface="Courier"/>
              </a:rPr>
              <a:t> </a:t>
            </a:r>
            <a:r>
              <a:rPr>
                <a:solidFill>
                  <a:srgbClr val="40A070"/>
                </a:solidFill>
                <a:latin typeface="Courier"/>
              </a:rPr>
              <a:t>20</a:t>
            </a:r>
            <a:r>
              <a:rPr>
                <a:latin typeface="Courier"/>
              </a:rPr>
              <a:t>)</a:t>
            </a:r>
          </a:p>
          <a:p>
            <a:pPr lvl="0" indent="0">
              <a:buNone/>
            </a:pPr>
            <a:r>
              <a:rPr>
                <a:latin typeface="Courier"/>
              </a:rPr>
              <a:t>##  [1] 788 788 793 813 830 885 880 706 902 836 737 792 751 887 813 871 876 709 888
## [20] 868</a:t>
            </a:r>
          </a:p>
          <a:p>
            <a:pPr lvl="0" marL="0" indent="0">
              <a:buNone/>
            </a:pPr>
            <a:r>
              <a:rPr/>
              <a:t>13. How many data points are from days where the maximum ground temperature got above 0 degrees Celsius? What percent/proportion do these represent? Use:</a:t>
            </a:r>
          </a:p>
          <a:p>
            <a:pPr lvl="1"/>
            <a:r>
              <a:rPr>
                <a:latin typeface="Courier"/>
              </a:rPr>
              <a:t>filter()</a:t>
            </a:r>
            <a:r>
              <a:rPr/>
              <a:t> and </a:t>
            </a:r>
            <a:r>
              <a:rPr>
                <a:latin typeface="Courier"/>
              </a:rPr>
              <a:t>nrow()</a:t>
            </a:r>
          </a:p>
          <a:p>
            <a:pPr lvl="1"/>
            <a:r>
              <a:rPr>
                <a:latin typeface="Courier"/>
              </a:rPr>
              <a:t>group_by()</a:t>
            </a:r>
            <a:r>
              <a:rPr/>
              <a:t> and </a:t>
            </a:r>
            <a:r>
              <a:rPr>
                <a:latin typeface="Courier"/>
              </a:rPr>
              <a:t>summarize()</a:t>
            </a:r>
            <a:r>
              <a:rPr/>
              <a:t> or</a:t>
            </a:r>
          </a:p>
          <a:p>
            <a:pPr lvl="1"/>
            <a:r>
              <a:rPr>
                <a:latin typeface="Courier"/>
              </a:rPr>
              <a:t>sum()</a:t>
            </a:r>
          </a:p>
          <a:p>
            <a:pPr lvl="0" indent="0">
              <a:buNone/>
            </a:pPr>
            <a:r>
              <a:rPr i="1">
                <a:solidFill>
                  <a:srgbClr val="60A0B0"/>
                </a:solidFill>
                <a:latin typeface="Courier"/>
              </a:rPr>
              <a:t># How many data points are from days where the maximum ground temperature got above or equal to 0 degrees Celsius?</a:t>
            </a:r>
            <a:br/>
            <a:r>
              <a:rPr>
                <a:solidFill>
                  <a:srgbClr val="06287E"/>
                </a:solidFill>
                <a:latin typeface="Courier"/>
              </a:rPr>
              <a:t>nrow</a:t>
            </a:r>
            <a:r>
              <a:rPr>
                <a:latin typeface="Courier"/>
              </a:rPr>
              <a:t>(mars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latin typeface="Courier"/>
              </a:rPr>
              <a:t>))</a:t>
            </a:r>
          </a:p>
          <a:p>
            <a:pPr lvl="0" indent="0">
              <a:buNone/>
            </a:pPr>
            <a:r>
              <a:rPr>
                <a:latin typeface="Courier"/>
              </a:rPr>
              <a:t>## [1] 218</a:t>
            </a:r>
          </a:p>
          <a:p>
            <a:pPr lvl="0" indent="0">
              <a:buNone/>
            </a:pPr>
            <a:r>
              <a:rPr i="1">
                <a:solidFill>
                  <a:srgbClr val="60A0B0"/>
                </a:solidFill>
                <a:latin typeface="Courier"/>
              </a:rPr>
              <a:t># OR</a:t>
            </a:r>
            <a:b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group_by</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summarize</a:t>
            </a:r>
            <a:r>
              <a:rPr>
                <a:latin typeface="Courier"/>
              </a:rPr>
              <a:t>(</a:t>
            </a:r>
            <a:r>
              <a:rPr>
                <a:solidFill>
                  <a:srgbClr val="7D9029"/>
                </a:solidFill>
                <a:latin typeface="Courier"/>
              </a:rPr>
              <a:t>total =</a:t>
            </a:r>
            <a:r>
              <a:rPr>
                <a:latin typeface="Courier"/>
              </a:rPr>
              <a:t> </a:t>
            </a:r>
            <a:r>
              <a:rPr>
                <a:solidFill>
                  <a:srgbClr val="06287E"/>
                </a:solidFill>
                <a:latin typeface="Courier"/>
              </a:rPr>
              <a:t>n</a:t>
            </a:r>
            <a:r>
              <a:rPr>
                <a:latin typeface="Courier"/>
              </a:rPr>
              <a:t>())</a:t>
            </a:r>
          </a:p>
          <a:p>
            <a:pPr lvl="0" indent="0">
              <a:buNone/>
            </a:pPr>
            <a:r>
              <a:rPr>
                <a:latin typeface="Courier"/>
              </a:rPr>
              <a:t>## # A tibble: 2 × 2
##   `max_ground_temp &gt;= 0` total
##   &lt;lgl&gt;                  &lt;int&gt;
## 1 FALSE                   2175
## 2 TRUE                     218</a:t>
            </a:r>
          </a:p>
          <a:p>
            <a:pPr lvl="0" indent="0">
              <a:buNone/>
            </a:pPr>
            <a:r>
              <a:rPr i="1">
                <a:solidFill>
                  <a:srgbClr val="60A0B0"/>
                </a:solidFill>
                <a:latin typeface="Courier"/>
              </a:rPr>
              <a:t># OR</a:t>
            </a:r>
            <a:br/>
            <a:r>
              <a:rPr>
                <a:solidFill>
                  <a:srgbClr val="06287E"/>
                </a:solidFill>
                <a:latin typeface="Courier"/>
              </a:rPr>
              <a:t>sum</a:t>
            </a:r>
            <a:r>
              <a:rPr>
                <a:latin typeface="Courier"/>
              </a:rPr>
              <a:t>(mars</a:t>
            </a:r>
            <a:r>
              <a:rPr>
                <a:solidFill>
                  <a:srgbClr val="4070A0"/>
                </a:solidFill>
                <a:latin typeface="Courier"/>
              </a:rPr>
              <a:t>$</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latin typeface="Courier"/>
              </a:rPr>
              <a:t>)</a:t>
            </a:r>
          </a:p>
          <a:p>
            <a:pPr lvl="0" indent="0">
              <a:buNone/>
            </a:pPr>
            <a:r>
              <a:rPr>
                <a:latin typeface="Courier"/>
              </a:rPr>
              <a:t>## [1] 218</a:t>
            </a:r>
          </a:p>
          <a:p>
            <a:pPr lvl="0" indent="0">
              <a:buNone/>
            </a:pPr>
            <a:r>
              <a:rPr i="1">
                <a:solidFill>
                  <a:srgbClr val="60A0B0"/>
                </a:solidFill>
                <a:latin typeface="Courier"/>
              </a:rPr>
              <a:t># OR</a:t>
            </a:r>
            <a:br/>
            <a:r>
              <a:rPr>
                <a:solidFill>
                  <a:srgbClr val="06287E"/>
                </a:solidFill>
                <a:latin typeface="Courier"/>
              </a:rPr>
              <a:t>table</a:t>
            </a:r>
            <a:r>
              <a:rPr>
                <a:latin typeface="Courier"/>
              </a:rPr>
              <a:t>(mars</a:t>
            </a:r>
            <a:r>
              <a:rPr>
                <a:solidFill>
                  <a:srgbClr val="4070A0"/>
                </a:solidFill>
                <a:latin typeface="Courier"/>
              </a:rPr>
              <a:t>$</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latin typeface="Courier"/>
              </a:rPr>
              <a:t>)</a:t>
            </a:r>
          </a:p>
          <a:p>
            <a:pPr lvl="0" indent="0">
              <a:buNone/>
            </a:pPr>
            <a:r>
              <a:rPr>
                <a:latin typeface="Courier"/>
              </a:rPr>
              <a:t>## 
## FALSE  TRUE 
##  2175   218</a:t>
            </a:r>
          </a:p>
          <a:p>
            <a:pPr lvl="0" indent="0">
              <a:buNone/>
            </a:pPr>
            <a:r>
              <a:rPr i="1">
                <a:solidFill>
                  <a:srgbClr val="60A0B0"/>
                </a:solidFill>
                <a:latin typeface="Courier"/>
              </a:rPr>
              <a:t># what percent/proportion do these represent?</a:t>
            </a:r>
            <a:br/>
            <a:r>
              <a:rPr>
                <a:solidFill>
                  <a:srgbClr val="06287E"/>
                </a:solidFill>
                <a:latin typeface="Courier"/>
              </a:rPr>
              <a:t>nrow</a:t>
            </a:r>
            <a:r>
              <a:rPr>
                <a:latin typeface="Courier"/>
              </a:rPr>
              <a:t>(mars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a:t>
            </a:r>
            <a:r>
              <a:rPr>
                <a:latin typeface="Courier"/>
              </a:rPr>
              <a:t> </a:t>
            </a:r>
            <a:r>
              <a:rPr>
                <a:solidFill>
                  <a:srgbClr val="06287E"/>
                </a:solidFill>
                <a:latin typeface="Courier"/>
              </a:rPr>
              <a:t>nrow</a:t>
            </a:r>
            <a:r>
              <a:rPr>
                <a:latin typeface="Courier"/>
              </a:rPr>
              <a:t>(mars)</a:t>
            </a:r>
          </a:p>
          <a:p>
            <a:pPr lvl="0" indent="0">
              <a:buNone/>
            </a:pPr>
            <a:r>
              <a:rPr>
                <a:latin typeface="Courier"/>
              </a:rPr>
              <a:t>## [1] 0.09109904</a:t>
            </a:r>
          </a:p>
          <a:p>
            <a:pPr lvl="0" indent="0">
              <a:buNone/>
            </a:pPr>
            <a:r>
              <a:rPr i="1">
                <a:solidFill>
                  <a:srgbClr val="60A0B0"/>
                </a:solidFill>
                <a:latin typeface="Courier"/>
              </a:rPr>
              <a:t># OR</a:t>
            </a:r>
            <a:br/>
            <a:r>
              <a:rPr>
                <a:solidFill>
                  <a:srgbClr val="06287E"/>
                </a:solidFill>
                <a:latin typeface="Courier"/>
              </a:rPr>
              <a:t>mean</a:t>
            </a:r>
            <a:r>
              <a:rPr>
                <a:latin typeface="Courier"/>
              </a:rPr>
              <a:t>(mars</a:t>
            </a:r>
            <a:r>
              <a:rPr>
                <a:solidFill>
                  <a:srgbClr val="4070A0"/>
                </a:solidFill>
                <a:latin typeface="Courier"/>
              </a:rPr>
              <a:t>$</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7D9029"/>
                </a:solidFill>
                <a:latin typeface="Courier"/>
              </a:rPr>
              <a:t>na.rm=</a:t>
            </a:r>
            <a:r>
              <a:rPr>
                <a:latin typeface="Courier"/>
              </a:rPr>
              <a:t>T)</a:t>
            </a:r>
          </a:p>
          <a:p>
            <a:pPr lvl="0" indent="0">
              <a:buNone/>
            </a:pPr>
            <a:r>
              <a:rPr>
                <a:latin typeface="Courier"/>
              </a:rPr>
              <a:t>## [1] 0.09109904</a:t>
            </a:r>
          </a:p>
          <a:p>
            <a:pPr lvl="0" indent="0">
              <a:buNone/>
            </a:pPr>
            <a:r>
              <a:rPr i="1">
                <a:solidFill>
                  <a:srgbClr val="60A0B0"/>
                </a:solidFill>
                <a:latin typeface="Courier"/>
              </a:rPr>
              <a:t># There are 218 data points from days where the ground temperature got above freezing. The percent of data points is 9.1%. </a:t>
            </a:r>
          </a:p>
          <a:p>
            <a:pPr lvl="0" marL="0" indent="0">
              <a:buNone/>
            </a:pPr>
            <a:r>
              <a:rPr/>
              <a:t>14. How many different UV radiation levels (“UV_Radiation”) are there?</a:t>
            </a:r>
          </a:p>
          <a:p>
            <a:pPr lvl="0" marL="0" indent="0">
              <a:buNone/>
            </a:pPr>
            <a:r>
              <a:rPr b="1"/>
              <a:t>Hint:</a:t>
            </a:r>
            <a:r>
              <a:rPr/>
              <a:t> use </a:t>
            </a:r>
            <a:r>
              <a:rPr>
                <a:latin typeface="Courier"/>
              </a:rPr>
              <a:t>length()</a:t>
            </a:r>
            <a:r>
              <a:rPr/>
              <a:t> with </a:t>
            </a:r>
            <a:r>
              <a:rPr>
                <a:latin typeface="Courier"/>
              </a:rPr>
              <a:t>unique()</a:t>
            </a:r>
            <a:r>
              <a:rPr/>
              <a:t> or </a:t>
            </a:r>
            <a:r>
              <a:rPr>
                <a:latin typeface="Courier"/>
              </a:rPr>
              <a:t>table()</a:t>
            </a:r>
            <a:r>
              <a:rPr/>
              <a:t>. Remember to </a:t>
            </a:r>
            <a:r>
              <a:rPr>
                <a:latin typeface="Courier"/>
              </a:rPr>
              <a:t>pull()</a:t>
            </a:r>
            <a:r>
              <a:rPr/>
              <a:t> the right column.</a:t>
            </a:r>
          </a:p>
          <a:p>
            <a:pPr lvl="0" indent="0">
              <a:buNone/>
            </a:pP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pull</a:t>
            </a:r>
            <a:r>
              <a:rPr>
                <a:latin typeface="Courier"/>
              </a:rPr>
              <a:t>(UV_Radiation)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unique</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length</a:t>
            </a:r>
            <a:r>
              <a:rPr>
                <a:latin typeface="Courier"/>
              </a:rPr>
              <a:t>()</a:t>
            </a:r>
          </a:p>
          <a:p>
            <a:pPr lvl="0" indent="0">
              <a:buNone/>
            </a:pPr>
            <a:r>
              <a:rPr>
                <a:latin typeface="Courier"/>
              </a:rPr>
              <a:t>## [1] 4</a:t>
            </a:r>
          </a:p>
          <a:p>
            <a:pPr lvl="0" indent="0">
              <a:buNone/>
            </a:pPr>
            <a:r>
              <a:rPr i="1">
                <a:solidFill>
                  <a:srgbClr val="60A0B0"/>
                </a:solidFill>
                <a:latin typeface="Courier"/>
              </a:rPr>
              <a:t># OR</a:t>
            </a:r>
            <a:br/>
            <a:r>
              <a:rPr>
                <a:solidFill>
                  <a:srgbClr val="06287E"/>
                </a:solidFill>
                <a:latin typeface="Courier"/>
              </a:rPr>
              <a:t>length</a:t>
            </a:r>
            <a:r>
              <a:rPr>
                <a:latin typeface="Courier"/>
              </a:rPr>
              <a:t>(</a:t>
            </a:r>
            <a:r>
              <a:rPr>
                <a:solidFill>
                  <a:srgbClr val="06287E"/>
                </a:solidFill>
                <a:latin typeface="Courier"/>
              </a:rPr>
              <a:t>unique</a:t>
            </a:r>
            <a:r>
              <a:rPr>
                <a:latin typeface="Courier"/>
              </a:rPr>
              <a:t>(mars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pull</a:t>
            </a:r>
            <a:r>
              <a:rPr>
                <a:latin typeface="Courier"/>
              </a:rPr>
              <a:t>(UV_Radiation)))</a:t>
            </a:r>
          </a:p>
          <a:p>
            <a:pPr lvl="0" indent="0">
              <a:buNone/>
            </a:pPr>
            <a:r>
              <a:rPr>
                <a:latin typeface="Courier"/>
              </a:rPr>
              <a:t>## [1] 4</a:t>
            </a:r>
          </a:p>
          <a:p>
            <a:pPr lvl="0" indent="0">
              <a:buNone/>
            </a:pPr>
            <a:r>
              <a:rPr i="1">
                <a:solidFill>
                  <a:srgbClr val="60A0B0"/>
                </a:solidFill>
                <a:latin typeface="Courier"/>
              </a:rPr>
              <a:t># OR</a:t>
            </a:r>
            <a:br/>
            <a:r>
              <a:rPr>
                <a:solidFill>
                  <a:srgbClr val="06287E"/>
                </a:solidFill>
                <a:latin typeface="Courier"/>
              </a:rPr>
              <a:t>length</a:t>
            </a:r>
            <a:r>
              <a:rPr>
                <a:latin typeface="Courier"/>
              </a:rPr>
              <a:t>(</a:t>
            </a:r>
            <a:r>
              <a:rPr>
                <a:solidFill>
                  <a:srgbClr val="06287E"/>
                </a:solidFill>
                <a:latin typeface="Courier"/>
              </a:rPr>
              <a:t>unique</a:t>
            </a:r>
            <a:r>
              <a:rPr>
                <a:latin typeface="Courier"/>
              </a:rPr>
              <a:t>(mars</a:t>
            </a:r>
            <a:r>
              <a:rPr>
                <a:solidFill>
                  <a:srgbClr val="4070A0"/>
                </a:solidFill>
                <a:latin typeface="Courier"/>
              </a:rPr>
              <a:t>$</a:t>
            </a:r>
            <a:r>
              <a:rPr>
                <a:latin typeface="Courier"/>
              </a:rPr>
              <a:t>UV_Radiation))</a:t>
            </a:r>
          </a:p>
          <a:p>
            <a:pPr lvl="0" indent="0">
              <a:buNone/>
            </a:pPr>
            <a:r>
              <a:rPr>
                <a:latin typeface="Courier"/>
              </a:rPr>
              <a:t>## [1] 4</a:t>
            </a:r>
          </a:p>
          <a:p>
            <a:pPr lvl="0" indent="0">
              <a:buNone/>
            </a:pPr>
            <a:r>
              <a:rPr i="1">
                <a:solidFill>
                  <a:srgbClr val="60A0B0"/>
                </a:solidFill>
                <a:latin typeface="Courier"/>
              </a:rPr>
              <a:t># OR</a:t>
            </a:r>
            <a:br/>
            <a:r>
              <a:rPr>
                <a:solidFill>
                  <a:srgbClr val="06287E"/>
                </a:solidFill>
                <a:latin typeface="Courier"/>
              </a:rPr>
              <a:t>table</a:t>
            </a:r>
            <a:r>
              <a:rPr>
                <a:latin typeface="Courier"/>
              </a:rPr>
              <a:t>(</a:t>
            </a:r>
            <a:r>
              <a:rPr>
                <a:solidFill>
                  <a:srgbClr val="06287E"/>
                </a:solidFill>
                <a:latin typeface="Courier"/>
              </a:rPr>
              <a:t>unique</a:t>
            </a:r>
            <a:r>
              <a:rPr>
                <a:latin typeface="Courier"/>
              </a:rPr>
              <a:t>(mars</a:t>
            </a:r>
            <a:r>
              <a:rPr>
                <a:solidFill>
                  <a:srgbClr val="4070A0"/>
                </a:solidFill>
                <a:latin typeface="Courier"/>
              </a:rPr>
              <a:t>$</a:t>
            </a:r>
            <a:r>
              <a:rPr>
                <a:latin typeface="Courier"/>
              </a:rPr>
              <a:t>UV_Radiation))</a:t>
            </a:r>
          </a:p>
          <a:p>
            <a:pPr lvl="0" indent="0">
              <a:buNone/>
            </a:pPr>
            <a:r>
              <a:rPr>
                <a:latin typeface="Courier"/>
              </a:rPr>
              <a:t>## 
##      high       low  moderate very_high 
##         1         1         1         1</a:t>
            </a:r>
          </a:p>
          <a:p>
            <a:pPr lvl="0" indent="0">
              <a:buNone/>
            </a:pPr>
            <a:r>
              <a:rPr i="1">
                <a:solidFill>
                  <a:srgbClr val="60A0B0"/>
                </a:solidFill>
                <a:latin typeface="Courier"/>
              </a:rPr>
              <a:t># 4 unique levels.</a:t>
            </a:r>
          </a:p>
          <a:p>
            <a:pPr lvl="0" marL="0" indent="0">
              <a:buNone/>
            </a:pPr>
            <a:r>
              <a:rPr/>
              <a:t>15. How many different weather conditions (“weather”) are reported?</a:t>
            </a:r>
          </a:p>
          <a:p>
            <a:pPr lvl="0" indent="0">
              <a:buNone/>
            </a:pP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pull</a:t>
            </a:r>
            <a:r>
              <a:rPr>
                <a:latin typeface="Courier"/>
              </a:rPr>
              <a:t>(weather)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unique</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length</a:t>
            </a:r>
            <a:r>
              <a:rPr>
                <a:latin typeface="Courier"/>
              </a:rPr>
              <a:t>()</a:t>
            </a:r>
          </a:p>
          <a:p>
            <a:pPr lvl="0" indent="0">
              <a:buNone/>
            </a:pPr>
            <a:r>
              <a:rPr>
                <a:latin typeface="Courier"/>
              </a:rPr>
              <a:t>## [1] 1</a:t>
            </a:r>
          </a:p>
          <a:p>
            <a:pPr lvl="0" indent="0">
              <a:buNone/>
            </a:pPr>
            <a:r>
              <a:rPr i="1">
                <a:solidFill>
                  <a:srgbClr val="60A0B0"/>
                </a:solidFill>
                <a:latin typeface="Courier"/>
              </a:rPr>
              <a:t># 1 weather condition.</a:t>
            </a:r>
          </a:p>
          <a:p>
            <a:pPr lvl="0" marL="0" indent="0">
              <a:buNone/>
            </a:pPr>
            <a:r>
              <a:rPr/>
              <a:t>16. Which UV radiation level had the highest maximum air temperature, and what was it?</a:t>
            </a:r>
          </a:p>
          <a:p>
            <a:pPr lvl="0" marL="0" indent="0">
              <a:buNone/>
            </a:pPr>
            <a:r>
              <a:rPr b="1"/>
              <a:t>Hint:</a:t>
            </a:r>
            <a:r>
              <a:rPr/>
              <a:t> Use </a:t>
            </a:r>
            <a:r>
              <a:rPr>
                <a:latin typeface="Courier"/>
              </a:rPr>
              <a:t>group_by()</a:t>
            </a:r>
            <a:r>
              <a:rPr/>
              <a:t> with </a:t>
            </a:r>
            <a:r>
              <a:rPr>
                <a:latin typeface="Courier"/>
              </a:rPr>
              <a:t>summarize()</a:t>
            </a:r>
            <a:r>
              <a:rPr/>
              <a:t>.</a:t>
            </a:r>
          </a:p>
          <a:p>
            <a:pPr lvl="0" indent="0">
              <a:buNone/>
            </a:pP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group_by</a:t>
            </a:r>
            <a:r>
              <a:rPr>
                <a:latin typeface="Courier"/>
              </a:rPr>
              <a:t>(UV_Radiation)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summarize</a:t>
            </a:r>
            <a:r>
              <a:rPr>
                <a:latin typeface="Courier"/>
              </a:rPr>
              <a:t>(</a:t>
            </a:r>
            <a:r>
              <a:rPr>
                <a:solidFill>
                  <a:srgbClr val="7D9029"/>
                </a:solidFill>
                <a:latin typeface="Courier"/>
              </a:rPr>
              <a:t>mean =</a:t>
            </a:r>
            <a:r>
              <a:rPr>
                <a:latin typeface="Courier"/>
              </a:rPr>
              <a:t> </a:t>
            </a:r>
            <a:r>
              <a:rPr>
                <a:solidFill>
                  <a:srgbClr val="06287E"/>
                </a:solidFill>
                <a:latin typeface="Courier"/>
              </a:rPr>
              <a:t>mean</a:t>
            </a:r>
            <a:r>
              <a:rPr>
                <a:latin typeface="Courier"/>
              </a:rPr>
              <a:t>(max_air_temp))</a:t>
            </a:r>
          </a:p>
          <a:p>
            <a:pPr lvl="0" indent="0">
              <a:buNone/>
            </a:pPr>
            <a:r>
              <a:rPr>
                <a:latin typeface="Courier"/>
              </a:rPr>
              <a:t>## # A tibble: 4 × 2
##   UV_Radiation   mean
##   &lt;chr&gt;         &lt;dbl&gt;
## 1 high           5.66
## 2 low          -11.3 
## 3 moderate      -1.38
## 4 very_high     12.5</a:t>
            </a:r>
          </a:p>
          <a:p>
            <a:pPr lvl="0" marL="0" indent="0">
              <a:buNone/>
            </a:pPr>
            <a:r>
              <a:rPr/>
              <a:t>17. Extend on the code you wrote for question 16. Use the </a:t>
            </a:r>
            <a:r>
              <a:rPr>
                <a:latin typeface="Courier"/>
              </a:rPr>
              <a:t>arrange()</a:t>
            </a:r>
            <a:r>
              <a:rPr/>
              <a:t> function to sort the output by maximum air temperature.</a:t>
            </a:r>
          </a:p>
          <a:p>
            <a:pPr lvl="0" indent="0">
              <a:buNone/>
            </a:pP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group_by</a:t>
            </a:r>
            <a:r>
              <a:rPr>
                <a:latin typeface="Courier"/>
              </a:rPr>
              <a:t>(UV_Radiation)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summarize</a:t>
            </a:r>
            <a:r>
              <a:rPr>
                <a:latin typeface="Courier"/>
              </a:rPr>
              <a:t>(</a:t>
            </a:r>
            <a:r>
              <a:rPr>
                <a:solidFill>
                  <a:srgbClr val="7D9029"/>
                </a:solidFill>
                <a:latin typeface="Courier"/>
              </a:rPr>
              <a:t>mean =</a:t>
            </a:r>
            <a:r>
              <a:rPr>
                <a:latin typeface="Courier"/>
              </a:rPr>
              <a:t> </a:t>
            </a:r>
            <a:r>
              <a:rPr>
                <a:solidFill>
                  <a:srgbClr val="06287E"/>
                </a:solidFill>
                <a:latin typeface="Courier"/>
              </a:rPr>
              <a:t>mean</a:t>
            </a:r>
            <a:r>
              <a:rPr>
                <a:latin typeface="Courier"/>
              </a:rPr>
              <a:t>(max_air_temp))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arrange</a:t>
            </a:r>
            <a:r>
              <a:rPr>
                <a:latin typeface="Courier"/>
              </a:rPr>
              <a:t>(</a:t>
            </a:r>
            <a:r>
              <a:rPr>
                <a:solidFill>
                  <a:srgbClr val="06287E"/>
                </a:solidFill>
                <a:latin typeface="Courier"/>
              </a:rPr>
              <a:t>desc</a:t>
            </a:r>
            <a:r>
              <a:rPr>
                <a:latin typeface="Courier"/>
              </a:rPr>
              <a:t>(mean))</a:t>
            </a:r>
          </a:p>
          <a:p>
            <a:pPr lvl="0" indent="0">
              <a:buNone/>
            </a:pPr>
            <a:r>
              <a:rPr>
                <a:latin typeface="Courier"/>
              </a:rPr>
              <a:t>## # A tibble: 4 × 2
##   UV_Radiation   mean
##   &lt;chr&gt;         &lt;dbl&gt;
## 1 very_high     12.5 
## 2 high           5.66
## 3 moderate      -1.38
## 4 low          -11.3</a:t>
            </a:r>
          </a:p>
          <a:p>
            <a:pPr lvl="0" marL="0" indent="0">
              <a:buNone/>
            </a:pPr>
            <a:r>
              <a:rPr/>
              <a:t>18. How many measurements were taken on days when the UV radiation was “low” and the maximum air temperature was above freezing? Use:</a:t>
            </a:r>
          </a:p>
          <a:p>
            <a:pPr lvl="1"/>
            <a:r>
              <a:rPr>
                <a:latin typeface="Courier"/>
              </a:rPr>
              <a:t>filter()</a:t>
            </a:r>
            <a:r>
              <a:rPr/>
              <a:t> and </a:t>
            </a:r>
            <a:r>
              <a:rPr>
                <a:latin typeface="Courier"/>
              </a:rPr>
              <a:t>count()</a:t>
            </a:r>
          </a:p>
          <a:p>
            <a:pPr lvl="1"/>
            <a:r>
              <a:rPr>
                <a:latin typeface="Courier"/>
              </a:rPr>
              <a:t>filter()</a:t>
            </a:r>
            <a:r>
              <a:rPr/>
              <a:t> and </a:t>
            </a:r>
            <a:r>
              <a:rPr>
                <a:latin typeface="Courier"/>
              </a:rPr>
              <a:t>tally()</a:t>
            </a:r>
            <a:r>
              <a:rPr/>
              <a:t> or</a:t>
            </a:r>
          </a:p>
          <a:p>
            <a:pPr lvl="1"/>
            <a:r>
              <a:rPr>
                <a:latin typeface="Courier"/>
              </a:rPr>
              <a:t>sum()</a:t>
            </a:r>
          </a:p>
          <a:p>
            <a:pPr lvl="0" indent="0">
              <a:buNone/>
            </a:pP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(UV_Radiation </a:t>
            </a:r>
            <a:r>
              <a:rPr>
                <a:solidFill>
                  <a:srgbClr val="4070A0"/>
                </a:solidFill>
                <a:latin typeface="Courier"/>
              </a:rPr>
              <a:t>==</a:t>
            </a:r>
            <a:r>
              <a:rPr>
                <a:latin typeface="Courier"/>
              </a:rPr>
              <a:t> </a:t>
            </a:r>
            <a:r>
              <a:rPr>
                <a:solidFill>
                  <a:srgbClr val="4070A0"/>
                </a:solidFill>
                <a:latin typeface="Courier"/>
              </a:rPr>
              <a:t>"low"</a:t>
            </a:r>
            <a:r>
              <a:rPr>
                <a:latin typeface="Courier"/>
              </a:rPr>
              <a:t> </a:t>
            </a:r>
            <a:r>
              <a:rPr>
                <a:solidFill>
                  <a:srgbClr val="4070A0"/>
                </a:solidFill>
                <a:latin typeface="Courier"/>
              </a:rPr>
              <a:t>&amp;</a:t>
            </a:r>
            <a:r>
              <a:rPr>
                <a:latin typeface="Courier"/>
              </a:rPr>
              <a:t> max_air_temp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tally</a:t>
            </a:r>
            <a:r>
              <a:rPr>
                <a:latin typeface="Courier"/>
              </a:rPr>
              <a:t>()</a:t>
            </a:r>
          </a:p>
          <a:p>
            <a:pPr lvl="0" indent="0">
              <a:buNone/>
            </a:pPr>
            <a:r>
              <a:rPr>
                <a:latin typeface="Courier"/>
              </a:rPr>
              <a:t>## # A tibble: 1 × 1
##       n
##   &lt;int&gt;
## 1     3</a:t>
            </a:r>
          </a:p>
          <a:p>
            <a:pPr lvl="0" indent="0">
              <a:buNone/>
            </a:pPr>
            <a:r>
              <a:rPr i="1">
                <a:solidFill>
                  <a:srgbClr val="60A0B0"/>
                </a:solidFill>
                <a:latin typeface="Courier"/>
              </a:rPr>
              <a:t># OR</a:t>
            </a:r>
            <a:b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(UV_Radiation </a:t>
            </a:r>
            <a:r>
              <a:rPr>
                <a:solidFill>
                  <a:srgbClr val="4070A0"/>
                </a:solidFill>
                <a:latin typeface="Courier"/>
              </a:rPr>
              <a:t>==</a:t>
            </a:r>
            <a:r>
              <a:rPr>
                <a:latin typeface="Courier"/>
              </a:rPr>
              <a:t> </a:t>
            </a:r>
            <a:r>
              <a:rPr>
                <a:solidFill>
                  <a:srgbClr val="4070A0"/>
                </a:solidFill>
                <a:latin typeface="Courier"/>
              </a:rPr>
              <a:t>"low"</a:t>
            </a:r>
            <a:r>
              <a:rPr>
                <a:latin typeface="Courier"/>
              </a:rPr>
              <a:t> </a:t>
            </a:r>
            <a:r>
              <a:rPr>
                <a:solidFill>
                  <a:srgbClr val="4070A0"/>
                </a:solidFill>
                <a:latin typeface="Courier"/>
              </a:rPr>
              <a:t>&amp;</a:t>
            </a:r>
            <a:r>
              <a:rPr>
                <a:latin typeface="Courier"/>
              </a:rPr>
              <a:t> max_air_temp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count</a:t>
            </a:r>
            <a:r>
              <a:rPr>
                <a:latin typeface="Courier"/>
              </a:rPr>
              <a:t>()</a:t>
            </a:r>
          </a:p>
          <a:p>
            <a:pPr lvl="0" indent="0">
              <a:buNone/>
            </a:pPr>
            <a:r>
              <a:rPr>
                <a:latin typeface="Courier"/>
              </a:rPr>
              <a:t>## # A tibble: 1 × 1
##       n
##   &lt;int&gt;
## 1     3</a:t>
            </a:r>
          </a:p>
          <a:p>
            <a:pPr lvl="0" indent="0">
              <a:buNone/>
            </a:pPr>
            <a:r>
              <a:rPr i="1">
                <a:solidFill>
                  <a:srgbClr val="60A0B0"/>
                </a:solidFill>
                <a:latin typeface="Courier"/>
              </a:rPr>
              <a:t># OR</a:t>
            </a:r>
            <a:br/>
            <a:r>
              <a:rPr>
                <a:solidFill>
                  <a:srgbClr val="06287E"/>
                </a:solidFill>
                <a:latin typeface="Courier"/>
              </a:rPr>
              <a:t>sum</a:t>
            </a:r>
            <a:r>
              <a:rPr>
                <a:latin typeface="Courier"/>
              </a:rPr>
              <a:t>(mars</a:t>
            </a:r>
            <a:r>
              <a:rPr>
                <a:solidFill>
                  <a:srgbClr val="4070A0"/>
                </a:solidFill>
                <a:latin typeface="Courier"/>
              </a:rPr>
              <a:t>$</a:t>
            </a:r>
            <a:r>
              <a:rPr>
                <a:latin typeface="Courier"/>
              </a:rPr>
              <a:t>UV_Radiation </a:t>
            </a:r>
            <a:r>
              <a:rPr>
                <a:solidFill>
                  <a:srgbClr val="4070A0"/>
                </a:solidFill>
                <a:latin typeface="Courier"/>
              </a:rPr>
              <a:t>==</a:t>
            </a:r>
            <a:r>
              <a:rPr>
                <a:latin typeface="Courier"/>
              </a:rPr>
              <a:t> </a:t>
            </a:r>
            <a:r>
              <a:rPr>
                <a:solidFill>
                  <a:srgbClr val="4070A0"/>
                </a:solidFill>
                <a:latin typeface="Courier"/>
              </a:rPr>
              <a:t>"low"</a:t>
            </a:r>
            <a:r>
              <a:rPr>
                <a:latin typeface="Courier"/>
              </a:rPr>
              <a:t> </a:t>
            </a:r>
            <a:r>
              <a:rPr>
                <a:solidFill>
                  <a:srgbClr val="4070A0"/>
                </a:solidFill>
                <a:latin typeface="Courier"/>
              </a:rPr>
              <a:t>&amp;</a:t>
            </a:r>
            <a:r>
              <a:rPr>
                <a:latin typeface="Courier"/>
              </a:rPr>
              <a:t> mars</a:t>
            </a:r>
            <a:r>
              <a:rPr>
                <a:solidFill>
                  <a:srgbClr val="4070A0"/>
                </a:solidFill>
                <a:latin typeface="Courier"/>
              </a:rPr>
              <a:t>$</a:t>
            </a:r>
            <a:r>
              <a:rPr>
                <a:latin typeface="Courier"/>
              </a:rPr>
              <a:t>max_air_temp </a:t>
            </a:r>
            <a:r>
              <a:rPr>
                <a:solidFill>
                  <a:srgbClr val="4070A0"/>
                </a:solidFill>
                <a:latin typeface="Courier"/>
              </a:rPr>
              <a:t>&gt;</a:t>
            </a:r>
            <a:r>
              <a:rPr>
                <a:latin typeface="Courier"/>
              </a:rPr>
              <a:t> </a:t>
            </a:r>
            <a:r>
              <a:rPr>
                <a:solidFill>
                  <a:srgbClr val="40A070"/>
                </a:solidFill>
                <a:latin typeface="Courier"/>
              </a:rPr>
              <a:t>0</a:t>
            </a:r>
            <a:r>
              <a:rPr>
                <a:latin typeface="Courier"/>
              </a:rPr>
              <a:t>)</a:t>
            </a:r>
          </a:p>
          <a:p>
            <a:pPr lvl="0" indent="0">
              <a:buNone/>
            </a:pPr>
            <a:r>
              <a:rPr>
                <a:latin typeface="Courier"/>
              </a:rPr>
              <a:t>## [1] 3</a:t>
            </a:r>
          </a:p>
          <a:p>
            <a:pPr lvl="0" indent="0">
              <a:buNone/>
            </a:pPr>
            <a:r>
              <a:rPr i="1">
                <a:solidFill>
                  <a:srgbClr val="60A0B0"/>
                </a:solidFill>
                <a:latin typeface="Courier"/>
              </a:rPr>
              <a:t># A total of 3 days.</a:t>
            </a:r>
          </a:p>
          <a:p>
            <a:pPr lvl="0" marL="0" indent="0">
              <a:buNone/>
            </a:pPr>
            <a:r>
              <a:rPr/>
              <a:t>19. How many days was the UV radiation was “high” or “very high”? use:</a:t>
            </a:r>
          </a:p>
          <a:p>
            <a:pPr lvl="1"/>
            <a:r>
              <a:rPr>
                <a:latin typeface="Courier"/>
              </a:rPr>
              <a:t>filter()</a:t>
            </a:r>
            <a:r>
              <a:rPr/>
              <a:t> and </a:t>
            </a:r>
            <a:r>
              <a:rPr>
                <a:latin typeface="Courier"/>
              </a:rPr>
              <a:t>count()</a:t>
            </a:r>
          </a:p>
          <a:p>
            <a:pPr lvl="1"/>
            <a:r>
              <a:rPr>
                <a:latin typeface="Courier"/>
              </a:rPr>
              <a:t>filter()</a:t>
            </a:r>
            <a:r>
              <a:rPr/>
              <a:t> and </a:t>
            </a:r>
            <a:r>
              <a:rPr>
                <a:latin typeface="Courier"/>
              </a:rPr>
              <a:t>tally()</a:t>
            </a:r>
            <a:r>
              <a:rPr/>
              <a:t> or</a:t>
            </a:r>
          </a:p>
          <a:p>
            <a:pPr lvl="1"/>
            <a:r>
              <a:rPr>
                <a:latin typeface="Courier"/>
              </a:rPr>
              <a:t>sum()</a:t>
            </a:r>
          </a:p>
          <a:p>
            <a:pPr lvl="0" indent="0">
              <a:buNone/>
            </a:pP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(UV_Radiation </a:t>
            </a:r>
            <a:r>
              <a:rPr>
                <a:solidFill>
                  <a:srgbClr val="4070A0"/>
                </a:solidFill>
                <a:latin typeface="Courier"/>
              </a:rPr>
              <a:t>==</a:t>
            </a:r>
            <a:r>
              <a:rPr>
                <a:latin typeface="Courier"/>
              </a:rPr>
              <a:t> </a:t>
            </a:r>
            <a:r>
              <a:rPr>
                <a:solidFill>
                  <a:srgbClr val="4070A0"/>
                </a:solidFill>
                <a:latin typeface="Courier"/>
              </a:rPr>
              <a:t>"high"</a:t>
            </a:r>
            <a:r>
              <a:rPr>
                <a:latin typeface="Courier"/>
              </a:rPr>
              <a:t> </a:t>
            </a:r>
            <a:r>
              <a:rPr>
                <a:solidFill>
                  <a:srgbClr val="4070A0"/>
                </a:solidFill>
                <a:latin typeface="Courier"/>
              </a:rPr>
              <a:t>|</a:t>
            </a:r>
            <a:r>
              <a:rPr>
                <a:latin typeface="Courier"/>
              </a:rPr>
              <a:t> UV_Radiation </a:t>
            </a:r>
            <a:r>
              <a:rPr>
                <a:solidFill>
                  <a:srgbClr val="4070A0"/>
                </a:solidFill>
                <a:latin typeface="Courier"/>
              </a:rPr>
              <a:t>==</a:t>
            </a:r>
            <a:r>
              <a:rPr>
                <a:latin typeface="Courier"/>
              </a:rPr>
              <a:t> </a:t>
            </a:r>
            <a:r>
              <a:rPr>
                <a:solidFill>
                  <a:srgbClr val="4070A0"/>
                </a:solidFill>
                <a:latin typeface="Courier"/>
              </a:rPr>
              <a:t>"very_high"</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count</a:t>
            </a:r>
            <a:r>
              <a:rPr>
                <a:latin typeface="Courier"/>
              </a:rPr>
              <a:t>()</a:t>
            </a:r>
          </a:p>
          <a:p>
            <a:pPr lvl="0" indent="0">
              <a:buNone/>
            </a:pPr>
            <a:r>
              <a:rPr>
                <a:latin typeface="Courier"/>
              </a:rPr>
              <a:t>## # A tibble: 1 × 1
##       n
##   &lt;int&gt;
## 1  1125</a:t>
            </a:r>
          </a:p>
          <a:p>
            <a:pPr lvl="0" indent="0">
              <a:buNone/>
            </a:pPr>
            <a:r>
              <a:rPr i="1">
                <a:solidFill>
                  <a:srgbClr val="60A0B0"/>
                </a:solidFill>
                <a:latin typeface="Courier"/>
              </a:rPr>
              <a:t># OR</a:t>
            </a:r>
            <a:b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(UV_Radiation </a:t>
            </a:r>
            <a:r>
              <a:rPr>
                <a:solidFill>
                  <a:srgbClr val="4070A0"/>
                </a:solidFill>
                <a:latin typeface="Courier"/>
              </a:rPr>
              <a:t>%in%</a:t>
            </a:r>
            <a:r>
              <a:rPr>
                <a:latin typeface="Courier"/>
              </a:rPr>
              <a:t> </a:t>
            </a:r>
            <a:r>
              <a:rPr>
                <a:solidFill>
                  <a:srgbClr val="06287E"/>
                </a:solidFill>
                <a:latin typeface="Courier"/>
              </a:rPr>
              <a:t>c</a:t>
            </a:r>
            <a:r>
              <a:rPr>
                <a:latin typeface="Courier"/>
              </a:rPr>
              <a:t>(</a:t>
            </a:r>
            <a:r>
              <a:rPr>
                <a:solidFill>
                  <a:srgbClr val="4070A0"/>
                </a:solidFill>
                <a:latin typeface="Courier"/>
              </a:rPr>
              <a:t>"high"</a:t>
            </a:r>
            <a:r>
              <a:rPr>
                <a:latin typeface="Courier"/>
              </a:rPr>
              <a:t>, </a:t>
            </a:r>
            <a:r>
              <a:rPr>
                <a:solidFill>
                  <a:srgbClr val="4070A0"/>
                </a:solidFill>
                <a:latin typeface="Courier"/>
              </a:rPr>
              <a:t>"very_high"</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count</a:t>
            </a:r>
            <a:r>
              <a:rPr>
                <a:latin typeface="Courier"/>
              </a:rPr>
              <a:t>()</a:t>
            </a:r>
          </a:p>
          <a:p>
            <a:pPr lvl="0" indent="0">
              <a:buNone/>
            </a:pPr>
            <a:r>
              <a:rPr>
                <a:latin typeface="Courier"/>
              </a:rPr>
              <a:t>## # A tibble: 1 × 1
##       n
##   &lt;int&gt;
## 1  1125</a:t>
            </a:r>
          </a:p>
          <a:p>
            <a:pPr lvl="0" indent="0">
              <a:buNone/>
            </a:pPr>
            <a:r>
              <a:rPr i="1">
                <a:solidFill>
                  <a:srgbClr val="60A0B0"/>
                </a:solidFill>
                <a:latin typeface="Courier"/>
              </a:rPr>
              <a:t># OR</a:t>
            </a:r>
            <a:br/>
            <a:r>
              <a:rPr>
                <a:solidFill>
                  <a:srgbClr val="06287E"/>
                </a:solidFill>
                <a:latin typeface="Courier"/>
              </a:rPr>
              <a:t>sum</a:t>
            </a:r>
            <a:r>
              <a:rPr>
                <a:latin typeface="Courier"/>
              </a:rPr>
              <a:t>(mars</a:t>
            </a:r>
            <a:r>
              <a:rPr>
                <a:solidFill>
                  <a:srgbClr val="4070A0"/>
                </a:solidFill>
                <a:latin typeface="Courier"/>
              </a:rPr>
              <a:t>$</a:t>
            </a:r>
            <a:r>
              <a:rPr>
                <a:latin typeface="Courier"/>
              </a:rPr>
              <a:t>UV_Radiation </a:t>
            </a:r>
            <a:r>
              <a:rPr>
                <a:solidFill>
                  <a:srgbClr val="4070A0"/>
                </a:solidFill>
                <a:latin typeface="Courier"/>
              </a:rPr>
              <a:t>==</a:t>
            </a:r>
            <a:r>
              <a:rPr>
                <a:latin typeface="Courier"/>
              </a:rPr>
              <a:t> </a:t>
            </a:r>
            <a:r>
              <a:rPr>
                <a:solidFill>
                  <a:srgbClr val="4070A0"/>
                </a:solidFill>
                <a:latin typeface="Courier"/>
              </a:rPr>
              <a:t>"high"</a:t>
            </a:r>
            <a:r>
              <a:rPr>
                <a:latin typeface="Courier"/>
              </a:rPr>
              <a:t> </a:t>
            </a:r>
            <a:r>
              <a:rPr>
                <a:solidFill>
                  <a:srgbClr val="4070A0"/>
                </a:solidFill>
                <a:latin typeface="Courier"/>
              </a:rPr>
              <a:t>|</a:t>
            </a:r>
            <a:r>
              <a:rPr>
                <a:latin typeface="Courier"/>
              </a:rPr>
              <a:t> mars</a:t>
            </a:r>
            <a:r>
              <a:rPr>
                <a:solidFill>
                  <a:srgbClr val="4070A0"/>
                </a:solidFill>
                <a:latin typeface="Courier"/>
              </a:rPr>
              <a:t>$</a:t>
            </a:r>
            <a:r>
              <a:rPr>
                <a:latin typeface="Courier"/>
              </a:rPr>
              <a:t>UV_Radiation </a:t>
            </a:r>
            <a:r>
              <a:rPr>
                <a:solidFill>
                  <a:srgbClr val="4070A0"/>
                </a:solidFill>
                <a:latin typeface="Courier"/>
              </a:rPr>
              <a:t>==</a:t>
            </a:r>
            <a:r>
              <a:rPr>
                <a:latin typeface="Courier"/>
              </a:rPr>
              <a:t> </a:t>
            </a:r>
            <a:r>
              <a:rPr>
                <a:solidFill>
                  <a:srgbClr val="4070A0"/>
                </a:solidFill>
                <a:latin typeface="Courier"/>
              </a:rPr>
              <a:t>"very_high"</a:t>
            </a:r>
            <a:r>
              <a:rPr>
                <a:latin typeface="Courier"/>
              </a:rPr>
              <a:t>)</a:t>
            </a:r>
          </a:p>
          <a:p>
            <a:pPr lvl="0" indent="0">
              <a:buNone/>
            </a:pPr>
            <a:r>
              <a:rPr>
                <a:latin typeface="Courier"/>
              </a:rPr>
              <a:t>## [1] 1125</a:t>
            </a:r>
          </a:p>
          <a:p>
            <a:pPr lvl="0" indent="0">
              <a:buNone/>
            </a:pPr>
            <a:r>
              <a:rPr i="1">
                <a:solidFill>
                  <a:srgbClr val="60A0B0"/>
                </a:solidFill>
                <a:latin typeface="Courier"/>
              </a:rPr>
              <a:t># OR</a:t>
            </a:r>
            <a:br/>
            <a:r>
              <a:rPr>
                <a:solidFill>
                  <a:srgbClr val="06287E"/>
                </a:solidFill>
                <a:latin typeface="Courier"/>
              </a:rPr>
              <a:t>sum</a:t>
            </a:r>
            <a:r>
              <a:rPr>
                <a:latin typeface="Courier"/>
              </a:rPr>
              <a:t>(mars</a:t>
            </a:r>
            <a:r>
              <a:rPr>
                <a:solidFill>
                  <a:srgbClr val="4070A0"/>
                </a:solidFill>
                <a:latin typeface="Courier"/>
              </a:rPr>
              <a:t>$</a:t>
            </a:r>
            <a:r>
              <a:rPr>
                <a:latin typeface="Courier"/>
              </a:rPr>
              <a:t>UV_Radiation </a:t>
            </a:r>
            <a:r>
              <a:rPr>
                <a:solidFill>
                  <a:srgbClr val="4070A0"/>
                </a:solidFill>
                <a:latin typeface="Courier"/>
              </a:rPr>
              <a:t>%in%</a:t>
            </a:r>
            <a:r>
              <a:rPr>
                <a:latin typeface="Courier"/>
              </a:rPr>
              <a:t> </a:t>
            </a:r>
            <a:r>
              <a:rPr>
                <a:solidFill>
                  <a:srgbClr val="06287E"/>
                </a:solidFill>
                <a:latin typeface="Courier"/>
              </a:rPr>
              <a:t>c</a:t>
            </a:r>
            <a:r>
              <a:rPr>
                <a:latin typeface="Courier"/>
              </a:rPr>
              <a:t>(</a:t>
            </a:r>
            <a:r>
              <a:rPr>
                <a:solidFill>
                  <a:srgbClr val="4070A0"/>
                </a:solidFill>
                <a:latin typeface="Courier"/>
              </a:rPr>
              <a:t>"high"</a:t>
            </a:r>
            <a:r>
              <a:rPr>
                <a:latin typeface="Courier"/>
              </a:rPr>
              <a:t>, </a:t>
            </a:r>
            <a:r>
              <a:rPr>
                <a:solidFill>
                  <a:srgbClr val="4070A0"/>
                </a:solidFill>
                <a:latin typeface="Courier"/>
              </a:rPr>
              <a:t>"very_high"</a:t>
            </a:r>
            <a:r>
              <a:rPr>
                <a:latin typeface="Courier"/>
              </a:rPr>
              <a:t>))</a:t>
            </a:r>
          </a:p>
          <a:p>
            <a:pPr lvl="0" indent="0">
              <a:buNone/>
            </a:pPr>
            <a:r>
              <a:rPr>
                <a:latin typeface="Courier"/>
              </a:rPr>
              <a:t>## [1] 1125</a:t>
            </a:r>
          </a:p>
          <a:p>
            <a:pPr lvl="0" indent="0">
              <a:buNone/>
            </a:pPr>
            <a:r>
              <a:rPr i="1">
                <a:solidFill>
                  <a:srgbClr val="60A0B0"/>
                </a:solidFill>
                <a:latin typeface="Courier"/>
              </a:rPr>
              <a:t># A total of 1125 days.</a:t>
            </a:r>
          </a:p>
          <a:p>
            <a:pPr lvl="0" marL="0" indent="0">
              <a:buNone/>
            </a:pPr>
            <a:r>
              <a:rPr/>
              <a:t>20. Select all columns in “mars” where the column names starts with “min” (using </a:t>
            </a:r>
            <a:r>
              <a:rPr>
                <a:latin typeface="Courier"/>
              </a:rPr>
              <a:t>select()</a:t>
            </a:r>
            <a:r>
              <a:rPr/>
              <a:t> and </a:t>
            </a:r>
            <a:r>
              <a:rPr>
                <a:latin typeface="Courier"/>
              </a:rPr>
              <a:t>starts_with()</a:t>
            </a:r>
            <a:r>
              <a:rPr/>
              <a:t>. Then, use </a:t>
            </a:r>
            <a:r>
              <a:rPr>
                <a:latin typeface="Courier"/>
              </a:rPr>
              <a:t>colMeans()</a:t>
            </a:r>
            <a:r>
              <a:rPr/>
              <a:t> to summarize across these columns.</a:t>
            </a:r>
          </a:p>
          <a:p>
            <a:pPr lvl="0" indent="0">
              <a:buNone/>
            </a:pP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select</a:t>
            </a:r>
            <a:r>
              <a:rPr>
                <a:latin typeface="Courier"/>
              </a:rPr>
              <a:t>(</a:t>
            </a:r>
            <a:r>
              <a:rPr>
                <a:solidFill>
                  <a:srgbClr val="06287E"/>
                </a:solidFill>
                <a:latin typeface="Courier"/>
              </a:rPr>
              <a:t>starts_with</a:t>
            </a:r>
            <a:r>
              <a:rPr>
                <a:latin typeface="Courier"/>
              </a:rPr>
              <a:t>(</a:t>
            </a:r>
            <a:r>
              <a:rPr>
                <a:solidFill>
                  <a:srgbClr val="4070A0"/>
                </a:solidFill>
                <a:latin typeface="Courier"/>
              </a:rPr>
              <a:t>"min"</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colMeans</a:t>
            </a:r>
            <a:r>
              <a:rPr>
                <a:latin typeface="Courier"/>
              </a:rPr>
              <a:t>()</a:t>
            </a:r>
          </a:p>
          <a:p>
            <a:pPr lvl="0" indent="0">
              <a:buNone/>
            </a:pPr>
            <a:r>
              <a:rPr>
                <a:latin typeface="Courier"/>
              </a:rPr>
              <a:t>## min_ground_temp    min_air_temp 
##       -74.94317       -80.56080</a:t>
            </a:r>
          </a:p>
          <a:p>
            <a:pPr lvl="0" marL="0" indent="0">
              <a:buNone/>
            </a:pPr>
            <a:r>
              <a:rPr/>
              <a:t>21. Using “mars”, create a new binary (TRUEs and FALSEs) column to indicate if the day’s maximum air temperature was above freezing. Call the new column “above_freezing”.</a:t>
            </a:r>
          </a:p>
          <a:p>
            <a:pPr lvl="0" indent="0">
              <a:buNone/>
            </a:pPr>
            <a:r>
              <a:rPr>
                <a:latin typeface="Courier"/>
              </a:rPr>
              <a:t>mars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mutate</a:t>
            </a:r>
            <a:r>
              <a:rPr>
                <a:latin typeface="Courier"/>
              </a:rPr>
              <a:t>(</a:t>
            </a:r>
            <a:r>
              <a:rPr>
                <a:solidFill>
                  <a:srgbClr val="7D9029"/>
                </a:solidFill>
                <a:latin typeface="Courier"/>
              </a:rPr>
              <a:t>above_freezing =</a:t>
            </a:r>
            <a:r>
              <a:rPr>
                <a:latin typeface="Courier"/>
              </a:rPr>
              <a:t> (max_air_temp </a:t>
            </a:r>
            <a:r>
              <a:rPr>
                <a:solidFill>
                  <a:srgbClr val="4070A0"/>
                </a:solidFill>
                <a:latin typeface="Courier"/>
              </a:rPr>
              <a:t>&gt;</a:t>
            </a:r>
            <a:r>
              <a:rPr>
                <a:latin typeface="Courier"/>
              </a:rPr>
              <a:t> </a:t>
            </a:r>
            <a:r>
              <a:rPr>
                <a:solidFill>
                  <a:srgbClr val="40A070"/>
                </a:solidFill>
                <a:latin typeface="Courier"/>
              </a:rPr>
              <a:t>0</a:t>
            </a:r>
            <a:r>
              <a:rPr>
                <a:latin typeface="Courier"/>
              </a:rPr>
              <a:t>))</a:t>
            </a:r>
          </a:p>
          <a:p>
            <a:pPr lvl="0" marL="0" indent="0">
              <a:buNone/>
            </a:pPr>
            <a:r>
              <a:rPr/>
              <a:t>22. What is the average atmospheric pressure for days that have an air temperature above freezing and UV radiation level of “moderate”? How does this compare with days that do NOT fit these criteria?</a:t>
            </a:r>
          </a:p>
          <a:p>
            <a:pPr lvl="0" indent="0">
              <a:buNone/>
            </a:pPr>
            <a:r>
              <a:rPr>
                <a:latin typeface="Courier"/>
              </a:rPr>
              <a:t>mean_mod_warm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(above_freezing </a:t>
            </a:r>
            <a:r>
              <a:rPr>
                <a:solidFill>
                  <a:srgbClr val="4070A0"/>
                </a:solidFill>
                <a:latin typeface="Courier"/>
              </a:rPr>
              <a:t>==</a:t>
            </a:r>
            <a:r>
              <a:rPr>
                <a:latin typeface="Courier"/>
              </a:rPr>
              <a:t> </a:t>
            </a:r>
            <a:r>
              <a:rPr>
                <a:solidFill>
                  <a:srgbClr val="880000"/>
                </a:solidFill>
                <a:latin typeface="Courier"/>
              </a:rPr>
              <a:t>TRUE</a:t>
            </a:r>
            <a:r>
              <a:rPr>
                <a:latin typeface="Courier"/>
              </a:rPr>
              <a:t> </a:t>
            </a:r>
            <a:r>
              <a:rPr>
                <a:solidFill>
                  <a:srgbClr val="4070A0"/>
                </a:solidFill>
                <a:latin typeface="Courier"/>
              </a:rPr>
              <a:t>&amp;</a:t>
            </a:r>
            <a:r>
              <a:rPr>
                <a:latin typeface="Courier"/>
              </a:rPr>
              <a:t> UV_Radiation </a:t>
            </a:r>
            <a:r>
              <a:rPr>
                <a:solidFill>
                  <a:srgbClr val="4070A0"/>
                </a:solidFill>
                <a:latin typeface="Courier"/>
              </a:rPr>
              <a:t>==</a:t>
            </a:r>
            <a:r>
              <a:rPr>
                <a:latin typeface="Courier"/>
              </a:rPr>
              <a:t> </a:t>
            </a:r>
            <a:r>
              <a:rPr>
                <a:solidFill>
                  <a:srgbClr val="4070A0"/>
                </a:solidFill>
                <a:latin typeface="Courier"/>
              </a:rPr>
              <a:t>"moderate"</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summarize</a:t>
            </a:r>
            <a:r>
              <a:rPr>
                <a:latin typeface="Courier"/>
              </a:rPr>
              <a:t>(</a:t>
            </a:r>
            <a:r>
              <a:rPr>
                <a:solidFill>
                  <a:srgbClr val="7D9029"/>
                </a:solidFill>
                <a:latin typeface="Courier"/>
              </a:rPr>
              <a:t>mean =</a:t>
            </a:r>
            <a:r>
              <a:rPr>
                <a:latin typeface="Courier"/>
              </a:rPr>
              <a:t> </a:t>
            </a:r>
            <a:r>
              <a:rPr>
                <a:solidFill>
                  <a:srgbClr val="06287E"/>
                </a:solidFill>
                <a:latin typeface="Courier"/>
              </a:rPr>
              <a:t>mean</a:t>
            </a:r>
            <a:r>
              <a:rPr>
                <a:latin typeface="Courier"/>
              </a:rPr>
              <a:t>(mean_pressure))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pull</a:t>
            </a:r>
            <a:r>
              <a:rPr>
                <a:latin typeface="Courier"/>
              </a:rPr>
              <a:t>()</a:t>
            </a:r>
            <a:br/>
            <a:br/>
            <a:r>
              <a:rPr>
                <a:latin typeface="Courier"/>
              </a:rPr>
              <a:t>mean_not_mod_warm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(above_freezing </a:t>
            </a:r>
            <a:r>
              <a:rPr>
                <a:solidFill>
                  <a:srgbClr val="4070A0"/>
                </a:solidFill>
                <a:latin typeface="Courier"/>
              </a:rPr>
              <a:t>!=</a:t>
            </a:r>
            <a:r>
              <a:rPr>
                <a:latin typeface="Courier"/>
              </a:rPr>
              <a:t> </a:t>
            </a:r>
            <a:r>
              <a:rPr>
                <a:solidFill>
                  <a:srgbClr val="880000"/>
                </a:solidFill>
                <a:latin typeface="Courier"/>
              </a:rPr>
              <a:t>TRUE</a:t>
            </a:r>
            <a:r>
              <a:rPr>
                <a:latin typeface="Courier"/>
              </a:rPr>
              <a:t> </a:t>
            </a:r>
            <a:r>
              <a:rPr>
                <a:solidFill>
                  <a:srgbClr val="4070A0"/>
                </a:solidFill>
                <a:latin typeface="Courier"/>
              </a:rPr>
              <a:t>|</a:t>
            </a:r>
            <a:r>
              <a:rPr>
                <a:latin typeface="Courier"/>
              </a:rPr>
              <a:t> UV_Radiation </a:t>
            </a:r>
            <a:r>
              <a:rPr>
                <a:solidFill>
                  <a:srgbClr val="4070A0"/>
                </a:solidFill>
                <a:latin typeface="Courier"/>
              </a:rPr>
              <a:t>!=</a:t>
            </a:r>
            <a:r>
              <a:rPr>
                <a:latin typeface="Courier"/>
              </a:rPr>
              <a:t> </a:t>
            </a:r>
            <a:r>
              <a:rPr>
                <a:solidFill>
                  <a:srgbClr val="4070A0"/>
                </a:solidFill>
                <a:latin typeface="Courier"/>
              </a:rPr>
              <a:t>"moderate"</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summarize</a:t>
            </a:r>
            <a:r>
              <a:rPr>
                <a:latin typeface="Courier"/>
              </a:rPr>
              <a:t>(</a:t>
            </a:r>
            <a:r>
              <a:rPr>
                <a:solidFill>
                  <a:srgbClr val="7D9029"/>
                </a:solidFill>
                <a:latin typeface="Courier"/>
              </a:rPr>
              <a:t>mean =</a:t>
            </a:r>
            <a:r>
              <a:rPr>
                <a:latin typeface="Courier"/>
              </a:rPr>
              <a:t> </a:t>
            </a:r>
            <a:r>
              <a:rPr>
                <a:solidFill>
                  <a:srgbClr val="06287E"/>
                </a:solidFill>
                <a:latin typeface="Courier"/>
              </a:rPr>
              <a:t>mean</a:t>
            </a:r>
            <a:r>
              <a:rPr>
                <a:latin typeface="Courier"/>
              </a:rPr>
              <a:t>(mean_pressure))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pull</a:t>
            </a:r>
            <a:r>
              <a:rPr>
                <a:latin typeface="Courier"/>
              </a:rPr>
              <a:t>()</a:t>
            </a:r>
            <a:br/>
            <a:br/>
            <a:r>
              <a:rPr i="1">
                <a:solidFill>
                  <a:srgbClr val="60A0B0"/>
                </a:solidFill>
                <a:latin typeface="Courier"/>
              </a:rPr>
              <a:t># Days that are above freezing with UV level of "moderate" have an average atmospheric pressure of 820.7 Pa while days not fitting this criteria have an average atmospheric pressure of 826.6 Pa.</a:t>
            </a:r>
          </a:p>
          <a:p>
            <a:pPr lvl="0" marL="0" indent="0">
              <a:buNone/>
            </a:pPr>
            <a:r>
              <a:rPr/>
              <a:t>23. Among days with a “moderate” UV level that are above freezing, what is the distribution of the earth year in which these days occurred?</a:t>
            </a:r>
          </a:p>
          <a:p>
            <a:pPr lvl="0" indent="0">
              <a:buNone/>
            </a:pPr>
            <a:r>
              <a:rPr>
                <a:latin typeface="Courier"/>
              </a:rPr>
              <a:t>mod_warm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(UV_Radiation </a:t>
            </a:r>
            <a:r>
              <a:rPr>
                <a:solidFill>
                  <a:srgbClr val="4070A0"/>
                </a:solidFill>
                <a:latin typeface="Courier"/>
              </a:rPr>
              <a:t>==</a:t>
            </a:r>
            <a:r>
              <a:rPr>
                <a:latin typeface="Courier"/>
              </a:rPr>
              <a:t> </a:t>
            </a:r>
            <a:r>
              <a:rPr>
                <a:solidFill>
                  <a:srgbClr val="4070A0"/>
                </a:solidFill>
                <a:latin typeface="Courier"/>
              </a:rPr>
              <a:t>"moderate"</a:t>
            </a:r>
            <a:r>
              <a:rPr>
                <a:latin typeface="Courier"/>
              </a:rPr>
              <a:t> </a:t>
            </a:r>
            <a:r>
              <a:rPr>
                <a:solidFill>
                  <a:srgbClr val="4070A0"/>
                </a:solidFill>
                <a:latin typeface="Courier"/>
              </a:rPr>
              <a:t>&amp;</a:t>
            </a:r>
            <a:r>
              <a:rPr>
                <a:latin typeface="Courier"/>
              </a:rPr>
              <a:t> above_freezing </a:t>
            </a:r>
            <a:r>
              <a:rPr>
                <a:solidFill>
                  <a:srgbClr val="4070A0"/>
                </a:solidFill>
                <a:latin typeface="Courier"/>
              </a:rPr>
              <a:t>==</a:t>
            </a:r>
            <a:r>
              <a:rPr>
                <a:latin typeface="Courier"/>
              </a:rPr>
              <a:t> </a:t>
            </a:r>
            <a:r>
              <a:rPr>
                <a:solidFill>
                  <a:srgbClr val="880000"/>
                </a:solidFill>
                <a:latin typeface="Courier"/>
              </a:rPr>
              <a:t>TRUE</a:t>
            </a:r>
            <a:r>
              <a:rPr>
                <a:latin typeface="Courier"/>
              </a:rPr>
              <a:t>)</a:t>
            </a:r>
            <a:br/>
            <a:r>
              <a:rPr>
                <a:latin typeface="Courier"/>
              </a:rPr>
              <a:t>mod_warm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group_by</a:t>
            </a:r>
            <a:r>
              <a:rPr>
                <a:latin typeface="Courier"/>
              </a:rPr>
              <a:t>(earth_year)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select</a:t>
            </a:r>
            <a:r>
              <a:rPr>
                <a:latin typeface="Courier"/>
              </a:rPr>
              <a:t>(earth_year)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table</a:t>
            </a:r>
            <a:r>
              <a:rPr>
                <a:latin typeface="Courier"/>
              </a:rPr>
              <a:t>()</a:t>
            </a:r>
          </a:p>
          <a:p>
            <a:pPr lvl="0" indent="0">
              <a:buNone/>
            </a:pPr>
            <a:r>
              <a:rPr>
                <a:latin typeface="Courier"/>
              </a:rPr>
              <a:t>## earth_year
## 2015 2016 2017 2018 2019 2020 2021 2022 
##   41   31    6   74   72  152  126   17</a:t>
            </a:r>
          </a:p>
          <a:p>
            <a:pPr lvl="0" indent="0">
              <a:buNone/>
            </a:pPr>
            <a:r>
              <a:rPr i="1">
                <a:solidFill>
                  <a:srgbClr val="60A0B0"/>
                </a:solidFill>
                <a:latin typeface="Courier"/>
              </a:rPr>
              <a:t># OR</a:t>
            </a:r>
            <a:br/>
            <a:r>
              <a:rPr>
                <a:latin typeface="Courier"/>
              </a:rPr>
              <a:t>mod_warm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(UV_Radiation </a:t>
            </a:r>
            <a:r>
              <a:rPr>
                <a:solidFill>
                  <a:srgbClr val="4070A0"/>
                </a:solidFill>
                <a:latin typeface="Courier"/>
              </a:rPr>
              <a:t>==</a:t>
            </a:r>
            <a:r>
              <a:rPr>
                <a:latin typeface="Courier"/>
              </a:rPr>
              <a:t> </a:t>
            </a:r>
            <a:r>
              <a:rPr>
                <a:solidFill>
                  <a:srgbClr val="4070A0"/>
                </a:solidFill>
                <a:latin typeface="Courier"/>
              </a:rPr>
              <a:t>"moderate"</a:t>
            </a:r>
            <a:r>
              <a:rPr>
                <a:latin typeface="Courier"/>
              </a:rPr>
              <a:t> </a:t>
            </a:r>
            <a:r>
              <a:rPr>
                <a:solidFill>
                  <a:srgbClr val="4070A0"/>
                </a:solidFill>
                <a:latin typeface="Courier"/>
              </a:rPr>
              <a:t>&amp;</a:t>
            </a:r>
            <a:r>
              <a:rPr>
                <a:latin typeface="Courier"/>
              </a:rPr>
              <a:t> above_freezing </a:t>
            </a:r>
            <a:r>
              <a:rPr>
                <a:solidFill>
                  <a:srgbClr val="4070A0"/>
                </a:solidFill>
                <a:latin typeface="Courier"/>
              </a:rPr>
              <a:t>==</a:t>
            </a:r>
            <a:r>
              <a:rPr>
                <a:latin typeface="Courier"/>
              </a:rPr>
              <a:t> </a:t>
            </a:r>
            <a:r>
              <a:rPr>
                <a:solidFill>
                  <a:srgbClr val="880000"/>
                </a:solidFill>
                <a:latin typeface="Courier"/>
              </a:rPr>
              <a:t>TRUE</a:t>
            </a:r>
            <a:r>
              <a:rPr>
                <a:latin typeface="Courier"/>
              </a:rPr>
              <a:t>)</a:t>
            </a:r>
            <a:br/>
            <a:r>
              <a:rPr>
                <a:latin typeface="Courier"/>
              </a:rPr>
              <a:t>mod_warm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group_by</a:t>
            </a:r>
            <a:r>
              <a:rPr>
                <a:latin typeface="Courier"/>
              </a:rPr>
              <a:t>(earth_year)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count</a:t>
            </a:r>
            <a:r>
              <a:rPr>
                <a:latin typeface="Courier"/>
              </a:rPr>
              <a:t>()</a:t>
            </a:r>
          </a:p>
          <a:p>
            <a:pPr lvl="0" indent="0">
              <a:buNone/>
            </a:pPr>
            <a:r>
              <a:rPr>
                <a:latin typeface="Courier"/>
              </a:rPr>
              <a:t>## # A tibble: 8 × 2
## # Groups:   earth_year [8]
##   earth_year     n
##        &lt;dbl&gt; &lt;int&gt;
## 1       2015    41
## 2       2016    31
## 3       2017     6
## 4       2018    74
## 5       2019    72
## 6       2020   152
## 7       2021   126
## 8       2022    17</a:t>
            </a:r>
          </a:p>
          <a:p>
            <a:pPr lvl="0" indent="0">
              <a:buNone/>
            </a:pPr>
            <a:r>
              <a:rPr i="1">
                <a:solidFill>
                  <a:srgbClr val="60A0B0"/>
                </a:solidFill>
                <a:latin typeface="Courier"/>
              </a:rPr>
              <a:t># OR</a:t>
            </a:r>
            <a:br/>
            <a:r>
              <a:rPr>
                <a:latin typeface="Courier"/>
              </a:rPr>
              <a:t>mod_warm </a:t>
            </a:r>
            <a:r>
              <a:rPr>
                <a:solidFill>
                  <a:srgbClr val="007020"/>
                </a:solidFill>
                <a:latin typeface="Courier"/>
              </a:rPr>
              <a:t>&lt;-</a:t>
            </a:r>
            <a:r>
              <a:rPr>
                <a:latin typeface="Courier"/>
              </a:rPr>
              <a:t> 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filter</a:t>
            </a:r>
            <a:r>
              <a:rPr>
                <a:latin typeface="Courier"/>
              </a:rPr>
              <a:t>(UV_Radiation </a:t>
            </a:r>
            <a:r>
              <a:rPr>
                <a:solidFill>
                  <a:srgbClr val="4070A0"/>
                </a:solidFill>
                <a:latin typeface="Courier"/>
              </a:rPr>
              <a:t>==</a:t>
            </a:r>
            <a:r>
              <a:rPr>
                <a:latin typeface="Courier"/>
              </a:rPr>
              <a:t> </a:t>
            </a:r>
            <a:r>
              <a:rPr>
                <a:solidFill>
                  <a:srgbClr val="4070A0"/>
                </a:solidFill>
                <a:latin typeface="Courier"/>
              </a:rPr>
              <a:t>"moderate"</a:t>
            </a:r>
            <a:r>
              <a:rPr>
                <a:latin typeface="Courier"/>
              </a:rPr>
              <a:t> </a:t>
            </a:r>
            <a:r>
              <a:rPr>
                <a:solidFill>
                  <a:srgbClr val="4070A0"/>
                </a:solidFill>
                <a:latin typeface="Courier"/>
              </a:rPr>
              <a:t>&amp;</a:t>
            </a:r>
            <a:r>
              <a:rPr>
                <a:latin typeface="Courier"/>
              </a:rPr>
              <a:t> above_freezing </a:t>
            </a:r>
            <a:r>
              <a:rPr>
                <a:solidFill>
                  <a:srgbClr val="4070A0"/>
                </a:solidFill>
                <a:latin typeface="Courier"/>
              </a:rPr>
              <a:t>==</a:t>
            </a:r>
            <a:r>
              <a:rPr>
                <a:latin typeface="Courier"/>
              </a:rPr>
              <a:t> </a:t>
            </a:r>
            <a:r>
              <a:rPr>
                <a:solidFill>
                  <a:srgbClr val="880000"/>
                </a:solidFill>
                <a:latin typeface="Courier"/>
              </a:rPr>
              <a:t>TRUE</a:t>
            </a:r>
            <a:r>
              <a:rPr>
                <a:latin typeface="Courier"/>
              </a:rPr>
              <a:t>)</a:t>
            </a:r>
            <a:br/>
            <a:r>
              <a:rPr>
                <a:latin typeface="Courier"/>
              </a:rPr>
              <a:t>mod_warm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group_by</a:t>
            </a:r>
            <a:r>
              <a:rPr>
                <a:latin typeface="Courier"/>
              </a:rPr>
              <a:t>(earth_year)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tally</a:t>
            </a:r>
            <a:r>
              <a:rPr>
                <a:latin typeface="Courier"/>
              </a:rPr>
              <a:t>()</a:t>
            </a:r>
          </a:p>
          <a:p>
            <a:pPr lvl="0" indent="0">
              <a:buNone/>
            </a:pPr>
            <a:r>
              <a:rPr>
                <a:latin typeface="Courier"/>
              </a:rPr>
              <a:t>## # A tibble: 8 × 2
##   earth_year     n
##        &lt;dbl&gt; &lt;int&gt;
## 1       2015    41
## 2       2016    31
## 3       2017     6
## 4       2018    74
## 5       2019    72
## 6       2020   152
## 7       2021   126
## 8       2022    17</a:t>
            </a:r>
          </a:p>
          <a:p>
            <a:pPr lvl="0" marL="0" indent="0">
              <a:buNone/>
            </a:pPr>
            <a:r>
              <a:rPr/>
              <a:t>24. How many days (using </a:t>
            </a:r>
            <a:r>
              <a:rPr>
                <a:latin typeface="Courier"/>
              </a:rPr>
              <a:t>filter()</a:t>
            </a:r>
            <a:r>
              <a:rPr/>
              <a:t> or </a:t>
            </a:r>
            <a:r>
              <a:rPr>
                <a:latin typeface="Courier"/>
              </a:rPr>
              <a:t>sum()</a:t>
            </a:r>
            <a:r>
              <a:rPr/>
              <a:t> ) have a maximum ground or air temperature above zero and have a UV level of “high” or “very_high”?</a:t>
            </a:r>
          </a:p>
          <a:p>
            <a:pPr lvl="0" indent="0">
              <a:buNone/>
            </a:pPr>
            <a:r>
              <a:rPr>
                <a:solidFill>
                  <a:srgbClr val="06287E"/>
                </a:solidFill>
                <a:latin typeface="Courier"/>
              </a:rPr>
              <a:t>sum</a:t>
            </a:r>
            <a:r>
              <a:rPr>
                <a:latin typeface="Courier"/>
              </a:rPr>
              <a:t>((mars</a:t>
            </a:r>
            <a:r>
              <a:rPr>
                <a:solidFill>
                  <a:srgbClr val="4070A0"/>
                </a:solidFill>
                <a:latin typeface="Courier"/>
              </a:rPr>
              <a:t>$</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solidFill>
                  <a:srgbClr val="4070A0"/>
                </a:solidFill>
                <a:latin typeface="Courier"/>
              </a:rPr>
              <a:t>|</a:t>
            </a:r>
            <a:r>
              <a:rPr>
                <a:latin typeface="Courier"/>
              </a:rPr>
              <a:t> mars</a:t>
            </a:r>
            <a:r>
              <a:rPr>
                <a:solidFill>
                  <a:srgbClr val="4070A0"/>
                </a:solidFill>
                <a:latin typeface="Courier"/>
              </a:rPr>
              <a:t>$</a:t>
            </a:r>
            <a:r>
              <a:rPr>
                <a:latin typeface="Courier"/>
              </a:rPr>
              <a:t>max_air_temp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&amp;</a:t>
            </a:r>
            <a:r>
              <a:rPr>
                <a:latin typeface="Courier"/>
              </a:rPr>
              <a:t> (mars</a:t>
            </a:r>
            <a:r>
              <a:rPr>
                <a:solidFill>
                  <a:srgbClr val="4070A0"/>
                </a:solidFill>
                <a:latin typeface="Courier"/>
              </a:rPr>
              <a:t>$</a:t>
            </a:r>
            <a:r>
              <a:rPr>
                <a:latin typeface="Courier"/>
              </a:rPr>
              <a:t>UV_Radiation </a:t>
            </a:r>
            <a:r>
              <a:rPr>
                <a:solidFill>
                  <a:srgbClr val="4070A0"/>
                </a:solidFill>
                <a:latin typeface="Courier"/>
              </a:rPr>
              <a:t>==</a:t>
            </a:r>
            <a:r>
              <a:rPr>
                <a:latin typeface="Courier"/>
              </a:rPr>
              <a:t> </a:t>
            </a:r>
            <a:r>
              <a:rPr>
                <a:solidFill>
                  <a:srgbClr val="4070A0"/>
                </a:solidFill>
                <a:latin typeface="Courier"/>
              </a:rPr>
              <a:t>"high"</a:t>
            </a:r>
            <a:r>
              <a:rPr>
                <a:latin typeface="Courier"/>
              </a:rPr>
              <a:t> </a:t>
            </a:r>
            <a:r>
              <a:rPr>
                <a:solidFill>
                  <a:srgbClr val="4070A0"/>
                </a:solidFill>
                <a:latin typeface="Courier"/>
              </a:rPr>
              <a:t>|</a:t>
            </a:r>
            <a:r>
              <a:rPr>
                <a:latin typeface="Courier"/>
              </a:rPr>
              <a:t> mars</a:t>
            </a:r>
            <a:r>
              <a:rPr>
                <a:solidFill>
                  <a:srgbClr val="4070A0"/>
                </a:solidFill>
                <a:latin typeface="Courier"/>
              </a:rPr>
              <a:t>$</a:t>
            </a:r>
            <a:r>
              <a:rPr>
                <a:latin typeface="Courier"/>
              </a:rPr>
              <a:t>UV_Radiation </a:t>
            </a:r>
            <a:r>
              <a:rPr>
                <a:solidFill>
                  <a:srgbClr val="4070A0"/>
                </a:solidFill>
                <a:latin typeface="Courier"/>
              </a:rPr>
              <a:t>==</a:t>
            </a:r>
            <a:r>
              <a:rPr>
                <a:latin typeface="Courier"/>
              </a:rPr>
              <a:t> </a:t>
            </a:r>
            <a:r>
              <a:rPr>
                <a:solidFill>
                  <a:srgbClr val="4070A0"/>
                </a:solidFill>
                <a:latin typeface="Courier"/>
              </a:rPr>
              <a:t>"very_high"</a:t>
            </a:r>
            <a:r>
              <a:rPr>
                <a:latin typeface="Courier"/>
              </a:rPr>
              <a:t>))</a:t>
            </a:r>
          </a:p>
          <a:p>
            <a:pPr lvl="0" indent="0">
              <a:buNone/>
            </a:pPr>
            <a:r>
              <a:rPr>
                <a:latin typeface="Courier"/>
              </a:rPr>
              <a:t>## [1] 886</a:t>
            </a:r>
          </a:p>
          <a:p>
            <a:pPr lvl="0" indent="0">
              <a:buNone/>
            </a:pPr>
            <a:r>
              <a:rPr i="1">
                <a:solidFill>
                  <a:srgbClr val="60A0B0"/>
                </a:solidFill>
                <a:latin typeface="Courier"/>
              </a:rPr>
              <a:t># OR</a:t>
            </a:r>
            <a:br/>
            <a:r>
              <a:rPr>
                <a:solidFill>
                  <a:srgbClr val="06287E"/>
                </a:solidFill>
                <a:latin typeface="Courier"/>
              </a:rPr>
              <a:t>sum</a:t>
            </a:r>
            <a:r>
              <a:rPr>
                <a:latin typeface="Courier"/>
              </a:rPr>
              <a:t>((mars</a:t>
            </a:r>
            <a:r>
              <a:rPr>
                <a:solidFill>
                  <a:srgbClr val="4070A0"/>
                </a:solidFill>
                <a:latin typeface="Courier"/>
              </a:rPr>
              <a:t>$</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solidFill>
                  <a:srgbClr val="4070A0"/>
                </a:solidFill>
                <a:latin typeface="Courier"/>
              </a:rPr>
              <a:t>|</a:t>
            </a:r>
            <a:r>
              <a:rPr>
                <a:latin typeface="Courier"/>
              </a:rPr>
              <a:t> mars</a:t>
            </a:r>
            <a:r>
              <a:rPr>
                <a:solidFill>
                  <a:srgbClr val="4070A0"/>
                </a:solidFill>
                <a:latin typeface="Courier"/>
              </a:rPr>
              <a:t>$</a:t>
            </a:r>
            <a:r>
              <a:rPr>
                <a:latin typeface="Courier"/>
              </a:rPr>
              <a:t>max_air_temp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&amp;</a:t>
            </a:r>
            <a:r>
              <a:rPr>
                <a:latin typeface="Courier"/>
              </a:rPr>
              <a:t> mars</a:t>
            </a:r>
            <a:r>
              <a:rPr>
                <a:solidFill>
                  <a:srgbClr val="4070A0"/>
                </a:solidFill>
                <a:latin typeface="Courier"/>
              </a:rPr>
              <a:t>$</a:t>
            </a:r>
            <a:r>
              <a:rPr>
                <a:latin typeface="Courier"/>
              </a:rPr>
              <a:t>UV_Radiation </a:t>
            </a:r>
            <a:r>
              <a:rPr>
                <a:solidFill>
                  <a:srgbClr val="4070A0"/>
                </a:solidFill>
                <a:latin typeface="Courier"/>
              </a:rPr>
              <a:t>%in%</a:t>
            </a:r>
            <a:r>
              <a:rPr>
                <a:latin typeface="Courier"/>
              </a:rPr>
              <a:t> </a:t>
            </a:r>
            <a:r>
              <a:rPr>
                <a:solidFill>
                  <a:srgbClr val="06287E"/>
                </a:solidFill>
                <a:latin typeface="Courier"/>
              </a:rPr>
              <a:t>c</a:t>
            </a:r>
            <a:r>
              <a:rPr>
                <a:latin typeface="Courier"/>
              </a:rPr>
              <a:t>(</a:t>
            </a:r>
            <a:r>
              <a:rPr>
                <a:solidFill>
                  <a:srgbClr val="4070A0"/>
                </a:solidFill>
                <a:latin typeface="Courier"/>
              </a:rPr>
              <a:t>"high"</a:t>
            </a:r>
            <a:r>
              <a:rPr>
                <a:latin typeface="Courier"/>
              </a:rPr>
              <a:t>, </a:t>
            </a:r>
            <a:r>
              <a:rPr>
                <a:solidFill>
                  <a:srgbClr val="4070A0"/>
                </a:solidFill>
                <a:latin typeface="Courier"/>
              </a:rPr>
              <a:t>"very_high"</a:t>
            </a:r>
            <a:r>
              <a:rPr>
                <a:latin typeface="Courier"/>
              </a:rPr>
              <a:t>))</a:t>
            </a:r>
          </a:p>
          <a:p>
            <a:pPr lvl="0" indent="0">
              <a:buNone/>
            </a:pPr>
            <a:r>
              <a:rPr>
                <a:latin typeface="Courier"/>
              </a:rPr>
              <a:t>## [1] 886</a:t>
            </a:r>
          </a:p>
          <a:p>
            <a:pPr lvl="0" indent="0">
              <a:buNone/>
            </a:pPr>
            <a:r>
              <a:rPr i="1">
                <a:solidFill>
                  <a:srgbClr val="60A0B0"/>
                </a:solidFill>
                <a:latin typeface="Courier"/>
              </a:rPr>
              <a:t># OR</a:t>
            </a:r>
            <a:br/>
            <a:r>
              <a:rPr>
                <a:latin typeface="Courier"/>
              </a:rPr>
              <a:t>mars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filter</a:t>
            </a:r>
            <a:r>
              <a:rPr>
                <a:latin typeface="Courier"/>
              </a:rPr>
              <a:t>((mars</a:t>
            </a:r>
            <a:r>
              <a:rPr>
                <a:solidFill>
                  <a:srgbClr val="4070A0"/>
                </a:solidFill>
                <a:latin typeface="Courier"/>
              </a:rPr>
              <a:t>$</a:t>
            </a:r>
            <a:r>
              <a:rPr>
                <a:latin typeface="Courier"/>
              </a:rPr>
              <a:t>max_ground_temp </a:t>
            </a:r>
            <a:r>
              <a:rPr>
                <a:solidFill>
                  <a:srgbClr val="4070A0"/>
                </a:solidFill>
                <a:latin typeface="Courier"/>
              </a:rPr>
              <a:t>&gt;</a:t>
            </a:r>
            <a:r>
              <a:rPr>
                <a:latin typeface="Courier"/>
              </a:rPr>
              <a:t> </a:t>
            </a:r>
            <a:r>
              <a:rPr>
                <a:solidFill>
                  <a:srgbClr val="40A070"/>
                </a:solidFill>
                <a:latin typeface="Courier"/>
              </a:rPr>
              <a:t>0</a:t>
            </a:r>
            <a:r>
              <a:rPr>
                <a:solidFill>
                  <a:srgbClr val="4070A0"/>
                </a:solidFill>
                <a:latin typeface="Courier"/>
              </a:rPr>
              <a:t>|</a:t>
            </a:r>
            <a:r>
              <a:rPr>
                <a:latin typeface="Courier"/>
              </a:rPr>
              <a:t> mars</a:t>
            </a:r>
            <a:r>
              <a:rPr>
                <a:solidFill>
                  <a:srgbClr val="4070A0"/>
                </a:solidFill>
                <a:latin typeface="Courier"/>
              </a:rPr>
              <a:t>$</a:t>
            </a:r>
            <a:r>
              <a:rPr>
                <a:latin typeface="Courier"/>
              </a:rPr>
              <a:t>max_air_temp </a:t>
            </a:r>
            <a:r>
              <a:rPr>
                <a:solidFill>
                  <a:srgbClr val="4070A0"/>
                </a:solidFill>
                <a:latin typeface="Courier"/>
              </a:rPr>
              <a:t>&gt;</a:t>
            </a:r>
            <a:r>
              <a:rPr>
                <a:latin typeface="Courier"/>
              </a:rPr>
              <a:t> </a:t>
            </a:r>
            <a:r>
              <a:rPr>
                <a:solidFill>
                  <a:srgbClr val="40A070"/>
                </a:solidFill>
                <a:latin typeface="Courier"/>
              </a:rPr>
              <a:t>0</a:t>
            </a:r>
            <a:r>
              <a:rPr>
                <a:latin typeface="Courier"/>
              </a:rPr>
              <a:t>) </a:t>
            </a:r>
            <a:r>
              <a:rPr>
                <a:solidFill>
                  <a:srgbClr val="4070A0"/>
                </a:solidFill>
                <a:latin typeface="Courier"/>
              </a:rPr>
              <a:t>&amp;</a:t>
            </a:r>
            <a:r>
              <a:rPr>
                <a:latin typeface="Courier"/>
              </a:rPr>
              <a:t> mars</a:t>
            </a:r>
            <a:r>
              <a:rPr>
                <a:solidFill>
                  <a:srgbClr val="4070A0"/>
                </a:solidFill>
                <a:latin typeface="Courier"/>
              </a:rPr>
              <a:t>$</a:t>
            </a:r>
            <a:r>
              <a:rPr>
                <a:latin typeface="Courier"/>
              </a:rPr>
              <a:t>UV_Radiation </a:t>
            </a:r>
            <a:r>
              <a:rPr>
                <a:solidFill>
                  <a:srgbClr val="4070A0"/>
                </a:solidFill>
                <a:latin typeface="Courier"/>
              </a:rPr>
              <a:t>%in%</a:t>
            </a:r>
            <a:r>
              <a:rPr>
                <a:latin typeface="Courier"/>
              </a:rPr>
              <a:t> </a:t>
            </a:r>
            <a:r>
              <a:rPr>
                <a:solidFill>
                  <a:srgbClr val="06287E"/>
                </a:solidFill>
                <a:latin typeface="Courier"/>
              </a:rPr>
              <a:t>c</a:t>
            </a:r>
            <a:r>
              <a:rPr>
                <a:latin typeface="Courier"/>
              </a:rPr>
              <a:t>(</a:t>
            </a:r>
            <a:r>
              <a:rPr>
                <a:solidFill>
                  <a:srgbClr val="4070A0"/>
                </a:solidFill>
                <a:latin typeface="Courier"/>
              </a:rPr>
              <a:t>"high"</a:t>
            </a:r>
            <a:r>
              <a:rPr>
                <a:latin typeface="Courier"/>
              </a:rPr>
              <a:t>, </a:t>
            </a:r>
            <a:r>
              <a:rPr>
                <a:solidFill>
                  <a:srgbClr val="4070A0"/>
                </a:solidFill>
                <a:latin typeface="Courier"/>
              </a:rPr>
              <a:t>"very_high"</a:t>
            </a:r>
            <a:r>
              <a:rPr>
                <a:latin typeface="Courier"/>
              </a:rPr>
              <a:t>)) </a:t>
            </a:r>
            <a:r>
              <a:rPr>
                <a:solidFill>
                  <a:srgbClr val="4070A0"/>
                </a:solidFill>
                <a:latin typeface="Courier"/>
              </a:rPr>
              <a:t>|</a:t>
            </a:r>
            <a:r>
              <a:rPr b="1">
                <a:solidFill>
                  <a:srgbClr val="FF0000"/>
                </a:solidFill>
                <a:latin typeface="Courier"/>
              </a:rPr>
              <a:t>&gt;</a:t>
            </a:r>
            <a:br/>
            <a:r>
              <a:rPr>
                <a:latin typeface="Courier"/>
              </a:rPr>
              <a:t>  </a:t>
            </a:r>
            <a:r>
              <a:rPr>
                <a:solidFill>
                  <a:srgbClr val="06287E"/>
                </a:solidFill>
                <a:latin typeface="Courier"/>
              </a:rPr>
              <a:t>count</a:t>
            </a:r>
            <a:r>
              <a:rPr>
                <a:latin typeface="Courier"/>
              </a:rPr>
              <a:t>()</a:t>
            </a:r>
          </a:p>
          <a:p>
            <a:pPr lvl="0" indent="0">
              <a:buNone/>
            </a:pPr>
            <a:r>
              <a:rPr>
                <a:latin typeface="Courier"/>
              </a:rPr>
              <a:t>## # A tibble: 1 × 1
##       n
##   &lt;int&gt;
## 1   886</a:t>
            </a:r>
          </a:p>
          <a:p>
            <a:pPr lvl="0" indent="0">
              <a:buNone/>
            </a:pPr>
            <a:r>
              <a:rPr i="1">
                <a:solidFill>
                  <a:srgbClr val="60A0B0"/>
                </a:solidFill>
                <a:latin typeface="Courier"/>
              </a:rPr>
              <a:t># A total of 886 days. </a:t>
            </a:r>
          </a:p>
          <a:p>
            <a:pPr lvl="0" marL="0" indent="0">
              <a:buNone/>
            </a:pPr>
            <a:r>
              <a:rPr/>
              <a:t>25. Make a boxplot (</a:t>
            </a:r>
            <a:r>
              <a:rPr>
                <a:latin typeface="Courier"/>
              </a:rPr>
              <a:t>boxplot()</a:t>
            </a:r>
            <a:r>
              <a:rPr/>
              <a:t>) that looks at earth year (“earth_year”) on the x-axis and minimum air temperature (“min_air_temp”) on the y-axis.</a:t>
            </a:r>
          </a:p>
          <a:p>
            <a:pPr lvl="0" indent="0">
              <a:buNone/>
            </a:pPr>
            <a:r>
              <a:rPr>
                <a:solidFill>
                  <a:srgbClr val="06287E"/>
                </a:solidFill>
                <a:latin typeface="Courier"/>
              </a:rPr>
              <a:t>boxplot</a:t>
            </a:r>
            <a:r>
              <a:rPr>
                <a:latin typeface="Courier"/>
              </a:rPr>
              <a:t>(mars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pull</a:t>
            </a:r>
            <a:r>
              <a:rPr>
                <a:latin typeface="Courier"/>
              </a:rPr>
              <a:t>(min_air_temp) </a:t>
            </a:r>
            <a:r>
              <a:rPr>
                <a:solidFill>
                  <a:srgbClr val="4070A0"/>
                </a:solidFill>
                <a:latin typeface="Courier"/>
              </a:rPr>
              <a:t>~</a:t>
            </a:r>
            <a:r>
              <a:rPr>
                <a:latin typeface="Courier"/>
              </a:rPr>
              <a:t> mars </a:t>
            </a:r>
            <a:r>
              <a:rPr>
                <a:solidFill>
                  <a:srgbClr val="4070A0"/>
                </a:solidFill>
                <a:latin typeface="Courier"/>
              </a:rPr>
              <a:t>|</a:t>
            </a:r>
            <a:r>
              <a:rPr b="1">
                <a:solidFill>
                  <a:srgbClr val="FF0000"/>
                </a:solidFill>
                <a:latin typeface="Courier"/>
              </a:rPr>
              <a:t>&gt;</a:t>
            </a:r>
            <a:r>
              <a:rPr>
                <a:latin typeface="Courier"/>
              </a:rPr>
              <a:t> </a:t>
            </a:r>
            <a:r>
              <a:rPr>
                <a:solidFill>
                  <a:srgbClr val="06287E"/>
                </a:solidFill>
                <a:latin typeface="Courier"/>
              </a:rPr>
              <a:t>pull</a:t>
            </a:r>
            <a:r>
              <a:rPr>
                <a:latin typeface="Courier"/>
              </a:rPr>
              <a:t>(earth_year))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__w/DaSEH/DaSEH/modules/HW/homework2_Key_files/figure-pptx/25response-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marL="0" indent="0">
              <a:buNone/>
            </a:pPr>
          </a:p>
          <a:p>
            <a:pPr lvl="0" marL="0" indent="0">
              <a:buNone/>
            </a:pPr>
            <a:r>
              <a:rPr/>
              <a:t>26. Knit your document into a report.</a:t>
            </a:r>
          </a:p>
          <a:p>
            <a:pPr lvl="0" marL="0" indent="0">
              <a:buNone/>
            </a:pPr>
            <a:r>
              <a:rPr/>
              <a:t>You use the knit button to do this. Make sure all your code is working first!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Words>
  <Application>Microsoft Macintosh PowerPoint</Application>
  <PresentationFormat>On-screen Show (16:9)</PresentationFormat>
  <Paragraphs>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Courier New</vt:lpstr>
      <vt:lpstr>Lato</vt:lpstr>
      <vt:lpstr>Montserrat</vt:lpstr>
      <vt:lpstr>Wingdings</vt:lpstr>
      <vt:lpstr>Office Theme</vt:lpstr>
      <vt:lpstr>Basic 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Homework 2 - Key</dc:title>
  <dc:creator/>
  <cp:keywords/>
  <dcterms:created xsi:type="dcterms:W3CDTF">2026-06-12T16:55:26Z</dcterms:created>
  <dcterms:modified xsi:type="dcterms:W3CDTF">2026-06-12T16:55:26Z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