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2100"/>
    <p:restoredTop autoAdjust="0" sz="94752"/>
  </p:normalViewPr>
  <p:slideViewPr>
    <p:cSldViewPr snapToGrid="0" snapToObjects="1">
      <p:cViewPr varScale="1">
        <p:scale>
          <a:sx d="100" n="198"/>
          <a:sy d="100" n="198"/>
        </p:scale>
        <p:origin x="1208"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 Id="rId5"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lvl1pPr algn="ctr">
              <a:defRPr sz="4000" baseline="0"/>
            </a:lvl1pPr>
          </a:lstStyle>
          <a:p>
            <a:r>
              <a:rPr lang="en-US" dirty="0"/>
              <a:t>Click to edit Master title style</a:t>
            </a:r>
          </a:p>
        </p:txBody>
      </p:sp>
      <p:sp>
        <p:nvSpPr>
          <p:cNvPr id="3" name="Subtitle 2"/>
          <p:cNvSpPr>
            <a:spLocks noGrp="1"/>
          </p:cNvSpPr>
          <p:nvPr>
            <p:ph type="subTitle" idx="1"/>
          </p:nvPr>
        </p:nvSpPr>
        <p:spPr>
          <a:xfrm>
            <a:off x="1371600" y="3881730"/>
            <a:ext cx="6400800" cy="34737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1026" name="Picture 2">
            <a:extLst>
              <a:ext uri="{FF2B5EF4-FFF2-40B4-BE49-F238E27FC236}">
                <a16:creationId xmlns:a16="http://schemas.microsoft.com/office/drawing/2014/main" id="{CE918C2E-CA3D-3E7E-792D-7E5EF12459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52696" y="289937"/>
            <a:ext cx="4638608" cy="259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5/12/26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buNone/>
        <a:defRPr sz="3300" kern="1200" baseline="0">
          <a:solidFill>
            <a:schemeClr val="tx1"/>
          </a:solidFill>
          <a:latin typeface="Montserrat" panose="00000500000000000000" pitchFamily="2" charset="77"/>
          <a:ea typeface="+mj-ea"/>
          <a:cs typeface="+mj-cs"/>
        </a:defRPr>
      </a:lvl1pPr>
    </p:titleStyle>
    <p:bodyStyle>
      <a:lvl1pPr marL="342900" indent="-342900" algn="l" defTabSz="342900" rtl="0" eaLnBrk="1" latinLnBrk="0" hangingPunct="1">
        <a:spcBef>
          <a:spcPct val="20000"/>
        </a:spcBef>
        <a:buFont typeface="Arial"/>
        <a:buChar char="•"/>
        <a:defRPr sz="1300" kern="1200" baseline="0">
          <a:solidFill>
            <a:schemeClr val="tx1"/>
          </a:solidFill>
          <a:latin typeface="Lato" panose="020F0502020204030203" pitchFamily="34" charset="0"/>
          <a:ea typeface="+mn-ea"/>
          <a:cs typeface="+mn-cs"/>
        </a:defRPr>
      </a:lvl1pPr>
      <a:lvl2pPr marL="6858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2pPr>
      <a:lvl3pPr marL="1028700" indent="-342900" algn="l" defTabSz="342900" rtl="0" eaLnBrk="1" latinLnBrk="0" hangingPunct="1">
        <a:spcBef>
          <a:spcPct val="20000"/>
        </a:spcBef>
        <a:buFont typeface="Wingdings" pitchFamily="2" charset="2"/>
        <a:buChar char="§"/>
        <a:defRPr sz="1100" kern="1200" baseline="0">
          <a:solidFill>
            <a:schemeClr val="tx1"/>
          </a:solidFill>
          <a:latin typeface="Lato" panose="020F0502020204030203" pitchFamily="34" charset="0"/>
          <a:ea typeface="+mn-ea"/>
          <a:cs typeface="+mn-cs"/>
        </a:defRPr>
      </a:lvl3pPr>
      <a:lvl4pPr marL="1371600" indent="-342900" algn="l" defTabSz="342900" rtl="0" eaLnBrk="1" latinLnBrk="0" hangingPunct="1">
        <a:spcBef>
          <a:spcPct val="20000"/>
        </a:spcBef>
        <a:buFont typeface="Arial" panose="020B0604020202020204" pitchFamily="34" charset="0"/>
        <a:buChar char="•"/>
        <a:defRPr sz="1100" kern="1200" baseline="0">
          <a:solidFill>
            <a:schemeClr val="tx1"/>
          </a:solidFill>
          <a:latin typeface="Lato" panose="020F0502020204030203" pitchFamily="34" charset="0"/>
          <a:ea typeface="+mn-ea"/>
          <a:cs typeface="+mn-cs"/>
        </a:defRPr>
      </a:lvl4pPr>
      <a:lvl5pPr marL="17145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seh.org/data/Baltimore_surface_water_quality_data.csv" TargetMode="External" /><Relationship Id="rId3" Type="http://schemas.openxmlformats.org/officeDocument/2006/relationships/hyperlink" Target="https://daseh.org/data/Baltimore_rainfall_HamiltonAve.csv"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p>
            <a:pPr lvl="0" marL="0" indent="0">
              <a:buNone/>
            </a:pPr>
            <a:r>
              <a:rPr/>
              <a:t>Introduction</a:t>
            </a:r>
            <a:r>
              <a:rPr/>
              <a:t> </a:t>
            </a:r>
            <a:r>
              <a:rPr/>
              <a:t>to</a:t>
            </a:r>
            <a:r>
              <a:rPr/>
              <a:t> </a:t>
            </a:r>
            <a:r>
              <a:rPr/>
              <a:t>R:</a:t>
            </a:r>
            <a:r>
              <a:rPr/>
              <a:t> </a:t>
            </a:r>
            <a:r>
              <a:rPr/>
              <a:t>Homework</a:t>
            </a:r>
            <a:r>
              <a:rPr/>
              <a:t> </a:t>
            </a:r>
            <a:r>
              <a:rPr/>
              <a:t>3</a:t>
            </a:r>
          </a:p>
        </p:txBody>
      </p:sp>
      <p:sp>
        <p:nvSpPr>
          <p:cNvPr id="3" name="Subtitle 2"/>
          <p:cNvSpPr>
            <a:spLocks noGrp="1"/>
          </p:cNvSpPr>
          <p:nvPr>
            <p:ph idx="1" type="subTitle"/>
          </p:nvPr>
        </p:nvSpPr>
        <p:spPr>
          <a:xfrm>
            <a:off x="1371600" y="3881730"/>
            <a:ext cx="6400800" cy="347370"/>
          </a:xfrm>
        </p:spPr>
        <p:txBody>
          <a:bodyPr/>
          <a:lstStyle/>
          <a:p>
            <a:pPr lvl="0" marL="0" indent="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spcBef>
                <a:spcPts val="3000"/>
              </a:spcBef>
              <a:buNone/>
            </a:pPr>
            <a:r>
              <a:rPr b="1"/>
              <a:t>Instructions</a:t>
            </a:r>
          </a:p>
          <a:p>
            <a:pPr lvl="0" marL="0" indent="0">
              <a:buNone/>
            </a:pPr>
            <a:r>
              <a:rPr/>
              <a:t>Homework is optional, but we recommend it so you can get the most out of this course.</a:t>
            </a:r>
          </a:p>
          <a:p>
            <a:pPr lvl="0" indent="0">
              <a:buNone/>
            </a:pPr>
            <a:r>
              <a:rPr i="1">
                <a:solidFill>
                  <a:srgbClr val="BA2121"/>
                </a:solidFill>
                <a:latin typeface="Courier"/>
              </a:rPr>
              <a:t>## you can add more, or change...these are suggestions</a:t>
            </a:r>
            <a:br/>
            <a:r>
              <a:rPr>
                <a:solidFill>
                  <a:srgbClr val="06287E"/>
                </a:solidFill>
                <a:latin typeface="Courier"/>
              </a:rPr>
              <a:t>library</a:t>
            </a:r>
            <a:r>
              <a:rPr>
                <a:latin typeface="Courier"/>
              </a:rPr>
              <a:t>(tidyverse)</a:t>
            </a:r>
            <a:br/>
            <a:r>
              <a:rPr>
                <a:solidFill>
                  <a:srgbClr val="06287E"/>
                </a:solidFill>
                <a:latin typeface="Courier"/>
              </a:rPr>
              <a:t>library</a:t>
            </a:r>
            <a:r>
              <a:rPr>
                <a:latin typeface="Courier"/>
              </a:rPr>
              <a:t>(readr)</a:t>
            </a:r>
            <a:br/>
            <a:r>
              <a:rPr>
                <a:solidFill>
                  <a:srgbClr val="06287E"/>
                </a:solidFill>
                <a:latin typeface="Courier"/>
              </a:rPr>
              <a:t>library</a:t>
            </a:r>
            <a:r>
              <a:rPr>
                <a:latin typeface="Courier"/>
              </a:rPr>
              <a:t>(dplyr)</a:t>
            </a:r>
            <a:br/>
            <a:r>
              <a:rPr>
                <a:solidFill>
                  <a:srgbClr val="06287E"/>
                </a:solidFill>
                <a:latin typeface="Courier"/>
              </a:rPr>
              <a:t>library</a:t>
            </a:r>
            <a:r>
              <a:rPr>
                <a:latin typeface="Courier"/>
              </a:rPr>
              <a:t>(ggplot2)</a:t>
            </a:r>
            <a:br/>
            <a:r>
              <a:rPr>
                <a:solidFill>
                  <a:srgbClr val="06287E"/>
                </a:solidFill>
                <a:latin typeface="Courier"/>
              </a:rPr>
              <a:t>library</a:t>
            </a:r>
            <a:r>
              <a:rPr>
                <a:latin typeface="Courier"/>
              </a:rPr>
              <a:t>(tidyr)</a:t>
            </a:r>
          </a:p>
          <a:p>
            <a:pPr lvl="0" marL="0" indent="0">
              <a:spcBef>
                <a:spcPts val="3000"/>
              </a:spcBef>
              <a:buNone/>
            </a:pPr>
            <a:r>
              <a:rPr b="1"/>
              <a:t>Problem Set</a:t>
            </a:r>
          </a:p>
          <a:p>
            <a:pPr lvl="0" marL="0" indent="0">
              <a:buNone/>
            </a:pPr>
            <a:r>
              <a:rPr/>
              <a:t>1. Bring the following dataset into R.</a:t>
            </a:r>
          </a:p>
          <a:p>
            <a:pPr lvl="1"/>
            <a:r>
              <a:rPr/>
              <a:t>The dataset is located at: </a:t>
            </a:r>
            <a:r>
              <a:rPr>
                <a:hlinkClick r:id="rId2"/>
              </a:rPr>
              <a:t>https://daseh.org/data/Baltimore_surface_water_quality_data.csv</a:t>
            </a:r>
            <a:r>
              <a:rPr/>
              <a:t>.</a:t>
            </a:r>
            <a:br/>
          </a:p>
          <a:p>
            <a:pPr lvl="1"/>
            <a:r>
              <a:rPr/>
              <a:t>You can use the link, download it, or use whatever method you like for getting the file.</a:t>
            </a:r>
            <a:br/>
          </a:p>
          <a:p>
            <a:pPr lvl="1"/>
            <a:r>
              <a:rPr/>
              <a:t>Once you get the file, read the dataset in using </a:t>
            </a:r>
            <a:r>
              <a:rPr>
                <a:latin typeface="Courier"/>
              </a:rPr>
              <a:t>read_csv()</a:t>
            </a:r>
            <a:r>
              <a:rPr/>
              <a:t> and assign it the name </a:t>
            </a:r>
            <a:r>
              <a:rPr>
                <a:latin typeface="Courier"/>
              </a:rPr>
              <a:t>water</a:t>
            </a:r>
            <a:r>
              <a:rPr/>
              <a:t>.</a:t>
            </a:r>
          </a:p>
          <a:p>
            <a:pPr lvl="0" marL="0" indent="0">
              <a:buNone/>
            </a:pPr>
            <a:r>
              <a:rPr/>
              <a:t>2. Check out and clean the columns of the </a:t>
            </a:r>
            <a:r>
              <a:rPr>
                <a:latin typeface="Courier"/>
              </a:rPr>
              <a:t>water</a:t>
            </a:r>
            <a:r>
              <a:rPr/>
              <a:t> object.</a:t>
            </a:r>
          </a:p>
          <a:p>
            <a:pPr lvl="1"/>
            <a:r>
              <a:rPr/>
              <a:t>Run the </a:t>
            </a:r>
            <a:r>
              <a:rPr>
                <a:latin typeface="Courier"/>
              </a:rPr>
              <a:t>colnames()</a:t>
            </a:r>
            <a:r>
              <a:rPr/>
              <a:t> function to take a look at the dataset column names.</a:t>
            </a:r>
          </a:p>
          <a:p>
            <a:pPr lvl="1"/>
            <a:r>
              <a:rPr/>
              <a:t>Rename the third column of </a:t>
            </a:r>
            <a:r>
              <a:rPr>
                <a:latin typeface="Courier"/>
              </a:rPr>
              <a:t>water</a:t>
            </a:r>
            <a:r>
              <a:rPr/>
              <a:t> to “GPS_North” using the </a:t>
            </a:r>
            <a:r>
              <a:rPr>
                <a:latin typeface="Courier"/>
              </a:rPr>
              <a:t>rename()</a:t>
            </a:r>
            <a:r>
              <a:rPr/>
              <a:t> function (tidyverse).</a:t>
            </a:r>
            <a:br/>
          </a:p>
          <a:p>
            <a:pPr lvl="1"/>
            <a:r>
              <a:rPr/>
              <a:t>Then rename the fourth column to “GPS_West”.</a:t>
            </a:r>
            <a:br/>
          </a:p>
          <a:p>
            <a:pPr lvl="1"/>
            <a:r>
              <a:rPr/>
              <a:t>Reassign the changed data to </a:t>
            </a:r>
            <a:r>
              <a:rPr>
                <a:latin typeface="Courier"/>
              </a:rPr>
              <a:t>water</a:t>
            </a:r>
            <a:r>
              <a:rPr/>
              <a:t>.</a:t>
            </a:r>
          </a:p>
          <a:p>
            <a:pPr lvl="0" marL="0" indent="0">
              <a:buNone/>
            </a:pPr>
            <a:r>
              <a:rPr/>
              <a:t>3. Clean up the “datetime” column.</a:t>
            </a:r>
          </a:p>
          <a:p>
            <a:pPr lvl="1"/>
            <a:r>
              <a:rPr/>
              <a:t>Convert the “datetime” column to POSIXct format using the </a:t>
            </a:r>
            <a:r>
              <a:rPr>
                <a:latin typeface="Courier"/>
              </a:rPr>
              <a:t>mdy_hm()</a:t>
            </a:r>
            <a:r>
              <a:rPr/>
              <a:t> functions from the </a:t>
            </a:r>
            <a:r>
              <a:rPr>
                <a:latin typeface="Courier"/>
              </a:rPr>
              <a:t>lubridate</a:t>
            </a:r>
            <a:r>
              <a:rPr/>
              <a:t> package. Call the new column “datetime_fixed”.</a:t>
            </a:r>
            <a:br/>
          </a:p>
          <a:p>
            <a:pPr lvl="1"/>
            <a:r>
              <a:rPr/>
              <a:t>Then create the variables “Month” and “Year” by extracting the month and year from the “datetime” column. (HINT: use </a:t>
            </a:r>
            <a:r>
              <a:rPr>
                <a:latin typeface="Courier"/>
              </a:rPr>
              <a:t>mutate()</a:t>
            </a:r>
            <a:r>
              <a:rPr/>
              <a:t> and </a:t>
            </a:r>
            <a:r>
              <a:rPr>
                <a:latin typeface="Courier"/>
              </a:rPr>
              <a:t>year(datetime_fixed)</a:t>
            </a:r>
            <a:r>
              <a:rPr/>
              <a:t> to create your new variables.)</a:t>
            </a:r>
          </a:p>
          <a:p>
            <a:pPr lvl="1"/>
            <a:r>
              <a:rPr/>
              <a:t>Reassign to </a:t>
            </a:r>
            <a:r>
              <a:rPr>
                <a:latin typeface="Courier"/>
              </a:rPr>
              <a:t>water</a:t>
            </a:r>
            <a:r>
              <a:rPr/>
              <a:t>.</a:t>
            </a:r>
          </a:p>
          <a:p>
            <a:pPr lvl="0" marL="0" indent="0">
              <a:buNone/>
            </a:pPr>
            <a:r>
              <a:rPr/>
              <a:t>4. Separate “datetime_fixed” into two separate columns using the </a:t>
            </a:r>
            <a:r>
              <a:rPr>
                <a:latin typeface="Courier"/>
              </a:rPr>
              <a:t>separate()</a:t>
            </a:r>
            <a:r>
              <a:rPr/>
              <a:t> function. Use </a:t>
            </a:r>
            <a:r>
              <a:rPr>
                <a:latin typeface="Courier"/>
              </a:rPr>
              <a:t>into = c("date", "time")</a:t>
            </a:r>
            <a:r>
              <a:rPr/>
              <a:t> and </a:t>
            </a:r>
            <a:r>
              <a:rPr>
                <a:latin typeface="Courier"/>
              </a:rPr>
              <a:t>sep = " "</a:t>
            </a:r>
            <a:r>
              <a:rPr/>
              <a:t> arguments. Replace the original </a:t>
            </a:r>
            <a:r>
              <a:rPr>
                <a:latin typeface="Courier"/>
              </a:rPr>
              <a:t>water</a:t>
            </a:r>
            <a:r>
              <a:rPr/>
              <a:t> object by reassigning the new dataset to </a:t>
            </a:r>
            <a:r>
              <a:rPr>
                <a:latin typeface="Courier"/>
              </a:rPr>
              <a:t>water</a:t>
            </a:r>
            <a:r>
              <a:rPr/>
              <a:t>.</a:t>
            </a:r>
          </a:p>
          <a:p>
            <a:pPr lvl="0" marL="0" indent="0">
              <a:buNone/>
            </a:pPr>
            <a:r>
              <a:rPr/>
              <a:t>5. What is the class for “Result” column? Use </a:t>
            </a:r>
            <a:r>
              <a:rPr>
                <a:latin typeface="Courier"/>
              </a:rPr>
              <a:t>pull()</a:t>
            </a:r>
            <a:r>
              <a:rPr/>
              <a:t>. Can you take the mean value? Why or why not?</a:t>
            </a:r>
          </a:p>
          <a:p>
            <a:pPr lvl="0" marL="0" indent="0">
              <a:buNone/>
            </a:pPr>
            <a:r>
              <a:rPr/>
              <a:t>6. Some of the values of the “Result” column contain symbols “&lt;”, “&gt;”, and/or “=”. Replace these:</a:t>
            </a:r>
          </a:p>
          <a:p>
            <a:pPr lvl="1"/>
            <a:r>
              <a:rPr/>
              <a:t>Using </a:t>
            </a:r>
            <a:r>
              <a:rPr>
                <a:latin typeface="Courier"/>
              </a:rPr>
              <a:t>mutate()</a:t>
            </a:r>
            <a:r>
              <a:rPr/>
              <a:t> and </a:t>
            </a:r>
            <a:r>
              <a:rPr>
                <a:latin typeface="Courier"/>
              </a:rPr>
              <a:t>str_remove()</a:t>
            </a:r>
            <a:r>
              <a:rPr/>
              <a:t>.</a:t>
            </a:r>
            <a:br/>
          </a:p>
          <a:p>
            <a:pPr lvl="1"/>
            <a:r>
              <a:rPr/>
              <a:t>Repeat 3 times for patterns: </a:t>
            </a:r>
            <a:r>
              <a:rPr>
                <a:latin typeface="Courier"/>
              </a:rPr>
              <a:t>pattern = "&lt;"</a:t>
            </a:r>
            <a:r>
              <a:rPr/>
              <a:t> , </a:t>
            </a:r>
            <a:r>
              <a:rPr>
                <a:latin typeface="Courier"/>
              </a:rPr>
              <a:t>pattern = "&gt;"</a:t>
            </a:r>
            <a:r>
              <a:rPr/>
              <a:t>, then </a:t>
            </a:r>
            <a:r>
              <a:rPr>
                <a:latin typeface="Courier"/>
              </a:rPr>
              <a:t>pattern = "="</a:t>
            </a:r>
            <a:r>
              <a:rPr/>
              <a:t>.</a:t>
            </a:r>
            <a:br/>
          </a:p>
          <a:p>
            <a:pPr lvl="1"/>
            <a:r>
              <a:rPr/>
              <a:t>Reassign the object to </a:t>
            </a:r>
            <a:r>
              <a:rPr>
                <a:latin typeface="Courier"/>
              </a:rPr>
              <a:t>water</a:t>
            </a:r>
            <a:r>
              <a:rPr/>
              <a:t> each time.</a:t>
            </a:r>
          </a:p>
          <a:p>
            <a:pPr lvl="0" marL="0" indent="0">
              <a:buNone/>
            </a:pPr>
            <a:r>
              <a:rPr/>
              <a:t>7. Use </a:t>
            </a:r>
            <a:r>
              <a:rPr>
                <a:latin typeface="Courier"/>
              </a:rPr>
              <a:t>mutate()</a:t>
            </a:r>
            <a:r>
              <a:rPr/>
              <a:t> and </a:t>
            </a:r>
            <a:r>
              <a:rPr>
                <a:latin typeface="Courier"/>
              </a:rPr>
              <a:t>as.numeric()</a:t>
            </a:r>
            <a:r>
              <a:rPr/>
              <a:t> to convert the “Result” column to numeric class. Then convert “Parameter” to a factor with </a:t>
            </a:r>
            <a:r>
              <a:rPr>
                <a:latin typeface="Courier"/>
              </a:rPr>
              <a:t>as.factor()</a:t>
            </a:r>
            <a:r>
              <a:rPr/>
              <a:t>. Reassign to </a:t>
            </a:r>
            <a:r>
              <a:rPr>
                <a:latin typeface="Courier"/>
              </a:rPr>
              <a:t>water</a:t>
            </a:r>
            <a:r>
              <a:rPr/>
              <a:t> both times.</a:t>
            </a:r>
          </a:p>
          <a:p>
            <a:pPr lvl="0" marL="0" indent="0">
              <a:buNone/>
            </a:pPr>
            <a:r>
              <a:rPr/>
              <a:t>8. How many different measurements (levels) are stored in the “Parameter” column? Use </a:t>
            </a:r>
            <a:r>
              <a:rPr>
                <a:latin typeface="Courier"/>
              </a:rPr>
              <a:t>pull()</a:t>
            </a:r>
            <a:r>
              <a:rPr/>
              <a:t> and </a:t>
            </a:r>
            <a:r>
              <a:rPr>
                <a:latin typeface="Courier"/>
              </a:rPr>
              <a:t>levels()</a:t>
            </a:r>
            <a:r>
              <a:rPr/>
              <a:t>.</a:t>
            </a:r>
          </a:p>
          <a:p>
            <a:pPr lvl="0" marL="0" indent="0">
              <a:buNone/>
            </a:pPr>
            <a:r>
              <a:rPr/>
              <a:t>9. Use the </a:t>
            </a:r>
            <a:r>
              <a:rPr>
                <a:latin typeface="Courier"/>
              </a:rPr>
              <a:t>pct_complete()</a:t>
            </a:r>
            <a:r>
              <a:rPr/>
              <a:t> function in the </a:t>
            </a:r>
            <a:r>
              <a:rPr>
                <a:latin typeface="Courier"/>
              </a:rPr>
              <a:t>naniar</a:t>
            </a:r>
            <a:r>
              <a:rPr/>
              <a:t> package to determine the percent missing data in “Results”. You might need to load and install </a:t>
            </a:r>
            <a:r>
              <a:rPr>
                <a:latin typeface="Courier"/>
              </a:rPr>
              <a:t>naniar</a:t>
            </a:r>
            <a:r>
              <a:rPr/>
              <a:t>!</a:t>
            </a:r>
          </a:p>
          <a:p>
            <a:pPr lvl="0" marL="0" indent="0">
              <a:buNone/>
            </a:pPr>
            <a:r>
              <a:rPr/>
              <a:t>10. Are there any parameter levels that have an incomplete record in </a:t>
            </a:r>
            <a:r>
              <a:rPr>
                <a:latin typeface="Courier"/>
              </a:rPr>
              <a:t>water</a:t>
            </a:r>
            <a:r>
              <a:rPr/>
              <a:t> across all years?</a:t>
            </a:r>
          </a:p>
          <a:p>
            <a:pPr lvl="1"/>
            <a:r>
              <a:rPr/>
              <a:t>Create a new dataframe called </a:t>
            </a:r>
            <a:r>
              <a:rPr>
                <a:latin typeface="Courier"/>
              </a:rPr>
              <a:t>na_counts</a:t>
            </a:r>
            <a:r>
              <a:rPr/>
              <a:t>.</a:t>
            </a:r>
          </a:p>
          <a:p>
            <a:pPr lvl="1"/>
            <a:r>
              <a:rPr/>
              <a:t>Use </a:t>
            </a:r>
            <a:r>
              <a:rPr>
                <a:latin typeface="Courier"/>
              </a:rPr>
              <a:t>group_by()</a:t>
            </a:r>
            <a:r>
              <a:rPr/>
              <a:t> on “Parameter”</a:t>
            </a:r>
          </a:p>
          <a:p>
            <a:pPr lvl="1"/>
            <a:r>
              <a:rPr/>
              <a:t>Use </a:t>
            </a:r>
            <a:r>
              <a:rPr>
                <a:latin typeface="Courier"/>
              </a:rPr>
              <a:t>summarize()</a:t>
            </a:r>
            <a:r>
              <a:rPr/>
              <a:t> on Result checking for NA values with </a:t>
            </a:r>
            <a:r>
              <a:rPr>
                <a:latin typeface="Courier"/>
              </a:rPr>
              <a:t>sum(is.na(Result))</a:t>
            </a:r>
            <a:r>
              <a:rPr/>
              <a:t>.</a:t>
            </a:r>
          </a:p>
          <a:p>
            <a:pPr lvl="1"/>
            <a:r>
              <a:rPr/>
              <a:t>Use </a:t>
            </a:r>
            <a:r>
              <a:rPr>
                <a:latin typeface="Courier"/>
              </a:rPr>
              <a:t>filter()</a:t>
            </a:r>
            <a:r>
              <a:rPr/>
              <a:t> to keep only rows with &gt; 0 NA values.</a:t>
            </a:r>
          </a:p>
          <a:p>
            <a:pPr lvl="0" marL="0" indent="0">
              <a:buNone/>
            </a:pPr>
            <a:r>
              <a:rPr/>
              <a:t>11. Subset </a:t>
            </a:r>
            <a:r>
              <a:rPr>
                <a:latin typeface="Courier"/>
              </a:rPr>
              <a:t>water</a:t>
            </a:r>
            <a:r>
              <a:rPr/>
              <a:t> so that it only contains results for the years 2010 - 2024, using </a:t>
            </a:r>
            <a:r>
              <a:rPr>
                <a:latin typeface="Courier"/>
              </a:rPr>
              <a:t>&amp;</a:t>
            </a:r>
            <a:r>
              <a:rPr/>
              <a:t> and the </a:t>
            </a:r>
            <a:r>
              <a:rPr>
                <a:latin typeface="Courier"/>
              </a:rPr>
              <a:t>filter()</a:t>
            </a:r>
            <a:r>
              <a:rPr/>
              <a:t> function. Make sure to include both the years 2010 and 2024. Confirm your filtering worked by looking at the </a:t>
            </a:r>
            <a:r>
              <a:rPr>
                <a:latin typeface="Courier"/>
              </a:rPr>
              <a:t>range()</a:t>
            </a:r>
            <a:r>
              <a:rPr/>
              <a:t> of “Year”. Assign this subsetted tibble to </a:t>
            </a:r>
            <a:r>
              <a:rPr>
                <a:latin typeface="Courier"/>
              </a:rPr>
              <a:t>water_subset</a:t>
            </a:r>
            <a:r>
              <a:rPr/>
              <a:t>.</a:t>
            </a:r>
          </a:p>
          <a:p>
            <a:pPr lvl="0" marL="0" indent="0">
              <a:buNone/>
            </a:pPr>
            <a:r>
              <a:rPr/>
              <a:t>12. Subset </a:t>
            </a:r>
            <a:r>
              <a:rPr>
                <a:latin typeface="Courier"/>
              </a:rPr>
              <a:t>water_subset</a:t>
            </a:r>
            <a:r>
              <a:rPr/>
              <a:t> so that the “Parameter” column only contains results from the tests for “Dissolved Oxygen”, “pH”, and “Water Temperature”. Use the </a:t>
            </a:r>
            <a:r>
              <a:rPr>
                <a:latin typeface="Courier"/>
              </a:rPr>
              <a:t>%in%</a:t>
            </a:r>
            <a:r>
              <a:rPr/>
              <a:t> operator and the </a:t>
            </a:r>
            <a:r>
              <a:rPr>
                <a:latin typeface="Courier"/>
              </a:rPr>
              <a:t>filter()</a:t>
            </a:r>
            <a:r>
              <a:rPr/>
              <a:t> function. Make sure to reassign to </a:t>
            </a:r>
            <a:r>
              <a:rPr>
                <a:latin typeface="Courier"/>
              </a:rPr>
              <a:t>water_subset</a:t>
            </a:r>
            <a:r>
              <a:rPr/>
              <a:t>.</a:t>
            </a:r>
          </a:p>
          <a:p>
            <a:pPr lvl="0" marL="0" indent="0">
              <a:buNone/>
            </a:pPr>
            <a:r>
              <a:rPr/>
              <a:t>13. Load the new dataset “Baltimore_rainfall_HamiltonAve.csv” into R.</a:t>
            </a:r>
          </a:p>
          <a:p>
            <a:pPr lvl="1"/>
            <a:r>
              <a:rPr/>
              <a:t>The dataset is located at: </a:t>
            </a:r>
            <a:r>
              <a:rPr>
                <a:hlinkClick r:id="rId3"/>
              </a:rPr>
              <a:t>https://daseh.org/data/Baltimore_rainfall_HamiltonAve.csv</a:t>
            </a:r>
            <a:r>
              <a:rPr/>
              <a:t>.</a:t>
            </a:r>
          </a:p>
          <a:p>
            <a:pPr lvl="1"/>
            <a:r>
              <a:rPr/>
              <a:t>You can use the link, download it, or use whatever method you like for getting the file.</a:t>
            </a:r>
          </a:p>
          <a:p>
            <a:pPr lvl="1"/>
            <a:r>
              <a:rPr/>
              <a:t>Once you get the file, read the dataset in using </a:t>
            </a:r>
            <a:r>
              <a:rPr>
                <a:latin typeface="Courier"/>
              </a:rPr>
              <a:t>read_csv()</a:t>
            </a:r>
            <a:r>
              <a:rPr/>
              <a:t> and assign it the name </a:t>
            </a:r>
            <a:r>
              <a:rPr>
                <a:latin typeface="Courier"/>
              </a:rPr>
              <a:t>rainfall</a:t>
            </a:r>
            <a:r>
              <a:rPr/>
              <a:t>.</a:t>
            </a:r>
          </a:p>
          <a:p>
            <a:pPr lvl="0" marL="0" indent="0">
              <a:buNone/>
            </a:pPr>
            <a:r>
              <a:rPr/>
              <a:t>This dataset contains measured precipitation by month, as collected near the Hamilton Ave testing location in Baltimore.</a:t>
            </a:r>
          </a:p>
          <a:p>
            <a:pPr lvl="0" marL="0" indent="0">
              <a:buNone/>
            </a:pPr>
            <a:r>
              <a:rPr/>
              <a:t>14. Reshape </a:t>
            </a:r>
            <a:r>
              <a:rPr>
                <a:latin typeface="Courier"/>
              </a:rPr>
              <a:t>rainfall</a:t>
            </a:r>
            <a:r>
              <a:rPr/>
              <a:t> into long format using </a:t>
            </a:r>
            <a:r>
              <a:rPr>
                <a:latin typeface="Courier"/>
              </a:rPr>
              <a:t>pivot_longer()</a:t>
            </a:r>
            <a:r>
              <a:rPr/>
              <a:t>. The reshaped dataset should contain three columns: year (“Year”), month (“Month”), and amount of rainfall (“Precip”).</a:t>
            </a:r>
          </a:p>
          <a:p>
            <a:pPr lvl="1"/>
            <a:r>
              <a:rPr/>
              <a:t>Pivot all columns except “Month”. </a:t>
            </a:r>
            <a:r>
              <a:rPr b="1"/>
              <a:t>Hint:</a:t>
            </a:r>
            <a:r>
              <a:rPr/>
              <a:t> listing </a:t>
            </a:r>
            <a:r>
              <a:rPr>
                <a:latin typeface="Courier"/>
              </a:rPr>
              <a:t>!COLUMN</a:t>
            </a:r>
            <a:r>
              <a:rPr/>
              <a:t> or </a:t>
            </a:r>
            <a:r>
              <a:rPr>
                <a:latin typeface="Courier"/>
              </a:rPr>
              <a:t>-COLUMN</a:t>
            </a:r>
            <a:r>
              <a:rPr/>
              <a:t> means everything except COLUMN.</a:t>
            </a:r>
            <a:br/>
          </a:p>
          <a:p>
            <a:pPr lvl="1"/>
            <a:r>
              <a:rPr/>
              <a:t>Make sure </a:t>
            </a:r>
            <a:r>
              <a:rPr>
                <a:latin typeface="Courier"/>
              </a:rPr>
              <a:t>names_to</a:t>
            </a:r>
            <a:r>
              <a:rPr/>
              <a:t> is “Year” and </a:t>
            </a:r>
            <a:r>
              <a:rPr>
                <a:latin typeface="Courier"/>
              </a:rPr>
              <a:t>values_to</a:t>
            </a:r>
            <a:r>
              <a:rPr/>
              <a:t> is “Precip”.</a:t>
            </a:r>
            <a:br/>
          </a:p>
          <a:p>
            <a:pPr lvl="1"/>
            <a:r>
              <a:rPr/>
              <a:t>Assign the reshaped dataset to </a:t>
            </a:r>
            <a:r>
              <a:rPr>
                <a:latin typeface="Courier"/>
              </a:rPr>
              <a:t>rainfall_long</a:t>
            </a:r>
            <a:r>
              <a:rPr/>
              <a:t>.</a:t>
            </a:r>
          </a:p>
          <a:p>
            <a:pPr lvl="0" marL="0" indent="0">
              <a:buNone/>
            </a:pPr>
            <a:r>
              <a:rPr/>
              <a:t>15. How many possible “Year” and “Month” combinations are in </a:t>
            </a:r>
            <a:r>
              <a:rPr>
                <a:latin typeface="Courier"/>
              </a:rPr>
              <a:t>rainfall_long</a:t>
            </a:r>
            <a:r>
              <a:rPr/>
              <a:t>? Use </a:t>
            </a:r>
            <a:r>
              <a:rPr>
                <a:latin typeface="Courier"/>
              </a:rPr>
              <a:t>count()</a:t>
            </a:r>
            <a:r>
              <a:rPr/>
              <a:t>. How does this compare to </a:t>
            </a:r>
            <a:r>
              <a:rPr>
                <a:latin typeface="Courier"/>
              </a:rPr>
              <a:t>nrow()</a:t>
            </a:r>
            <a:r>
              <a:rPr/>
              <a:t>? Can you use this information to determine the number of observations per each Year and Month combination?</a:t>
            </a:r>
          </a:p>
          <a:p>
            <a:pPr lvl="0" marL="0" indent="0">
              <a:buNone/>
            </a:pPr>
            <a:r>
              <a:rPr/>
              <a:t>16. We would like to join the rainfall measurements dataset with the Baltimore surface water quality dataset, but we need to do a bit more wrangling first. Because the rainfall measures were collected near the Hamilton Ave water testing site, let’s keep only the Hamilton Ave data from the </a:t>
            </a:r>
            <a:r>
              <a:rPr>
                <a:latin typeface="Courier"/>
              </a:rPr>
              <a:t>water_subset</a:t>
            </a:r>
            <a:r>
              <a:rPr/>
              <a:t> data, using </a:t>
            </a:r>
            <a:r>
              <a:rPr>
                <a:latin typeface="Courier"/>
              </a:rPr>
              <a:t>filter()</a:t>
            </a:r>
            <a:r>
              <a:rPr/>
              <a:t>. Assign this to </a:t>
            </a:r>
            <a:r>
              <a:rPr>
                <a:latin typeface="Courier"/>
              </a:rPr>
              <a:t>water_Ham</a:t>
            </a:r>
            <a:r>
              <a:rPr/>
              <a:t>.</a:t>
            </a:r>
          </a:p>
          <a:p>
            <a:pPr lvl="1"/>
            <a:r>
              <a:rPr/>
              <a:t>The “Station” column should be “HAMILTON AVE.”</a:t>
            </a:r>
          </a:p>
          <a:p>
            <a:pPr lvl="0" marL="0" indent="0">
              <a:buNone/>
            </a:pPr>
            <a:r>
              <a:rPr/>
              <a:t>17. Right-join </a:t>
            </a:r>
            <a:r>
              <a:rPr>
                <a:latin typeface="Courier"/>
              </a:rPr>
              <a:t>water_Ham</a:t>
            </a:r>
            <a:r>
              <a:rPr/>
              <a:t> and </a:t>
            </a:r>
            <a:r>
              <a:rPr>
                <a:latin typeface="Courier"/>
              </a:rPr>
              <a:t>rainfall_long</a:t>
            </a:r>
            <a:r>
              <a:rPr/>
              <a:t> by “Month” and “Year” using </a:t>
            </a:r>
            <a:r>
              <a:rPr>
                <a:latin typeface="Courier"/>
              </a:rPr>
              <a:t>right_join()</a:t>
            </a:r>
            <a:r>
              <a:rPr/>
              <a:t>. Assign the joined dataset to the name </a:t>
            </a:r>
            <a:r>
              <a:rPr>
                <a:latin typeface="Courier"/>
              </a:rPr>
              <a:t>water_rain</a:t>
            </a:r>
            <a:r>
              <a:rPr/>
              <a:t>. Did this join attempt work? Why or why not?</a:t>
            </a:r>
          </a:p>
          <a:p>
            <a:pPr lvl="0" marL="0" indent="0">
              <a:buNone/>
            </a:pPr>
            <a:r>
              <a:rPr/>
              <a:t>18. Check the class of the “Month” column in each dataset. Reformat “Month” in </a:t>
            </a:r>
            <a:r>
              <a:rPr>
                <a:latin typeface="Courier"/>
              </a:rPr>
              <a:t>rainfall_long</a:t>
            </a:r>
            <a:r>
              <a:rPr/>
              <a:t> so that it matches the format in </a:t>
            </a:r>
            <a:r>
              <a:rPr>
                <a:latin typeface="Courier"/>
              </a:rPr>
              <a:t>water_Ham</a:t>
            </a:r>
            <a:r>
              <a:rPr/>
              <a:t>. Use </a:t>
            </a:r>
            <a:r>
              <a:rPr>
                <a:latin typeface="Courier"/>
              </a:rPr>
              <a:t>case_when()</a:t>
            </a:r>
            <a:r>
              <a:rPr/>
              <a:t> and </a:t>
            </a:r>
            <a:r>
              <a:rPr>
                <a:latin typeface="Courier"/>
              </a:rPr>
              <a:t>mutate()</a:t>
            </a:r>
            <a:r>
              <a:rPr/>
              <a:t>, then reassign to </a:t>
            </a:r>
            <a:r>
              <a:rPr>
                <a:latin typeface="Courier"/>
              </a:rPr>
              <a:t>rainfall_long</a:t>
            </a:r>
            <a:r>
              <a:rPr/>
              <a:t>.</a:t>
            </a:r>
          </a:p>
          <a:p>
            <a:pPr lvl="0" marL="0" indent="0">
              <a:buNone/>
            </a:pPr>
            <a:r>
              <a:rPr/>
              <a:t>19. NOW try to right-join </a:t>
            </a:r>
            <a:r>
              <a:rPr>
                <a:latin typeface="Courier"/>
              </a:rPr>
              <a:t>water_Ham</a:t>
            </a:r>
            <a:r>
              <a:rPr/>
              <a:t> and </a:t>
            </a:r>
            <a:r>
              <a:rPr>
                <a:latin typeface="Courier"/>
              </a:rPr>
              <a:t>rainfall_long</a:t>
            </a:r>
            <a:r>
              <a:rPr/>
              <a:t> by “Month” and “Year” and assign the joined dataset to the name </a:t>
            </a:r>
            <a:r>
              <a:rPr>
                <a:latin typeface="Courier"/>
              </a:rPr>
              <a:t>water_rain</a:t>
            </a:r>
            <a:r>
              <a:rPr/>
              <a:t>. Did this join attempt work?</a:t>
            </a:r>
          </a:p>
          <a:p>
            <a:pPr lvl="0" marL="0" indent="0">
              <a:buNone/>
            </a:pPr>
            <a:r>
              <a:rPr/>
              <a:t>20. Fix the differences between the classes of “Year” by changing </a:t>
            </a:r>
            <a:r>
              <a:rPr>
                <a:latin typeface="Courier"/>
              </a:rPr>
              <a:t>rainfall_long</a:t>
            </a:r>
            <a:r>
              <a:rPr/>
              <a:t>. Then right-join the two datasets to make “water_rain”.</a:t>
            </a:r>
          </a:p>
          <a:p>
            <a:pPr lvl="0" marL="0" indent="0">
              <a:buNone/>
            </a:pPr>
            <a:r>
              <a:rPr/>
              <a:t>21. Subset </a:t>
            </a:r>
            <a:r>
              <a:rPr>
                <a:latin typeface="Courier"/>
              </a:rPr>
              <a:t>water_rain</a:t>
            </a:r>
            <a:r>
              <a:rPr/>
              <a:t> so that “Parameter” is “pH”. Plot points with “Precip” on the x axis, “Result” on the y axis, and “Year” as color. Facet the plot by Month. You can use esquisse or ggplot (whichever you prefer).</a:t>
            </a:r>
          </a:p>
          <a:p>
            <a:pPr lvl="0" marL="0" indent="0">
              <a:buNone/>
            </a:pPr>
            <a:r>
              <a:rPr/>
              <a:t>22. Create a new plot changing the measurement units. This time, subset </a:t>
            </a:r>
            <a:r>
              <a:rPr>
                <a:latin typeface="Courier"/>
              </a:rPr>
              <a:t>water_rain</a:t>
            </a:r>
            <a:r>
              <a:rPr/>
              <a:t> so that “Parameter” is “Water Temperature”. Plot points with “Precip” on the x axis, “Result” on the y axis, and “Year” as color. Facet the plot by Month. You can use esquisse or ggplot (whichever you prefer). Do the temperatures follow the expected seasonal climate across months (highs and lows)?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Words>
  <Application>Microsoft Macintosh PowerPoint</Application>
  <PresentationFormat>On-screen Show (16:9)</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Courier New</vt:lpstr>
      <vt:lpstr>Lato</vt:lpstr>
      <vt:lpstr>Montserrat</vt:lpstr>
      <vt:lpstr>Wingdings</vt:lpstr>
      <vt:lpstr>Office Theme</vt:lpstr>
      <vt:lpstr>Basic 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 Homework 3</dc:title>
  <dc:creator/>
  <cp:keywords/>
  <dcterms:created xsi:type="dcterms:W3CDTF">2026-06-12T16:55:45Z</dcterms:created>
  <dcterms:modified xsi:type="dcterms:W3CDTF">2026-06-12T16:55:45Z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
  </property>
</Properties>
</file>