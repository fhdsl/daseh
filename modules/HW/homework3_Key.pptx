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2100"/>
    <p:restoredTop autoAdjust="0" sz="94752"/>
  </p:normalViewPr>
  <p:slideViewPr>
    <p:cSldViewPr snapToGrid="0" snapToObjects="1">
      <p:cViewPr varScale="1">
        <p:scale>
          <a:sx d="100" n="198"/>
          <a:sy d="100" n="198"/>
        </p:scale>
        <p:origin x="1208" y="184"/>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 Id="rId9"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lvl1pPr algn="ctr">
              <a:defRPr sz="4000" baseline="0"/>
            </a:lvl1pPr>
          </a:lstStyle>
          <a:p>
            <a:r>
              <a:rPr lang="en-US" dirty="0"/>
              <a:t>Click to edit Master title style</a:t>
            </a:r>
          </a:p>
        </p:txBody>
      </p:sp>
      <p:sp>
        <p:nvSpPr>
          <p:cNvPr id="3" name="Subtitle 2"/>
          <p:cNvSpPr>
            <a:spLocks noGrp="1"/>
          </p:cNvSpPr>
          <p:nvPr>
            <p:ph type="subTitle" idx="1"/>
          </p:nvPr>
        </p:nvSpPr>
        <p:spPr>
          <a:xfrm>
            <a:off x="1371600" y="3881730"/>
            <a:ext cx="6400800" cy="34737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1026" name="Picture 2">
            <a:extLst>
              <a:ext uri="{FF2B5EF4-FFF2-40B4-BE49-F238E27FC236}">
                <a16:creationId xmlns:a16="http://schemas.microsoft.com/office/drawing/2014/main" id="{CE918C2E-CA3D-3E7E-792D-7E5EF12459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52696" y="289937"/>
            <a:ext cx="4638608" cy="2597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5/12/26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5/12/26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5/12/26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5/12/26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rtl="0" eaLnBrk="1" latinLnBrk="0" hangingPunct="1">
        <a:spcBef>
          <a:spcPct val="0"/>
        </a:spcBef>
        <a:buNone/>
        <a:defRPr sz="3300" kern="1200" baseline="0">
          <a:solidFill>
            <a:schemeClr val="tx1"/>
          </a:solidFill>
          <a:latin typeface="Montserrat" panose="00000500000000000000" pitchFamily="2" charset="77"/>
          <a:ea typeface="+mj-ea"/>
          <a:cs typeface="+mj-cs"/>
        </a:defRPr>
      </a:lvl1pPr>
    </p:titleStyle>
    <p:bodyStyle>
      <a:lvl1pPr marL="342900" indent="-342900" algn="l" defTabSz="342900" rtl="0" eaLnBrk="1" latinLnBrk="0" hangingPunct="1">
        <a:spcBef>
          <a:spcPct val="20000"/>
        </a:spcBef>
        <a:buFont typeface="Arial"/>
        <a:buChar char="•"/>
        <a:defRPr sz="1300" kern="1200" baseline="0">
          <a:solidFill>
            <a:schemeClr val="tx1"/>
          </a:solidFill>
          <a:latin typeface="Lato" panose="020F0502020204030203" pitchFamily="34" charset="0"/>
          <a:ea typeface="+mn-ea"/>
          <a:cs typeface="+mn-cs"/>
        </a:defRPr>
      </a:lvl1pPr>
      <a:lvl2pPr marL="6858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2pPr>
      <a:lvl3pPr marL="1028700" indent="-342900" algn="l" defTabSz="342900" rtl="0" eaLnBrk="1" latinLnBrk="0" hangingPunct="1">
        <a:spcBef>
          <a:spcPct val="20000"/>
        </a:spcBef>
        <a:buFont typeface="Wingdings" pitchFamily="2" charset="2"/>
        <a:buChar char="§"/>
        <a:defRPr sz="1100" kern="1200" baseline="0">
          <a:solidFill>
            <a:schemeClr val="tx1"/>
          </a:solidFill>
          <a:latin typeface="Lato" panose="020F0502020204030203" pitchFamily="34" charset="0"/>
          <a:ea typeface="+mn-ea"/>
          <a:cs typeface="+mn-cs"/>
        </a:defRPr>
      </a:lvl3pPr>
      <a:lvl4pPr marL="1371600" indent="-342900" algn="l" defTabSz="342900" rtl="0" eaLnBrk="1" latinLnBrk="0" hangingPunct="1">
        <a:spcBef>
          <a:spcPct val="20000"/>
        </a:spcBef>
        <a:buFont typeface="Arial" panose="020B0604020202020204" pitchFamily="34" charset="0"/>
        <a:buChar char="•"/>
        <a:defRPr sz="1100" kern="1200" baseline="0">
          <a:solidFill>
            <a:schemeClr val="tx1"/>
          </a:solidFill>
          <a:latin typeface="Lato" panose="020F0502020204030203" pitchFamily="34" charset="0"/>
          <a:ea typeface="+mn-ea"/>
          <a:cs typeface="+mn-cs"/>
        </a:defRPr>
      </a:lvl4pPr>
      <a:lvl5pPr marL="17145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seh.org/data/Baltimore_surface_water_quality_data.csv" TargetMode="External" /><Relationship Id="rId3" Type="http://schemas.openxmlformats.org/officeDocument/2006/relationships/hyperlink" Target="https://daseh.org/data/Baltimore_rainfall_HamiltonAve.csv"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p>
            <a:pPr lvl="0" marL="0" indent="0">
              <a:buNone/>
            </a:pPr>
            <a:r>
              <a:rPr/>
              <a:t>Introduction</a:t>
            </a:r>
            <a:r>
              <a:rPr/>
              <a:t> </a:t>
            </a:r>
            <a:r>
              <a:rPr/>
              <a:t>to</a:t>
            </a:r>
            <a:r>
              <a:rPr/>
              <a:t> </a:t>
            </a:r>
            <a:r>
              <a:rPr/>
              <a:t>R:</a:t>
            </a:r>
            <a:r>
              <a:rPr/>
              <a:t> </a:t>
            </a:r>
            <a:r>
              <a:rPr/>
              <a:t>Homework</a:t>
            </a:r>
            <a:r>
              <a:rPr/>
              <a:t> </a:t>
            </a:r>
            <a:r>
              <a:rPr/>
              <a:t>3</a:t>
            </a:r>
            <a:r>
              <a:rPr/>
              <a:t> </a:t>
            </a:r>
            <a:r>
              <a:rPr/>
              <a:t>-</a:t>
            </a:r>
            <a:r>
              <a:rPr/>
              <a:t> </a:t>
            </a:r>
            <a:r>
              <a:rPr/>
              <a:t>Key</a:t>
            </a:r>
          </a:p>
        </p:txBody>
      </p:sp>
      <p:sp>
        <p:nvSpPr>
          <p:cNvPr id="3" name="Subtitle 2"/>
          <p:cNvSpPr>
            <a:spLocks noGrp="1"/>
          </p:cNvSpPr>
          <p:nvPr>
            <p:ph idx="1" type="subTitle"/>
          </p:nvPr>
        </p:nvSpPr>
        <p:spPr>
          <a:xfrm>
            <a:off x="1371600" y="3881730"/>
            <a:ext cx="6400800" cy="347370"/>
          </a:xfrm>
        </p:spPr>
        <p:txBody>
          <a:bodyPr/>
          <a:lstStyle/>
          <a:p>
            <a:pPr lvl="0" marL="0" indent="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spcBef>
                <a:spcPts val="3000"/>
              </a:spcBef>
              <a:buNone/>
            </a:pPr>
            <a:r>
              <a:rPr b="1"/>
              <a:t>Instructions</a:t>
            </a:r>
          </a:p>
          <a:p>
            <a:pPr lvl="0" marL="0" indent="0">
              <a:buNone/>
            </a:pPr>
            <a:r>
              <a:rPr/>
              <a:t>Homework is optional, but we recommend it so you can get the most out of this course.</a:t>
            </a:r>
          </a:p>
          <a:p>
            <a:pPr lvl="0" indent="0">
              <a:buNone/>
            </a:pPr>
            <a:r>
              <a:rPr i="1">
                <a:solidFill>
                  <a:srgbClr val="BA2121"/>
                </a:solidFill>
                <a:latin typeface="Courier"/>
              </a:rPr>
              <a:t>## you can add more, or change...these are suggestions</a:t>
            </a:r>
            <a:br/>
            <a:r>
              <a:rPr>
                <a:solidFill>
                  <a:srgbClr val="06287E"/>
                </a:solidFill>
                <a:latin typeface="Courier"/>
              </a:rPr>
              <a:t>library</a:t>
            </a:r>
            <a:r>
              <a:rPr>
                <a:latin typeface="Courier"/>
              </a:rPr>
              <a:t>(tidyverse)</a:t>
            </a:r>
            <a:br/>
            <a:r>
              <a:rPr>
                <a:solidFill>
                  <a:srgbClr val="06287E"/>
                </a:solidFill>
                <a:latin typeface="Courier"/>
              </a:rPr>
              <a:t>library</a:t>
            </a:r>
            <a:r>
              <a:rPr>
                <a:latin typeface="Courier"/>
              </a:rPr>
              <a:t>(readr)</a:t>
            </a:r>
            <a:br/>
            <a:r>
              <a:rPr>
                <a:solidFill>
                  <a:srgbClr val="06287E"/>
                </a:solidFill>
                <a:latin typeface="Courier"/>
              </a:rPr>
              <a:t>library</a:t>
            </a:r>
            <a:r>
              <a:rPr>
                <a:latin typeface="Courier"/>
              </a:rPr>
              <a:t>(dplyr)</a:t>
            </a:r>
            <a:br/>
            <a:r>
              <a:rPr>
                <a:solidFill>
                  <a:srgbClr val="06287E"/>
                </a:solidFill>
                <a:latin typeface="Courier"/>
              </a:rPr>
              <a:t>library</a:t>
            </a:r>
            <a:r>
              <a:rPr>
                <a:latin typeface="Courier"/>
              </a:rPr>
              <a:t>(ggplot2)</a:t>
            </a:r>
            <a:br/>
            <a:r>
              <a:rPr>
                <a:solidFill>
                  <a:srgbClr val="06287E"/>
                </a:solidFill>
                <a:latin typeface="Courier"/>
              </a:rPr>
              <a:t>library</a:t>
            </a:r>
            <a:r>
              <a:rPr>
                <a:latin typeface="Courier"/>
              </a:rPr>
              <a:t>(tidyr)</a:t>
            </a:r>
          </a:p>
          <a:p>
            <a:pPr lvl="0" marL="0" indent="0">
              <a:spcBef>
                <a:spcPts val="3000"/>
              </a:spcBef>
              <a:buNone/>
            </a:pPr>
            <a:r>
              <a:rPr b="1"/>
              <a:t>Problem Set</a:t>
            </a:r>
          </a:p>
          <a:p>
            <a:pPr lvl="0" marL="0" indent="0">
              <a:buNone/>
            </a:pPr>
            <a:r>
              <a:rPr/>
              <a:t>1. Bring the following dataset into R.</a:t>
            </a:r>
          </a:p>
          <a:p>
            <a:pPr lvl="1"/>
            <a:r>
              <a:rPr/>
              <a:t>The dataset is located at: </a:t>
            </a:r>
            <a:r>
              <a:rPr>
                <a:hlinkClick r:id="rId2"/>
              </a:rPr>
              <a:t>https://daseh.org/data/Baltimore_surface_water_quality_data.csv</a:t>
            </a:r>
            <a:r>
              <a:rPr/>
              <a:t>.</a:t>
            </a:r>
            <a:br/>
          </a:p>
          <a:p>
            <a:pPr lvl="1"/>
            <a:r>
              <a:rPr/>
              <a:t>You can use the link, download it, or use whatever method you like for getting the file.</a:t>
            </a:r>
            <a:br/>
          </a:p>
          <a:p>
            <a:pPr lvl="1"/>
            <a:r>
              <a:rPr/>
              <a:t>Once you get the file, read the dataset in using </a:t>
            </a:r>
            <a:r>
              <a:rPr>
                <a:latin typeface="Courier"/>
              </a:rPr>
              <a:t>read_csv()</a:t>
            </a:r>
            <a:r>
              <a:rPr/>
              <a:t> and assign it the name </a:t>
            </a:r>
            <a:r>
              <a:rPr>
                <a:latin typeface="Courier"/>
              </a:rPr>
              <a:t>water</a:t>
            </a:r>
            <a:r>
              <a:rPr/>
              <a:t>.</a:t>
            </a:r>
          </a:p>
          <a:p>
            <a:pPr lvl="0" indent="0">
              <a:buNone/>
            </a:pPr>
            <a:r>
              <a:rPr>
                <a:latin typeface="Courier"/>
              </a:rPr>
              <a:t>water </a:t>
            </a:r>
            <a:r>
              <a:rPr>
                <a:solidFill>
                  <a:srgbClr val="007020"/>
                </a:solidFill>
                <a:latin typeface="Courier"/>
              </a:rPr>
              <a:t>&lt;-</a:t>
            </a:r>
            <a:r>
              <a:rPr>
                <a:latin typeface="Courier"/>
              </a:rPr>
              <a:t> </a:t>
            </a:r>
            <a:r>
              <a:rPr>
                <a:solidFill>
                  <a:srgbClr val="06287E"/>
                </a:solidFill>
                <a:latin typeface="Courier"/>
              </a:rPr>
              <a:t>read_csv</a:t>
            </a:r>
            <a:r>
              <a:rPr>
                <a:latin typeface="Courier"/>
              </a:rPr>
              <a:t>(</a:t>
            </a:r>
            <a:r>
              <a:rPr>
                <a:solidFill>
                  <a:srgbClr val="4070A0"/>
                </a:solidFill>
                <a:latin typeface="Courier"/>
              </a:rPr>
              <a:t>"https://daseh.org/data/Baltimore_surface_water_quality_data.csv"</a:t>
            </a:r>
            <a:r>
              <a:rPr>
                <a:latin typeface="Courier"/>
              </a:rPr>
              <a:t>)</a:t>
            </a:r>
          </a:p>
          <a:p>
            <a:pPr lvl="0" indent="0">
              <a:buNone/>
            </a:pPr>
            <a:r>
              <a:rPr>
                <a:latin typeface="Courier"/>
              </a:rPr>
              <a:t>## Rows: 461308 Columns: 9
## ── Column specification ────────────────────────────────────────────────────────
## Delimiter: ","
## chr (6): Station, Parameter, Lab, Result, Unit, datetime
## dbl (3): OBJECTID, GPS Coordinate North, GPS Coordinate West
## 
## ℹ Use `spec()` to retrieve the full column specification for this data.
## ℹ Specify the column types or set `show_col_types = FALSE` to quiet this message.</a:t>
            </a:r>
          </a:p>
          <a:p>
            <a:pPr lvl="0" marL="0" indent="0">
              <a:buNone/>
            </a:pPr>
            <a:r>
              <a:rPr/>
              <a:t>2. Check out and clean the columns of the </a:t>
            </a:r>
            <a:r>
              <a:rPr>
                <a:latin typeface="Courier"/>
              </a:rPr>
              <a:t>water</a:t>
            </a:r>
            <a:r>
              <a:rPr/>
              <a:t> object.</a:t>
            </a:r>
          </a:p>
          <a:p>
            <a:pPr lvl="1"/>
            <a:r>
              <a:rPr/>
              <a:t>Run the </a:t>
            </a:r>
            <a:r>
              <a:rPr>
                <a:latin typeface="Courier"/>
              </a:rPr>
              <a:t>colnames()</a:t>
            </a:r>
            <a:r>
              <a:rPr/>
              <a:t> function to take a look at the dataset column names.</a:t>
            </a:r>
          </a:p>
          <a:p>
            <a:pPr lvl="1"/>
            <a:r>
              <a:rPr/>
              <a:t>Rename the third column of </a:t>
            </a:r>
            <a:r>
              <a:rPr>
                <a:latin typeface="Courier"/>
              </a:rPr>
              <a:t>water</a:t>
            </a:r>
            <a:r>
              <a:rPr/>
              <a:t> to “GPS_North” using the </a:t>
            </a:r>
            <a:r>
              <a:rPr>
                <a:latin typeface="Courier"/>
              </a:rPr>
              <a:t>rename()</a:t>
            </a:r>
            <a:r>
              <a:rPr/>
              <a:t> function (tidyverse).</a:t>
            </a:r>
            <a:br/>
          </a:p>
          <a:p>
            <a:pPr lvl="1"/>
            <a:r>
              <a:rPr/>
              <a:t>Then rename the fourth column to “GPS_West”.</a:t>
            </a:r>
            <a:br/>
          </a:p>
          <a:p>
            <a:pPr lvl="1"/>
            <a:r>
              <a:rPr/>
              <a:t>Reassign the changed data to </a:t>
            </a:r>
            <a:r>
              <a:rPr>
                <a:latin typeface="Courier"/>
              </a:rPr>
              <a:t>water</a:t>
            </a:r>
            <a:r>
              <a:rPr/>
              <a:t>.</a:t>
            </a:r>
          </a:p>
          <a:p>
            <a:pPr lvl="0" indent="0">
              <a:buNone/>
            </a:pPr>
            <a:r>
              <a:rPr>
                <a:solidFill>
                  <a:srgbClr val="06287E"/>
                </a:solidFill>
                <a:latin typeface="Courier"/>
              </a:rPr>
              <a:t>colnames</a:t>
            </a:r>
            <a:r>
              <a:rPr>
                <a:latin typeface="Courier"/>
              </a:rPr>
              <a:t>(water)</a:t>
            </a:r>
          </a:p>
          <a:p>
            <a:pPr lvl="0" indent="0">
              <a:buNone/>
            </a:pPr>
            <a:r>
              <a:rPr>
                <a:latin typeface="Courier"/>
              </a:rPr>
              <a:t>## [1] "OBJECTID"             "Station"              "GPS Coordinate North"
## [4] "GPS Coordinate West"  "Parameter"            "Lab"                 
## [7] "Result"               "Unit"                 "datetime"</a:t>
            </a:r>
          </a:p>
          <a:p>
            <a:pPr lvl="0" indent="0">
              <a:buNone/>
            </a:pPr>
            <a:r>
              <a:rPr>
                <a:latin typeface="Courier"/>
              </a:rPr>
              <a:t>water </a:t>
            </a:r>
            <a:r>
              <a:rPr>
                <a:solidFill>
                  <a:srgbClr val="007020"/>
                </a:solidFill>
                <a:latin typeface="Courier"/>
              </a:rPr>
              <a:t>&lt;-</a:t>
            </a:r>
            <a:r>
              <a:rPr>
                <a:latin typeface="Courier"/>
              </a:rPr>
              <a:t> water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rename</a:t>
            </a:r>
            <a:r>
              <a:rPr>
                <a:latin typeface="Courier"/>
              </a:rPr>
              <a:t>(</a:t>
            </a:r>
            <a:r>
              <a:rPr>
                <a:solidFill>
                  <a:srgbClr val="7D9029"/>
                </a:solidFill>
                <a:latin typeface="Courier"/>
              </a:rPr>
              <a:t>GPS_North =</a:t>
            </a:r>
            <a:r>
              <a:rPr>
                <a:latin typeface="Courier"/>
              </a:rPr>
              <a:t> </a:t>
            </a:r>
            <a:r>
              <a:rPr>
                <a:solidFill>
                  <a:srgbClr val="4070A0"/>
                </a:solidFill>
                <a:latin typeface="Courier"/>
              </a:rPr>
              <a:t>`</a:t>
            </a:r>
            <a:r>
              <a:rPr>
                <a:solidFill>
                  <a:srgbClr val="7D9029"/>
                </a:solidFill>
                <a:latin typeface="Courier"/>
              </a:rPr>
              <a:t>GPS Coordinate North</a:t>
            </a:r>
            <a:r>
              <a:rPr>
                <a:solidFill>
                  <a:srgbClr val="4070A0"/>
                </a:solidFill>
                <a:latin typeface="Courier"/>
              </a:rPr>
              <a:t>`</a:t>
            </a:r>
            <a:r>
              <a:rPr>
                <a:latin typeface="Courier"/>
              </a:rPr>
              <a:t>)</a:t>
            </a:r>
            <a:br/>
            <a:r>
              <a:rPr>
                <a:latin typeface="Courier"/>
              </a:rPr>
              <a:t>water </a:t>
            </a:r>
            <a:r>
              <a:rPr>
                <a:solidFill>
                  <a:srgbClr val="007020"/>
                </a:solidFill>
                <a:latin typeface="Courier"/>
              </a:rPr>
              <a:t>&lt;-</a:t>
            </a:r>
            <a:r>
              <a:rPr>
                <a:latin typeface="Courier"/>
              </a:rPr>
              <a:t> water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rename</a:t>
            </a:r>
            <a:r>
              <a:rPr>
                <a:latin typeface="Courier"/>
              </a:rPr>
              <a:t>(</a:t>
            </a:r>
            <a:r>
              <a:rPr>
                <a:solidFill>
                  <a:srgbClr val="7D9029"/>
                </a:solidFill>
                <a:latin typeface="Courier"/>
              </a:rPr>
              <a:t>GPS_West =</a:t>
            </a:r>
            <a:r>
              <a:rPr>
                <a:latin typeface="Courier"/>
              </a:rPr>
              <a:t> </a:t>
            </a:r>
            <a:r>
              <a:rPr>
                <a:solidFill>
                  <a:srgbClr val="4070A0"/>
                </a:solidFill>
                <a:latin typeface="Courier"/>
              </a:rPr>
              <a:t>`</a:t>
            </a:r>
            <a:r>
              <a:rPr>
                <a:solidFill>
                  <a:srgbClr val="7D9029"/>
                </a:solidFill>
                <a:latin typeface="Courier"/>
              </a:rPr>
              <a:t>GPS Coordinate West</a:t>
            </a:r>
            <a:r>
              <a:rPr>
                <a:solidFill>
                  <a:srgbClr val="4070A0"/>
                </a:solidFill>
                <a:latin typeface="Courier"/>
              </a:rPr>
              <a:t>`</a:t>
            </a:r>
            <a:r>
              <a:rPr>
                <a:latin typeface="Courier"/>
              </a:rPr>
              <a:t>)</a:t>
            </a:r>
            <a:br/>
            <a:br/>
            <a:r>
              <a:rPr i="1">
                <a:solidFill>
                  <a:srgbClr val="60A0B0"/>
                </a:solidFill>
                <a:latin typeface="Courier"/>
              </a:rPr>
              <a:t># Alternatives</a:t>
            </a:r>
            <a:br/>
            <a:r>
              <a:rPr i="1">
                <a:solidFill>
                  <a:srgbClr val="60A0B0"/>
                </a:solidFill>
                <a:latin typeface="Courier"/>
              </a:rPr>
              <a:t># water &lt;- rename(water, GPS_North = "GPS Coordinate North", GPS_West = "GPS Coordinate West")</a:t>
            </a:r>
            <a:br/>
            <a:r>
              <a:rPr i="1">
                <a:solidFill>
                  <a:srgbClr val="60A0B0"/>
                </a:solidFill>
                <a:latin typeface="Courier"/>
              </a:rPr>
              <a:t># Or pipe</a:t>
            </a:r>
            <a:br/>
            <a:r>
              <a:rPr i="1">
                <a:solidFill>
                  <a:srgbClr val="60A0B0"/>
                </a:solidFill>
                <a:latin typeface="Courier"/>
              </a:rPr>
              <a:t># water &lt;- water |&gt; rename(GPS_North = "GPS Coordinate North", GPS_West = "GPS Coordinate West")</a:t>
            </a:r>
          </a:p>
          <a:p>
            <a:pPr lvl="0" marL="0" indent="0">
              <a:buNone/>
            </a:pPr>
            <a:r>
              <a:rPr/>
              <a:t>3. Clean up the “datetime” column.</a:t>
            </a:r>
          </a:p>
          <a:p>
            <a:pPr lvl="1"/>
            <a:r>
              <a:rPr/>
              <a:t>Convert the “datetime” column to POSIXct format using the </a:t>
            </a:r>
            <a:r>
              <a:rPr>
                <a:latin typeface="Courier"/>
              </a:rPr>
              <a:t>mdy_hm()</a:t>
            </a:r>
            <a:r>
              <a:rPr/>
              <a:t> functions from the </a:t>
            </a:r>
            <a:r>
              <a:rPr>
                <a:latin typeface="Courier"/>
              </a:rPr>
              <a:t>lubridate</a:t>
            </a:r>
            <a:r>
              <a:rPr/>
              <a:t> package. Call the new column “datetime_fixed”.</a:t>
            </a:r>
            <a:br/>
          </a:p>
          <a:p>
            <a:pPr lvl="1"/>
            <a:r>
              <a:rPr/>
              <a:t>Then create the variables “Month” and “Year” by extracting the month and year from the “datetime” column. (HINT: use </a:t>
            </a:r>
            <a:r>
              <a:rPr>
                <a:latin typeface="Courier"/>
              </a:rPr>
              <a:t>mutate()</a:t>
            </a:r>
            <a:r>
              <a:rPr/>
              <a:t> and </a:t>
            </a:r>
            <a:r>
              <a:rPr>
                <a:latin typeface="Courier"/>
              </a:rPr>
              <a:t>year(datetime_fixed)</a:t>
            </a:r>
            <a:r>
              <a:rPr/>
              <a:t> to create your new variables.)</a:t>
            </a:r>
          </a:p>
          <a:p>
            <a:pPr lvl="1"/>
            <a:r>
              <a:rPr/>
              <a:t>Reassign to </a:t>
            </a:r>
            <a:r>
              <a:rPr>
                <a:latin typeface="Courier"/>
              </a:rPr>
              <a:t>water</a:t>
            </a:r>
            <a:r>
              <a:rPr/>
              <a:t>.</a:t>
            </a:r>
          </a:p>
          <a:p>
            <a:pPr lvl="0" indent="0">
              <a:buNone/>
            </a:pPr>
            <a:r>
              <a:rPr i="1">
                <a:solidFill>
                  <a:srgbClr val="60A0B0"/>
                </a:solidFill>
                <a:latin typeface="Courier"/>
              </a:rPr>
              <a:t>#converting the date format to POSIXct</a:t>
            </a:r>
            <a:br/>
            <a:r>
              <a:rPr>
                <a:latin typeface="Courier"/>
              </a:rPr>
              <a:t>water </a:t>
            </a:r>
            <a:r>
              <a:rPr>
                <a:solidFill>
                  <a:srgbClr val="007020"/>
                </a:solidFill>
                <a:latin typeface="Courier"/>
              </a:rPr>
              <a:t>&lt;-</a:t>
            </a:r>
            <a:r>
              <a:rPr>
                <a:latin typeface="Courier"/>
              </a:rPr>
              <a:t> water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mutate</a:t>
            </a:r>
            <a:r>
              <a:rPr>
                <a:latin typeface="Courier"/>
              </a:rPr>
              <a:t>(</a:t>
            </a:r>
            <a:r>
              <a:rPr>
                <a:solidFill>
                  <a:srgbClr val="7D9029"/>
                </a:solidFill>
                <a:latin typeface="Courier"/>
              </a:rPr>
              <a:t>datetime_fixed =</a:t>
            </a:r>
            <a:r>
              <a:rPr>
                <a:latin typeface="Courier"/>
              </a:rPr>
              <a:t> </a:t>
            </a:r>
            <a:r>
              <a:rPr>
                <a:solidFill>
                  <a:srgbClr val="06287E"/>
                </a:solidFill>
                <a:latin typeface="Courier"/>
              </a:rPr>
              <a:t>mdy_hm</a:t>
            </a:r>
            <a:r>
              <a:rPr>
                <a:latin typeface="Courier"/>
              </a:rPr>
              <a:t>(datetime))</a:t>
            </a:r>
            <a:br/>
            <a:br/>
            <a:r>
              <a:rPr i="1">
                <a:solidFill>
                  <a:srgbClr val="60A0B0"/>
                </a:solidFill>
                <a:latin typeface="Courier"/>
              </a:rPr>
              <a:t>#creating new variables</a:t>
            </a:r>
            <a:br/>
            <a:r>
              <a:rPr>
                <a:latin typeface="Courier"/>
              </a:rPr>
              <a:t>water </a:t>
            </a:r>
            <a:r>
              <a:rPr>
                <a:solidFill>
                  <a:srgbClr val="007020"/>
                </a:solidFill>
                <a:latin typeface="Courier"/>
              </a:rPr>
              <a:t>&lt;-</a:t>
            </a:r>
            <a:r>
              <a:rPr>
                <a:latin typeface="Courier"/>
              </a:rPr>
              <a:t> water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mutate</a:t>
            </a:r>
            <a:r>
              <a:rPr>
                <a:latin typeface="Courier"/>
              </a:rPr>
              <a:t>(</a:t>
            </a:r>
            <a:r>
              <a:rPr>
                <a:solidFill>
                  <a:srgbClr val="7D9029"/>
                </a:solidFill>
                <a:latin typeface="Courier"/>
              </a:rPr>
              <a:t>Year =</a:t>
            </a:r>
            <a:r>
              <a:rPr>
                <a:latin typeface="Courier"/>
              </a:rPr>
              <a:t> </a:t>
            </a:r>
            <a:r>
              <a:rPr>
                <a:solidFill>
                  <a:srgbClr val="06287E"/>
                </a:solidFill>
                <a:latin typeface="Courier"/>
              </a:rPr>
              <a:t>year</a:t>
            </a:r>
            <a:r>
              <a:rPr>
                <a:latin typeface="Courier"/>
              </a:rPr>
              <a:t>(datetime_fixed))</a:t>
            </a:r>
            <a:br/>
            <a:r>
              <a:rPr>
                <a:latin typeface="Courier"/>
              </a:rPr>
              <a:t>water </a:t>
            </a:r>
            <a:r>
              <a:rPr>
                <a:solidFill>
                  <a:srgbClr val="007020"/>
                </a:solidFill>
                <a:latin typeface="Courier"/>
              </a:rPr>
              <a:t>&lt;-</a:t>
            </a:r>
            <a:r>
              <a:rPr>
                <a:latin typeface="Courier"/>
              </a:rPr>
              <a:t> water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mutate</a:t>
            </a:r>
            <a:r>
              <a:rPr>
                <a:latin typeface="Courier"/>
              </a:rPr>
              <a:t>(</a:t>
            </a:r>
            <a:r>
              <a:rPr>
                <a:solidFill>
                  <a:srgbClr val="7D9029"/>
                </a:solidFill>
                <a:latin typeface="Courier"/>
              </a:rPr>
              <a:t>Month =</a:t>
            </a:r>
            <a:r>
              <a:rPr>
                <a:latin typeface="Courier"/>
              </a:rPr>
              <a:t> </a:t>
            </a:r>
            <a:r>
              <a:rPr>
                <a:solidFill>
                  <a:srgbClr val="06287E"/>
                </a:solidFill>
                <a:latin typeface="Courier"/>
              </a:rPr>
              <a:t>month</a:t>
            </a:r>
            <a:r>
              <a:rPr>
                <a:latin typeface="Courier"/>
              </a:rPr>
              <a:t>(datetime_fixed))</a:t>
            </a:r>
            <a:br/>
            <a:br/>
            <a:r>
              <a:rPr i="1">
                <a:solidFill>
                  <a:srgbClr val="60A0B0"/>
                </a:solidFill>
                <a:latin typeface="Courier"/>
              </a:rPr>
              <a:t># Alternative</a:t>
            </a:r>
            <a:br/>
            <a:r>
              <a:rPr i="1">
                <a:solidFill>
                  <a:srgbClr val="60A0B0"/>
                </a:solidFill>
                <a:latin typeface="Courier"/>
              </a:rPr>
              <a:t># water &lt;- water |&gt; mutate( datetime_fixed = mdy_hm(datetime), Month = month(datetime_fixed), Year = year(datetime_fixed))</a:t>
            </a:r>
          </a:p>
          <a:p>
            <a:pPr lvl="0" marL="0" indent="0">
              <a:buNone/>
            </a:pPr>
            <a:r>
              <a:rPr/>
              <a:t>4. Separate “datetime_fixed” into two separate columns using the </a:t>
            </a:r>
            <a:r>
              <a:rPr>
                <a:latin typeface="Courier"/>
              </a:rPr>
              <a:t>separate()</a:t>
            </a:r>
            <a:r>
              <a:rPr/>
              <a:t> function. Use </a:t>
            </a:r>
            <a:r>
              <a:rPr>
                <a:latin typeface="Courier"/>
              </a:rPr>
              <a:t>into = c("date", "time")</a:t>
            </a:r>
            <a:r>
              <a:rPr/>
              <a:t> and </a:t>
            </a:r>
            <a:r>
              <a:rPr>
                <a:latin typeface="Courier"/>
              </a:rPr>
              <a:t>sep = " "</a:t>
            </a:r>
            <a:r>
              <a:rPr/>
              <a:t> arguments. Replace the original </a:t>
            </a:r>
            <a:r>
              <a:rPr>
                <a:latin typeface="Courier"/>
              </a:rPr>
              <a:t>water</a:t>
            </a:r>
            <a:r>
              <a:rPr/>
              <a:t> object by reassigning the new dataset to </a:t>
            </a:r>
            <a:r>
              <a:rPr>
                <a:latin typeface="Courier"/>
              </a:rPr>
              <a:t>water</a:t>
            </a:r>
            <a:r>
              <a:rPr/>
              <a:t>.</a:t>
            </a:r>
          </a:p>
          <a:p>
            <a:pPr lvl="0" indent="0">
              <a:buNone/>
            </a:pPr>
            <a:r>
              <a:rPr>
                <a:latin typeface="Courier"/>
              </a:rPr>
              <a:t>water </a:t>
            </a:r>
            <a:r>
              <a:rPr>
                <a:solidFill>
                  <a:srgbClr val="007020"/>
                </a:solidFill>
                <a:latin typeface="Courier"/>
              </a:rPr>
              <a:t>&lt;-</a:t>
            </a:r>
            <a:r>
              <a:rPr>
                <a:latin typeface="Courier"/>
              </a:rPr>
              <a:t> water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separate</a:t>
            </a:r>
            <a:r>
              <a:rPr>
                <a:latin typeface="Courier"/>
              </a:rPr>
              <a:t>(</a:t>
            </a:r>
            <a:r>
              <a:rPr>
                <a:solidFill>
                  <a:srgbClr val="4070A0"/>
                </a:solidFill>
                <a:latin typeface="Courier"/>
              </a:rPr>
              <a:t>`</a:t>
            </a:r>
            <a:r>
              <a:rPr>
                <a:solidFill>
                  <a:srgbClr val="7D9029"/>
                </a:solidFill>
                <a:latin typeface="Courier"/>
              </a:rPr>
              <a:t>datetime_fixed</a:t>
            </a:r>
            <a:r>
              <a:rPr>
                <a:solidFill>
                  <a:srgbClr val="4070A0"/>
                </a:solidFill>
                <a:latin typeface="Courier"/>
              </a:rPr>
              <a:t>`</a:t>
            </a:r>
            <a:r>
              <a:rPr>
                <a:latin typeface="Courier"/>
              </a:rPr>
              <a:t>, </a:t>
            </a:r>
            <a:r>
              <a:rPr>
                <a:solidFill>
                  <a:srgbClr val="7D9029"/>
                </a:solidFill>
                <a:latin typeface="Courier"/>
              </a:rPr>
              <a:t>into =</a:t>
            </a:r>
            <a:r>
              <a:rPr>
                <a:latin typeface="Courier"/>
              </a:rPr>
              <a:t> </a:t>
            </a:r>
            <a:r>
              <a:rPr>
                <a:solidFill>
                  <a:srgbClr val="06287E"/>
                </a:solidFill>
                <a:latin typeface="Courier"/>
              </a:rPr>
              <a:t>c</a:t>
            </a:r>
            <a:r>
              <a:rPr>
                <a:latin typeface="Courier"/>
              </a:rPr>
              <a:t>(</a:t>
            </a:r>
            <a:r>
              <a:rPr>
                <a:solidFill>
                  <a:srgbClr val="4070A0"/>
                </a:solidFill>
                <a:latin typeface="Courier"/>
              </a:rPr>
              <a:t>"date"</a:t>
            </a:r>
            <a:r>
              <a:rPr>
                <a:latin typeface="Courier"/>
              </a:rPr>
              <a:t>, </a:t>
            </a:r>
            <a:r>
              <a:rPr>
                <a:solidFill>
                  <a:srgbClr val="4070A0"/>
                </a:solidFill>
                <a:latin typeface="Courier"/>
              </a:rPr>
              <a:t>"time"</a:t>
            </a:r>
            <a:r>
              <a:rPr>
                <a:latin typeface="Courier"/>
              </a:rPr>
              <a:t>), </a:t>
            </a:r>
            <a:r>
              <a:rPr>
                <a:solidFill>
                  <a:srgbClr val="7D9029"/>
                </a:solidFill>
                <a:latin typeface="Courier"/>
              </a:rPr>
              <a:t>sep =</a:t>
            </a:r>
            <a:r>
              <a:rPr>
                <a:latin typeface="Courier"/>
              </a:rPr>
              <a:t> </a:t>
            </a:r>
            <a:r>
              <a:rPr>
                <a:solidFill>
                  <a:srgbClr val="4070A0"/>
                </a:solidFill>
                <a:latin typeface="Courier"/>
              </a:rPr>
              <a:t>" "</a:t>
            </a:r>
            <a:r>
              <a:rPr>
                <a:latin typeface="Courier"/>
              </a:rPr>
              <a:t>)</a:t>
            </a:r>
          </a:p>
          <a:p>
            <a:pPr lvl="0" marL="0" indent="0">
              <a:buNone/>
            </a:pPr>
            <a:r>
              <a:rPr/>
              <a:t>5. What is the class for “Result” column? Use </a:t>
            </a:r>
            <a:r>
              <a:rPr>
                <a:latin typeface="Courier"/>
              </a:rPr>
              <a:t>pull()</a:t>
            </a:r>
            <a:r>
              <a:rPr/>
              <a:t>. Can you take the mean value? Why or why not?</a:t>
            </a:r>
          </a:p>
          <a:p>
            <a:pPr lvl="0" indent="0">
              <a:buNone/>
            </a:pPr>
            <a:r>
              <a:rPr>
                <a:latin typeface="Courier"/>
              </a:rPr>
              <a:t>water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pull</a:t>
            </a:r>
            <a:r>
              <a:rPr>
                <a:latin typeface="Courier"/>
              </a:rPr>
              <a:t>(Result)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class</a:t>
            </a:r>
            <a:r>
              <a:rPr>
                <a:latin typeface="Courier"/>
              </a:rPr>
              <a:t>()</a:t>
            </a:r>
          </a:p>
          <a:p>
            <a:pPr lvl="0" indent="0">
              <a:buNone/>
            </a:pPr>
            <a:r>
              <a:rPr>
                <a:latin typeface="Courier"/>
              </a:rPr>
              <a:t>## [1] "character"</a:t>
            </a:r>
          </a:p>
          <a:p>
            <a:pPr lvl="0" indent="0">
              <a:buNone/>
            </a:pPr>
            <a:r>
              <a:rPr i="1">
                <a:solidFill>
                  <a:srgbClr val="60A0B0"/>
                </a:solidFill>
                <a:latin typeface="Courier"/>
              </a:rPr>
              <a:t># "Result" is of type "character". For some tests, the result is listed as below the detectable level, using a "&lt;". R can only interpret this symbol as a character.</a:t>
            </a:r>
          </a:p>
          <a:p>
            <a:pPr lvl="0" marL="0" indent="0">
              <a:buNone/>
            </a:pPr>
            <a:r>
              <a:rPr/>
              <a:t>6. Some of the values of the “Result” column contain symbols “&lt;”, “&gt;”, and/or “=”. Replace these:</a:t>
            </a:r>
          </a:p>
          <a:p>
            <a:pPr lvl="1"/>
            <a:r>
              <a:rPr/>
              <a:t>Using </a:t>
            </a:r>
            <a:r>
              <a:rPr>
                <a:latin typeface="Courier"/>
              </a:rPr>
              <a:t>mutate()</a:t>
            </a:r>
            <a:r>
              <a:rPr/>
              <a:t> and </a:t>
            </a:r>
            <a:r>
              <a:rPr>
                <a:latin typeface="Courier"/>
              </a:rPr>
              <a:t>str_remove()</a:t>
            </a:r>
            <a:r>
              <a:rPr/>
              <a:t>.</a:t>
            </a:r>
            <a:br/>
          </a:p>
          <a:p>
            <a:pPr lvl="1"/>
            <a:r>
              <a:rPr/>
              <a:t>Repeat 3 times for patterns: </a:t>
            </a:r>
            <a:r>
              <a:rPr>
                <a:latin typeface="Courier"/>
              </a:rPr>
              <a:t>pattern = "&lt;"</a:t>
            </a:r>
            <a:r>
              <a:rPr/>
              <a:t> , </a:t>
            </a:r>
            <a:r>
              <a:rPr>
                <a:latin typeface="Courier"/>
              </a:rPr>
              <a:t>pattern = "&gt;"</a:t>
            </a:r>
            <a:r>
              <a:rPr/>
              <a:t>, then </a:t>
            </a:r>
            <a:r>
              <a:rPr>
                <a:latin typeface="Courier"/>
              </a:rPr>
              <a:t>pattern = "="</a:t>
            </a:r>
            <a:r>
              <a:rPr/>
              <a:t>.</a:t>
            </a:r>
            <a:br/>
          </a:p>
          <a:p>
            <a:pPr lvl="1"/>
            <a:r>
              <a:rPr/>
              <a:t>Reassign the object to </a:t>
            </a:r>
            <a:r>
              <a:rPr>
                <a:latin typeface="Courier"/>
              </a:rPr>
              <a:t>water</a:t>
            </a:r>
            <a:r>
              <a:rPr/>
              <a:t> each time.</a:t>
            </a:r>
          </a:p>
          <a:p>
            <a:pPr lvl="0" indent="0">
              <a:buNone/>
            </a:pPr>
            <a:r>
              <a:rPr>
                <a:latin typeface="Courier"/>
              </a:rPr>
              <a:t>water </a:t>
            </a:r>
            <a:r>
              <a:rPr>
                <a:solidFill>
                  <a:srgbClr val="007020"/>
                </a:solidFill>
                <a:latin typeface="Courier"/>
              </a:rPr>
              <a:t>&lt;-</a:t>
            </a:r>
            <a:r>
              <a:rPr>
                <a:latin typeface="Courier"/>
              </a:rPr>
              <a:t> water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mutate</a:t>
            </a:r>
            <a:r>
              <a:rPr>
                <a:latin typeface="Courier"/>
              </a:rPr>
              <a:t>(</a:t>
            </a:r>
            <a:r>
              <a:rPr>
                <a:solidFill>
                  <a:srgbClr val="7D9029"/>
                </a:solidFill>
                <a:latin typeface="Courier"/>
              </a:rPr>
              <a:t>Result =</a:t>
            </a:r>
            <a:r>
              <a:rPr>
                <a:latin typeface="Courier"/>
              </a:rPr>
              <a:t> </a:t>
            </a:r>
            <a:r>
              <a:rPr>
                <a:solidFill>
                  <a:srgbClr val="06287E"/>
                </a:solidFill>
                <a:latin typeface="Courier"/>
              </a:rPr>
              <a:t>str_remove</a:t>
            </a:r>
            <a:r>
              <a:rPr>
                <a:latin typeface="Courier"/>
              </a:rPr>
              <a:t>(Result, </a:t>
            </a:r>
            <a:r>
              <a:rPr>
                <a:solidFill>
                  <a:srgbClr val="7D9029"/>
                </a:solidFill>
                <a:latin typeface="Courier"/>
              </a:rPr>
              <a:t>pattern =</a:t>
            </a:r>
            <a:r>
              <a:rPr>
                <a:latin typeface="Courier"/>
              </a:rPr>
              <a:t> </a:t>
            </a:r>
            <a:r>
              <a:rPr>
                <a:solidFill>
                  <a:srgbClr val="4070A0"/>
                </a:solidFill>
                <a:latin typeface="Courier"/>
              </a:rPr>
              <a:t>"&lt;"</a:t>
            </a:r>
            <a:r>
              <a:rPr>
                <a:latin typeface="Courier"/>
              </a:rPr>
              <a:t>))</a:t>
            </a:r>
            <a:br/>
            <a:r>
              <a:rPr>
                <a:latin typeface="Courier"/>
              </a:rPr>
              <a:t>water </a:t>
            </a:r>
            <a:r>
              <a:rPr>
                <a:solidFill>
                  <a:srgbClr val="007020"/>
                </a:solidFill>
                <a:latin typeface="Courier"/>
              </a:rPr>
              <a:t>&lt;-</a:t>
            </a:r>
            <a:r>
              <a:rPr>
                <a:latin typeface="Courier"/>
              </a:rPr>
              <a:t> water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mutate</a:t>
            </a:r>
            <a:r>
              <a:rPr>
                <a:latin typeface="Courier"/>
              </a:rPr>
              <a:t>(</a:t>
            </a:r>
            <a:r>
              <a:rPr>
                <a:solidFill>
                  <a:srgbClr val="7D9029"/>
                </a:solidFill>
                <a:latin typeface="Courier"/>
              </a:rPr>
              <a:t>Result =</a:t>
            </a:r>
            <a:r>
              <a:rPr>
                <a:latin typeface="Courier"/>
              </a:rPr>
              <a:t> </a:t>
            </a:r>
            <a:r>
              <a:rPr>
                <a:solidFill>
                  <a:srgbClr val="06287E"/>
                </a:solidFill>
                <a:latin typeface="Courier"/>
              </a:rPr>
              <a:t>str_remove</a:t>
            </a:r>
            <a:r>
              <a:rPr>
                <a:latin typeface="Courier"/>
              </a:rPr>
              <a:t>(Result, </a:t>
            </a:r>
            <a:r>
              <a:rPr>
                <a:solidFill>
                  <a:srgbClr val="7D9029"/>
                </a:solidFill>
                <a:latin typeface="Courier"/>
              </a:rPr>
              <a:t>pattern =</a:t>
            </a:r>
            <a:r>
              <a:rPr>
                <a:latin typeface="Courier"/>
              </a:rPr>
              <a:t> </a:t>
            </a:r>
            <a:r>
              <a:rPr>
                <a:solidFill>
                  <a:srgbClr val="4070A0"/>
                </a:solidFill>
                <a:latin typeface="Courier"/>
              </a:rPr>
              <a:t>"&gt;"</a:t>
            </a:r>
            <a:r>
              <a:rPr>
                <a:latin typeface="Courier"/>
              </a:rPr>
              <a:t>))</a:t>
            </a:r>
            <a:br/>
            <a:r>
              <a:rPr>
                <a:latin typeface="Courier"/>
              </a:rPr>
              <a:t>water </a:t>
            </a:r>
            <a:r>
              <a:rPr>
                <a:solidFill>
                  <a:srgbClr val="007020"/>
                </a:solidFill>
                <a:latin typeface="Courier"/>
              </a:rPr>
              <a:t>&lt;-</a:t>
            </a:r>
            <a:r>
              <a:rPr>
                <a:latin typeface="Courier"/>
              </a:rPr>
              <a:t> water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mutate</a:t>
            </a:r>
            <a:r>
              <a:rPr>
                <a:latin typeface="Courier"/>
              </a:rPr>
              <a:t>(</a:t>
            </a:r>
            <a:r>
              <a:rPr>
                <a:solidFill>
                  <a:srgbClr val="7D9029"/>
                </a:solidFill>
                <a:latin typeface="Courier"/>
              </a:rPr>
              <a:t>Result =</a:t>
            </a:r>
            <a:r>
              <a:rPr>
                <a:latin typeface="Courier"/>
              </a:rPr>
              <a:t> </a:t>
            </a:r>
            <a:r>
              <a:rPr>
                <a:solidFill>
                  <a:srgbClr val="06287E"/>
                </a:solidFill>
                <a:latin typeface="Courier"/>
              </a:rPr>
              <a:t>str_remove</a:t>
            </a:r>
            <a:r>
              <a:rPr>
                <a:latin typeface="Courier"/>
              </a:rPr>
              <a:t>(Result, </a:t>
            </a:r>
            <a:r>
              <a:rPr>
                <a:solidFill>
                  <a:srgbClr val="7D9029"/>
                </a:solidFill>
                <a:latin typeface="Courier"/>
              </a:rPr>
              <a:t>pattern =</a:t>
            </a:r>
            <a:r>
              <a:rPr>
                <a:latin typeface="Courier"/>
              </a:rPr>
              <a:t> </a:t>
            </a:r>
            <a:r>
              <a:rPr>
                <a:solidFill>
                  <a:srgbClr val="4070A0"/>
                </a:solidFill>
                <a:latin typeface="Courier"/>
              </a:rPr>
              <a:t>"="</a:t>
            </a:r>
            <a:r>
              <a:rPr>
                <a:latin typeface="Courier"/>
              </a:rPr>
              <a:t>))</a:t>
            </a:r>
            <a:br/>
            <a:br/>
            <a:r>
              <a:rPr i="1">
                <a:solidFill>
                  <a:srgbClr val="60A0B0"/>
                </a:solidFill>
                <a:latin typeface="Courier"/>
              </a:rPr>
              <a:t># Alternative syntax</a:t>
            </a:r>
            <a:br/>
            <a:r>
              <a:rPr i="1">
                <a:solidFill>
                  <a:srgbClr val="60A0B0"/>
                </a:solidFill>
                <a:latin typeface="Courier"/>
              </a:rPr>
              <a:t># water &lt;- water |&gt; mutate(</a:t>
            </a:r>
            <a:br/>
            <a:r>
              <a:rPr i="1">
                <a:solidFill>
                  <a:srgbClr val="60A0B0"/>
                </a:solidFill>
                <a:latin typeface="Courier"/>
              </a:rPr>
              <a:t>#   Result = str_remove(Result, pattern = "&lt;"),</a:t>
            </a:r>
            <a:br/>
            <a:r>
              <a:rPr i="1">
                <a:solidFill>
                  <a:srgbClr val="60A0B0"/>
                </a:solidFill>
                <a:latin typeface="Courier"/>
              </a:rPr>
              <a:t>#   Result = str_remove(Result, pattern = "&gt;"),</a:t>
            </a:r>
            <a:br/>
            <a:r>
              <a:rPr i="1">
                <a:solidFill>
                  <a:srgbClr val="60A0B0"/>
                </a:solidFill>
                <a:latin typeface="Courier"/>
              </a:rPr>
              <a:t>#   Result = str_remove(Result, pattern = "=")</a:t>
            </a:r>
            <a:br/>
            <a:r>
              <a:rPr i="1">
                <a:solidFill>
                  <a:srgbClr val="60A0B0"/>
                </a:solidFill>
                <a:latin typeface="Courier"/>
              </a:rPr>
              <a:t># )</a:t>
            </a:r>
          </a:p>
          <a:p>
            <a:pPr lvl="0" marL="0" indent="0">
              <a:buNone/>
            </a:pPr>
            <a:r>
              <a:rPr/>
              <a:t>7. Use </a:t>
            </a:r>
            <a:r>
              <a:rPr>
                <a:latin typeface="Courier"/>
              </a:rPr>
              <a:t>mutate()</a:t>
            </a:r>
            <a:r>
              <a:rPr/>
              <a:t> and </a:t>
            </a:r>
            <a:r>
              <a:rPr>
                <a:latin typeface="Courier"/>
              </a:rPr>
              <a:t>as.numeric()</a:t>
            </a:r>
            <a:r>
              <a:rPr/>
              <a:t> to convert the “Result” column to numeric class. Then convert “Parameter” to a factor with </a:t>
            </a:r>
            <a:r>
              <a:rPr>
                <a:latin typeface="Courier"/>
              </a:rPr>
              <a:t>as.factor()</a:t>
            </a:r>
            <a:r>
              <a:rPr/>
              <a:t>. Reassign to </a:t>
            </a:r>
            <a:r>
              <a:rPr>
                <a:latin typeface="Courier"/>
              </a:rPr>
              <a:t>water</a:t>
            </a:r>
            <a:r>
              <a:rPr/>
              <a:t> both times.</a:t>
            </a:r>
          </a:p>
          <a:p>
            <a:pPr lvl="0" indent="0">
              <a:buNone/>
            </a:pPr>
            <a:r>
              <a:rPr>
                <a:latin typeface="Courier"/>
              </a:rPr>
              <a:t>water </a:t>
            </a:r>
            <a:r>
              <a:rPr>
                <a:solidFill>
                  <a:srgbClr val="007020"/>
                </a:solidFill>
                <a:latin typeface="Courier"/>
              </a:rPr>
              <a:t>&lt;-</a:t>
            </a:r>
            <a:r>
              <a:rPr>
                <a:latin typeface="Courier"/>
              </a:rPr>
              <a:t> water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mutate</a:t>
            </a:r>
            <a:r>
              <a:rPr>
                <a:latin typeface="Courier"/>
              </a:rPr>
              <a:t>(</a:t>
            </a:r>
            <a:r>
              <a:rPr>
                <a:solidFill>
                  <a:srgbClr val="7D9029"/>
                </a:solidFill>
                <a:latin typeface="Courier"/>
              </a:rPr>
              <a:t>Result =</a:t>
            </a:r>
            <a:r>
              <a:rPr>
                <a:latin typeface="Courier"/>
              </a:rPr>
              <a:t> </a:t>
            </a:r>
            <a:r>
              <a:rPr>
                <a:solidFill>
                  <a:srgbClr val="06287E"/>
                </a:solidFill>
                <a:latin typeface="Courier"/>
              </a:rPr>
              <a:t>as.numeric</a:t>
            </a:r>
            <a:r>
              <a:rPr>
                <a:latin typeface="Courier"/>
              </a:rPr>
              <a:t>(Result)) </a:t>
            </a:r>
            <a:br/>
            <a:r>
              <a:rPr>
                <a:latin typeface="Courier"/>
              </a:rPr>
              <a:t>water </a:t>
            </a:r>
            <a:r>
              <a:rPr>
                <a:solidFill>
                  <a:srgbClr val="007020"/>
                </a:solidFill>
                <a:latin typeface="Courier"/>
              </a:rPr>
              <a:t>&lt;-</a:t>
            </a:r>
            <a:r>
              <a:rPr>
                <a:latin typeface="Courier"/>
              </a:rPr>
              <a:t> water </a:t>
            </a:r>
            <a:r>
              <a:rPr>
                <a:solidFill>
                  <a:srgbClr val="4070A0"/>
                </a:solidFill>
                <a:latin typeface="Courier"/>
              </a:rPr>
              <a:t>|</a:t>
            </a:r>
            <a:r>
              <a:rPr b="1">
                <a:solidFill>
                  <a:srgbClr val="FF0000"/>
                </a:solidFill>
                <a:latin typeface="Courier"/>
              </a:rPr>
              <a:t>&gt;</a:t>
            </a:r>
            <a:r>
              <a:rPr>
                <a:latin typeface="Courier"/>
              </a:rPr>
              <a:t> </a:t>
            </a:r>
            <a:br/>
            <a:r>
              <a:rPr>
                <a:latin typeface="Courier"/>
              </a:rPr>
              <a:t>  </a:t>
            </a:r>
            <a:r>
              <a:rPr>
                <a:solidFill>
                  <a:srgbClr val="06287E"/>
                </a:solidFill>
                <a:latin typeface="Courier"/>
              </a:rPr>
              <a:t>mutate</a:t>
            </a:r>
            <a:r>
              <a:rPr>
                <a:latin typeface="Courier"/>
              </a:rPr>
              <a:t>(</a:t>
            </a:r>
            <a:r>
              <a:rPr>
                <a:solidFill>
                  <a:srgbClr val="7D9029"/>
                </a:solidFill>
                <a:latin typeface="Courier"/>
              </a:rPr>
              <a:t>Parameter =</a:t>
            </a:r>
            <a:r>
              <a:rPr>
                <a:latin typeface="Courier"/>
              </a:rPr>
              <a:t> </a:t>
            </a:r>
            <a:r>
              <a:rPr>
                <a:solidFill>
                  <a:srgbClr val="06287E"/>
                </a:solidFill>
                <a:latin typeface="Courier"/>
              </a:rPr>
              <a:t>as.factor</a:t>
            </a:r>
            <a:r>
              <a:rPr>
                <a:latin typeface="Courier"/>
              </a:rPr>
              <a:t>(Parameter))</a:t>
            </a:r>
          </a:p>
          <a:p>
            <a:pPr lvl="0" marL="0" indent="0">
              <a:buNone/>
            </a:pPr>
            <a:r>
              <a:rPr/>
              <a:t>8. How many different measurements (levels) are stored in the “Parameter” column? Use </a:t>
            </a:r>
            <a:r>
              <a:rPr>
                <a:latin typeface="Courier"/>
              </a:rPr>
              <a:t>pull()</a:t>
            </a:r>
            <a:r>
              <a:rPr/>
              <a:t> and </a:t>
            </a:r>
            <a:r>
              <a:rPr>
                <a:latin typeface="Courier"/>
              </a:rPr>
              <a:t>levels()</a:t>
            </a:r>
            <a:r>
              <a:rPr/>
              <a:t>.</a:t>
            </a:r>
          </a:p>
          <a:p>
            <a:pPr lvl="0" indent="0">
              <a:buNone/>
            </a:pPr>
            <a:r>
              <a:rPr>
                <a:latin typeface="Courier"/>
              </a:rPr>
              <a:t>water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pull</a:t>
            </a:r>
            <a:r>
              <a:rPr>
                <a:latin typeface="Courier"/>
              </a:rPr>
              <a:t>(Parameter)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levels</a:t>
            </a:r>
            <a:r>
              <a:rPr>
                <a:latin typeface="Courier"/>
              </a:rPr>
              <a:t>()</a:t>
            </a:r>
          </a:p>
          <a:p>
            <a:pPr lvl="0" indent="0">
              <a:buNone/>
            </a:pPr>
            <a:r>
              <a:rPr>
                <a:latin typeface="Courier"/>
              </a:rPr>
              <a:t>##  [1] "Ammonia-Nitrogen"             "Antimony_Dissolved"          
##  [3] "Antimony_Total"               "Arsenic_Dissolved"           
##  [5] "Arsenic_Total"                "BOD5"                        
##  [7] "Cadmium_Dissolved"            "Cadmium_Total"               
##  [9] "Chloride"                     "chlorine"                    
## [11] "Chlorine"                     "Chlorine_Spec"               
## [13] "Chromium_Dissolved"           "Chromium_Total"              
## [15] "COD"                          "Conductivity"                
## [17] "Copper_Dissolved"             "Copper_Total"                
## [19] "Copper, Total"                "Dissolved Oxygen"            
## [21] "E. Coli"                      "Enterococcus"                
## [23] "Fecal Coliform"               "Fluoride"                    
## [25] "Hach Ammonia-Nitrogen"        "Hardness"                    
## [27] "Iron, Total"                  "Lead_Dissolved"              
## [29] "Lead_Total"                   "Lead, Total"                 
## [31] "Maximum Depth"                "Nitrate+Nitrite-Nitrogen"    
## [33] "Oil &amp; Grease"                 "Ortho-Phosphate"             
## [35] "pH"                           "Secchi Disk"                 
## [37] "SGT-HEM"                      "Sodium"                      
## [39] "Suspended Solids"             "TKN"                         
## [41] "Total Coliform"               "Total Petroleum Hydrocarbons"
## [43] "Total Phenolics"              "Total Phosphorus"            
## [45] "Turbidity"                    "Water Temperature"           
## [47] "Zinc_Dissolved"               "Zinc_Total"                  
## [49] "Zinc, Total"</a:t>
            </a:r>
          </a:p>
          <a:p>
            <a:pPr lvl="0" indent="0">
              <a:buNone/>
            </a:pPr>
            <a:r>
              <a:rPr i="1">
                <a:solidFill>
                  <a:srgbClr val="60A0B0"/>
                </a:solidFill>
                <a:latin typeface="Courier"/>
              </a:rPr>
              <a:t>#There are 49 different types of measurements in this dataset.</a:t>
            </a:r>
          </a:p>
          <a:p>
            <a:pPr lvl="0" marL="0" indent="0">
              <a:buNone/>
            </a:pPr>
            <a:r>
              <a:rPr/>
              <a:t>9. Use the </a:t>
            </a:r>
            <a:r>
              <a:rPr>
                <a:latin typeface="Courier"/>
              </a:rPr>
              <a:t>pct_complete()</a:t>
            </a:r>
            <a:r>
              <a:rPr/>
              <a:t> function in the </a:t>
            </a:r>
            <a:r>
              <a:rPr>
                <a:latin typeface="Courier"/>
              </a:rPr>
              <a:t>naniar</a:t>
            </a:r>
            <a:r>
              <a:rPr/>
              <a:t> package to determine the percent missing data in “Results”. You might need to load and install </a:t>
            </a:r>
            <a:r>
              <a:rPr>
                <a:latin typeface="Courier"/>
              </a:rPr>
              <a:t>naniar</a:t>
            </a:r>
            <a:r>
              <a:rPr/>
              <a:t>!</a:t>
            </a:r>
          </a:p>
          <a:p>
            <a:pPr lvl="0" indent="0">
              <a:buNone/>
            </a:pPr>
            <a:r>
              <a:rPr>
                <a:solidFill>
                  <a:srgbClr val="06287E"/>
                </a:solidFill>
                <a:latin typeface="Courier"/>
              </a:rPr>
              <a:t>library</a:t>
            </a:r>
            <a:r>
              <a:rPr>
                <a:latin typeface="Courier"/>
              </a:rPr>
              <a:t>(naniar)</a:t>
            </a:r>
            <a:br/>
            <a:r>
              <a:rPr>
                <a:solidFill>
                  <a:srgbClr val="06287E"/>
                </a:solidFill>
                <a:latin typeface="Courier"/>
              </a:rPr>
              <a:t>pct_complete</a:t>
            </a:r>
            <a:r>
              <a:rPr>
                <a:latin typeface="Courier"/>
              </a:rPr>
              <a:t>(water)</a:t>
            </a:r>
          </a:p>
          <a:p>
            <a:pPr lvl="0" indent="0">
              <a:buNone/>
            </a:pPr>
            <a:r>
              <a:rPr>
                <a:latin typeface="Courier"/>
              </a:rPr>
              <a:t>## [1] 99.99922</a:t>
            </a:r>
          </a:p>
          <a:p>
            <a:pPr lvl="0" marL="0" indent="0">
              <a:buNone/>
            </a:pPr>
            <a:r>
              <a:rPr/>
              <a:t>10. Are there any parameter levels that have an incomplete record in </a:t>
            </a:r>
            <a:r>
              <a:rPr>
                <a:latin typeface="Courier"/>
              </a:rPr>
              <a:t>water</a:t>
            </a:r>
            <a:r>
              <a:rPr/>
              <a:t> across all years?</a:t>
            </a:r>
          </a:p>
          <a:p>
            <a:pPr lvl="1"/>
            <a:r>
              <a:rPr/>
              <a:t>Create a new dataframe called </a:t>
            </a:r>
            <a:r>
              <a:rPr>
                <a:latin typeface="Courier"/>
              </a:rPr>
              <a:t>na_counts</a:t>
            </a:r>
            <a:r>
              <a:rPr/>
              <a:t>.</a:t>
            </a:r>
          </a:p>
          <a:p>
            <a:pPr lvl="1"/>
            <a:r>
              <a:rPr/>
              <a:t>Use </a:t>
            </a:r>
            <a:r>
              <a:rPr>
                <a:latin typeface="Courier"/>
              </a:rPr>
              <a:t>group_by()</a:t>
            </a:r>
            <a:r>
              <a:rPr/>
              <a:t> on “Parameter”</a:t>
            </a:r>
          </a:p>
          <a:p>
            <a:pPr lvl="1"/>
            <a:r>
              <a:rPr/>
              <a:t>Use </a:t>
            </a:r>
            <a:r>
              <a:rPr>
                <a:latin typeface="Courier"/>
              </a:rPr>
              <a:t>summarize()</a:t>
            </a:r>
            <a:r>
              <a:rPr/>
              <a:t> on Result checking for NA values with </a:t>
            </a:r>
            <a:r>
              <a:rPr>
                <a:latin typeface="Courier"/>
              </a:rPr>
              <a:t>sum(is.na(Result))</a:t>
            </a:r>
            <a:r>
              <a:rPr/>
              <a:t>.</a:t>
            </a:r>
          </a:p>
          <a:p>
            <a:pPr lvl="1"/>
            <a:r>
              <a:rPr/>
              <a:t>Use </a:t>
            </a:r>
            <a:r>
              <a:rPr>
                <a:latin typeface="Courier"/>
              </a:rPr>
              <a:t>filter()</a:t>
            </a:r>
            <a:r>
              <a:rPr/>
              <a:t> to keep only rows with &gt; 0 NA values.</a:t>
            </a:r>
          </a:p>
          <a:p>
            <a:pPr lvl="0" indent="0">
              <a:buNone/>
            </a:pPr>
            <a:r>
              <a:rPr>
                <a:latin typeface="Courier"/>
              </a:rPr>
              <a:t>na_counts </a:t>
            </a:r>
            <a:r>
              <a:rPr>
                <a:solidFill>
                  <a:srgbClr val="007020"/>
                </a:solidFill>
                <a:latin typeface="Courier"/>
              </a:rPr>
              <a:t>&lt;-</a:t>
            </a:r>
            <a:r>
              <a:rPr>
                <a:latin typeface="Courier"/>
              </a:rPr>
              <a:t> water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group_by</a:t>
            </a:r>
            <a:r>
              <a:rPr>
                <a:latin typeface="Courier"/>
              </a:rPr>
              <a:t>(Parameter)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summarize</a:t>
            </a:r>
            <a:r>
              <a:rPr>
                <a:latin typeface="Courier"/>
              </a:rPr>
              <a:t>(</a:t>
            </a:r>
            <a:r>
              <a:rPr>
                <a:solidFill>
                  <a:srgbClr val="7D9029"/>
                </a:solidFill>
                <a:latin typeface="Courier"/>
              </a:rPr>
              <a:t>na_count =</a:t>
            </a:r>
            <a:r>
              <a:rPr>
                <a:latin typeface="Courier"/>
              </a:rPr>
              <a:t> </a:t>
            </a:r>
            <a:r>
              <a:rPr>
                <a:solidFill>
                  <a:srgbClr val="06287E"/>
                </a:solidFill>
                <a:latin typeface="Courier"/>
              </a:rPr>
              <a:t>sum</a:t>
            </a:r>
            <a:r>
              <a:rPr>
                <a:latin typeface="Courier"/>
              </a:rPr>
              <a:t>(</a:t>
            </a:r>
            <a:r>
              <a:rPr>
                <a:solidFill>
                  <a:srgbClr val="06287E"/>
                </a:solidFill>
                <a:latin typeface="Courier"/>
              </a:rPr>
              <a:t>is.na</a:t>
            </a:r>
            <a:r>
              <a:rPr>
                <a:latin typeface="Courier"/>
              </a:rPr>
              <a:t>(Result)))</a:t>
            </a:r>
            <a:br/>
            <a:br/>
            <a:r>
              <a:rPr>
                <a:latin typeface="Courier"/>
              </a:rPr>
              <a:t>na_counts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(na_count </a:t>
            </a:r>
            <a:r>
              <a:rPr>
                <a:solidFill>
                  <a:srgbClr val="4070A0"/>
                </a:solidFill>
                <a:latin typeface="Courier"/>
              </a:rPr>
              <a:t>&gt;</a:t>
            </a:r>
            <a:r>
              <a:rPr>
                <a:latin typeface="Courier"/>
              </a:rPr>
              <a:t> </a:t>
            </a:r>
            <a:r>
              <a:rPr>
                <a:solidFill>
                  <a:srgbClr val="40A070"/>
                </a:solidFill>
                <a:latin typeface="Courier"/>
              </a:rPr>
              <a:t>0</a:t>
            </a:r>
            <a:r>
              <a:rPr>
                <a:latin typeface="Courier"/>
              </a:rPr>
              <a:t>)</a:t>
            </a:r>
          </a:p>
          <a:p>
            <a:pPr lvl="0" indent="0">
              <a:buNone/>
            </a:pPr>
            <a:r>
              <a:rPr>
                <a:latin typeface="Courier"/>
              </a:rPr>
              <a:t>## # A tibble: 3 × 2
##   Parameter na_count
##   &lt;fct&gt;        &lt;int&gt;
## 1 E. Coli         27
## 2 Hardness        11
## 3 Turbidity        3</a:t>
            </a:r>
          </a:p>
          <a:p>
            <a:pPr lvl="0" marL="0" indent="0">
              <a:buNone/>
            </a:pPr>
            <a:r>
              <a:rPr/>
              <a:t>11. Subset </a:t>
            </a:r>
            <a:r>
              <a:rPr>
                <a:latin typeface="Courier"/>
              </a:rPr>
              <a:t>water</a:t>
            </a:r>
            <a:r>
              <a:rPr/>
              <a:t> so that it only contains results for the years 2010 - 2024, using </a:t>
            </a:r>
            <a:r>
              <a:rPr>
                <a:latin typeface="Courier"/>
              </a:rPr>
              <a:t>&amp;</a:t>
            </a:r>
            <a:r>
              <a:rPr/>
              <a:t> and the </a:t>
            </a:r>
            <a:r>
              <a:rPr>
                <a:latin typeface="Courier"/>
              </a:rPr>
              <a:t>filter()</a:t>
            </a:r>
            <a:r>
              <a:rPr/>
              <a:t> function. Make sure to include both the years 2010 and 2024. Confirm your filtering worked by looking at the </a:t>
            </a:r>
            <a:r>
              <a:rPr>
                <a:latin typeface="Courier"/>
              </a:rPr>
              <a:t>range()</a:t>
            </a:r>
            <a:r>
              <a:rPr/>
              <a:t> of “Year”. Assign this subsetted tibble to </a:t>
            </a:r>
            <a:r>
              <a:rPr>
                <a:latin typeface="Courier"/>
              </a:rPr>
              <a:t>water_subset</a:t>
            </a:r>
            <a:r>
              <a:rPr/>
              <a:t>.</a:t>
            </a:r>
          </a:p>
          <a:p>
            <a:pPr lvl="0" indent="0">
              <a:buNone/>
            </a:pPr>
            <a:r>
              <a:rPr>
                <a:latin typeface="Courier"/>
              </a:rPr>
              <a:t>water_subset </a:t>
            </a:r>
            <a:r>
              <a:rPr>
                <a:solidFill>
                  <a:srgbClr val="007020"/>
                </a:solidFill>
                <a:latin typeface="Courier"/>
              </a:rPr>
              <a:t>&lt;-</a:t>
            </a:r>
            <a:r>
              <a:rPr>
                <a:latin typeface="Courier"/>
              </a:rPr>
              <a:t> water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(Year </a:t>
            </a:r>
            <a:r>
              <a:rPr>
                <a:solidFill>
                  <a:srgbClr val="4070A0"/>
                </a:solidFill>
                <a:latin typeface="Courier"/>
              </a:rPr>
              <a:t>&gt;=</a:t>
            </a:r>
            <a:r>
              <a:rPr>
                <a:latin typeface="Courier"/>
              </a:rPr>
              <a:t> </a:t>
            </a:r>
            <a:r>
              <a:rPr>
                <a:solidFill>
                  <a:srgbClr val="40A070"/>
                </a:solidFill>
                <a:latin typeface="Courier"/>
              </a:rPr>
              <a:t>2010</a:t>
            </a:r>
            <a:r>
              <a:rPr>
                <a:latin typeface="Courier"/>
              </a:rPr>
              <a:t> </a:t>
            </a:r>
            <a:r>
              <a:rPr>
                <a:solidFill>
                  <a:srgbClr val="4070A0"/>
                </a:solidFill>
                <a:latin typeface="Courier"/>
              </a:rPr>
              <a:t>&amp;</a:t>
            </a:r>
            <a:r>
              <a:rPr>
                <a:latin typeface="Courier"/>
              </a:rPr>
              <a:t> Year </a:t>
            </a:r>
            <a:r>
              <a:rPr>
                <a:solidFill>
                  <a:srgbClr val="4070A0"/>
                </a:solidFill>
                <a:latin typeface="Courier"/>
              </a:rPr>
              <a:t>&lt;=</a:t>
            </a:r>
            <a:r>
              <a:rPr>
                <a:latin typeface="Courier"/>
              </a:rPr>
              <a:t> </a:t>
            </a:r>
            <a:r>
              <a:rPr>
                <a:solidFill>
                  <a:srgbClr val="40A070"/>
                </a:solidFill>
                <a:latin typeface="Courier"/>
              </a:rPr>
              <a:t>2024</a:t>
            </a:r>
            <a:r>
              <a:rPr>
                <a:latin typeface="Courier"/>
              </a:rPr>
              <a:t>)</a:t>
            </a:r>
            <a:br/>
            <a:r>
              <a:rPr>
                <a:latin typeface="Courier"/>
              </a:rPr>
              <a:t>water_subset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pull</a:t>
            </a:r>
            <a:r>
              <a:rPr>
                <a:latin typeface="Courier"/>
              </a:rPr>
              <a:t>(Year)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range</a:t>
            </a:r>
            <a:r>
              <a:rPr>
                <a:latin typeface="Courier"/>
              </a:rPr>
              <a:t>() </a:t>
            </a:r>
            <a:r>
              <a:rPr i="1">
                <a:solidFill>
                  <a:srgbClr val="60A0B0"/>
                </a:solidFill>
                <a:latin typeface="Courier"/>
              </a:rPr>
              <a:t># confirm it worked</a:t>
            </a:r>
          </a:p>
          <a:p>
            <a:pPr lvl="0" indent="0">
              <a:buNone/>
            </a:pPr>
            <a:r>
              <a:rPr>
                <a:latin typeface="Courier"/>
              </a:rPr>
              <a:t>## [1] 2010 2024</a:t>
            </a:r>
          </a:p>
          <a:p>
            <a:pPr lvl="0" marL="0" indent="0">
              <a:buNone/>
            </a:pPr>
            <a:r>
              <a:rPr/>
              <a:t>12. Subset </a:t>
            </a:r>
            <a:r>
              <a:rPr>
                <a:latin typeface="Courier"/>
              </a:rPr>
              <a:t>water_subset</a:t>
            </a:r>
            <a:r>
              <a:rPr/>
              <a:t> so that the “Parameter” column only contains results from the tests for “Dissolved Oxygen”, “pH”, and “Water Temperature”. Use the </a:t>
            </a:r>
            <a:r>
              <a:rPr>
                <a:latin typeface="Courier"/>
              </a:rPr>
              <a:t>%in%</a:t>
            </a:r>
            <a:r>
              <a:rPr/>
              <a:t> operator and the </a:t>
            </a:r>
            <a:r>
              <a:rPr>
                <a:latin typeface="Courier"/>
              </a:rPr>
              <a:t>filter()</a:t>
            </a:r>
            <a:r>
              <a:rPr/>
              <a:t> function. Make sure to reassign to </a:t>
            </a:r>
            <a:r>
              <a:rPr>
                <a:latin typeface="Courier"/>
              </a:rPr>
              <a:t>water_subset</a:t>
            </a:r>
            <a:r>
              <a:rPr/>
              <a:t>.</a:t>
            </a:r>
          </a:p>
          <a:p>
            <a:pPr lvl="0" indent="0">
              <a:buNone/>
            </a:pPr>
            <a:r>
              <a:rPr>
                <a:latin typeface="Courier"/>
              </a:rPr>
              <a:t>water_subset </a:t>
            </a:r>
            <a:r>
              <a:rPr>
                <a:solidFill>
                  <a:srgbClr val="007020"/>
                </a:solidFill>
                <a:latin typeface="Courier"/>
              </a:rPr>
              <a:t>&lt;-</a:t>
            </a:r>
            <a:r>
              <a:rPr>
                <a:latin typeface="Courier"/>
              </a:rPr>
              <a:t> water_subset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filter</a:t>
            </a:r>
            <a:r>
              <a:rPr>
                <a:latin typeface="Courier"/>
              </a:rPr>
              <a:t>(Parameter </a:t>
            </a:r>
            <a:r>
              <a:rPr>
                <a:solidFill>
                  <a:srgbClr val="4070A0"/>
                </a:solidFill>
                <a:latin typeface="Courier"/>
              </a:rPr>
              <a:t>%in%</a:t>
            </a:r>
            <a:r>
              <a:rPr>
                <a:latin typeface="Courier"/>
              </a:rPr>
              <a:t> </a:t>
            </a:r>
            <a:r>
              <a:rPr>
                <a:solidFill>
                  <a:srgbClr val="06287E"/>
                </a:solidFill>
                <a:latin typeface="Courier"/>
              </a:rPr>
              <a:t>c</a:t>
            </a:r>
            <a:r>
              <a:rPr>
                <a:latin typeface="Courier"/>
              </a:rPr>
              <a:t>(</a:t>
            </a:r>
            <a:r>
              <a:rPr>
                <a:solidFill>
                  <a:srgbClr val="4070A0"/>
                </a:solidFill>
                <a:latin typeface="Courier"/>
              </a:rPr>
              <a:t>"Dissolved Oxygen"</a:t>
            </a:r>
            <a:r>
              <a:rPr>
                <a:latin typeface="Courier"/>
              </a:rPr>
              <a:t>, </a:t>
            </a:r>
            <a:r>
              <a:rPr>
                <a:solidFill>
                  <a:srgbClr val="4070A0"/>
                </a:solidFill>
                <a:latin typeface="Courier"/>
              </a:rPr>
              <a:t>"pH"</a:t>
            </a:r>
            <a:r>
              <a:rPr>
                <a:latin typeface="Courier"/>
              </a:rPr>
              <a:t>, </a:t>
            </a:r>
            <a:r>
              <a:rPr>
                <a:solidFill>
                  <a:srgbClr val="4070A0"/>
                </a:solidFill>
                <a:latin typeface="Courier"/>
              </a:rPr>
              <a:t>"Water Temperature"</a:t>
            </a:r>
            <a:r>
              <a:rPr>
                <a:latin typeface="Courier"/>
              </a:rPr>
              <a:t>))</a:t>
            </a:r>
          </a:p>
          <a:p>
            <a:pPr lvl="0" marL="0" indent="0">
              <a:buNone/>
            </a:pPr>
            <a:r>
              <a:rPr/>
              <a:t>13. Load the new dataset “Baltimore_rainfall_HamiltonAve.csv” into R.</a:t>
            </a:r>
          </a:p>
          <a:p>
            <a:pPr lvl="1"/>
            <a:r>
              <a:rPr/>
              <a:t>The dataset is located at: </a:t>
            </a:r>
            <a:r>
              <a:rPr>
                <a:hlinkClick r:id="rId3"/>
              </a:rPr>
              <a:t>https://daseh.org/data/Baltimore_rainfall_HamiltonAve.csv</a:t>
            </a:r>
            <a:r>
              <a:rPr/>
              <a:t>.</a:t>
            </a:r>
          </a:p>
          <a:p>
            <a:pPr lvl="1"/>
            <a:r>
              <a:rPr/>
              <a:t>You can use the link, download it, or use whatever method you like for getting the file.</a:t>
            </a:r>
          </a:p>
          <a:p>
            <a:pPr lvl="1"/>
            <a:r>
              <a:rPr/>
              <a:t>Once you get the file, read the dataset in using </a:t>
            </a:r>
            <a:r>
              <a:rPr>
                <a:latin typeface="Courier"/>
              </a:rPr>
              <a:t>read_csv()</a:t>
            </a:r>
            <a:r>
              <a:rPr/>
              <a:t> and assign it the name </a:t>
            </a:r>
            <a:r>
              <a:rPr>
                <a:latin typeface="Courier"/>
              </a:rPr>
              <a:t>rainfall</a:t>
            </a:r>
            <a:r>
              <a:rPr/>
              <a:t>.</a:t>
            </a:r>
          </a:p>
          <a:p>
            <a:pPr lvl="0" marL="0" indent="0">
              <a:buNone/>
            </a:pPr>
            <a:r>
              <a:rPr/>
              <a:t>This dataset contains measured precipitation by month, as collected near the Hamilton Ave testing location in Baltimore.</a:t>
            </a:r>
          </a:p>
          <a:p>
            <a:pPr lvl="0" indent="0">
              <a:buNone/>
            </a:pPr>
            <a:r>
              <a:rPr>
                <a:latin typeface="Courier"/>
              </a:rPr>
              <a:t>rainfall </a:t>
            </a:r>
            <a:r>
              <a:rPr>
                <a:solidFill>
                  <a:srgbClr val="007020"/>
                </a:solidFill>
                <a:latin typeface="Courier"/>
              </a:rPr>
              <a:t>&lt;-</a:t>
            </a:r>
            <a:r>
              <a:rPr>
                <a:latin typeface="Courier"/>
              </a:rPr>
              <a:t> </a:t>
            </a:r>
            <a:r>
              <a:rPr>
                <a:solidFill>
                  <a:srgbClr val="06287E"/>
                </a:solidFill>
                <a:latin typeface="Courier"/>
              </a:rPr>
              <a:t>read_csv</a:t>
            </a:r>
            <a:r>
              <a:rPr>
                <a:latin typeface="Courier"/>
              </a:rPr>
              <a:t>(</a:t>
            </a:r>
            <a:r>
              <a:rPr>
                <a:solidFill>
                  <a:srgbClr val="4070A0"/>
                </a:solidFill>
                <a:latin typeface="Courier"/>
              </a:rPr>
              <a:t>"https://daseh.org/data/Baltimore_rainfall_HamiltonAve.csv"</a:t>
            </a:r>
            <a:r>
              <a:rPr>
                <a:latin typeface="Courier"/>
              </a:rPr>
              <a:t>)</a:t>
            </a:r>
          </a:p>
          <a:p>
            <a:pPr lvl="0" indent="0">
              <a:buNone/>
            </a:pPr>
            <a:r>
              <a:rPr>
                <a:latin typeface="Courier"/>
              </a:rPr>
              <a:t>## Rows: 13 Columns: 17
## ── Column specification ────────────────────────────────────────────────────────
## Delimiter: ","
## chr  (1): Month
## dbl (16): 2009, 2010, 2011, 2012, 2013, 2014, 2015, 2016, 2017, 2018, 2019, ...
## 
## ℹ Use `spec()` to retrieve the full column specification for this data.
## ℹ Specify the column types or set `show_col_types = FALSE` to quiet this message.</a:t>
            </a:r>
          </a:p>
          <a:p>
            <a:pPr lvl="0" marL="0" indent="0">
              <a:buNone/>
            </a:pPr>
            <a:r>
              <a:rPr/>
              <a:t>14. Reshape </a:t>
            </a:r>
            <a:r>
              <a:rPr>
                <a:latin typeface="Courier"/>
              </a:rPr>
              <a:t>rainfall</a:t>
            </a:r>
            <a:r>
              <a:rPr/>
              <a:t> into long format using </a:t>
            </a:r>
            <a:r>
              <a:rPr>
                <a:latin typeface="Courier"/>
              </a:rPr>
              <a:t>pivot_longer()</a:t>
            </a:r>
            <a:r>
              <a:rPr/>
              <a:t>. The reshaped dataset should contain three columns: year (“Year”), month (“Month”), and amount of rainfall (“Precip”).</a:t>
            </a:r>
          </a:p>
          <a:p>
            <a:pPr lvl="1"/>
            <a:r>
              <a:rPr/>
              <a:t>Pivot all columns except “Month”. </a:t>
            </a:r>
            <a:r>
              <a:rPr b="1"/>
              <a:t>Hint:</a:t>
            </a:r>
            <a:r>
              <a:rPr/>
              <a:t> listing </a:t>
            </a:r>
            <a:r>
              <a:rPr>
                <a:latin typeface="Courier"/>
              </a:rPr>
              <a:t>!COLUMN</a:t>
            </a:r>
            <a:r>
              <a:rPr/>
              <a:t> or </a:t>
            </a:r>
            <a:r>
              <a:rPr>
                <a:latin typeface="Courier"/>
              </a:rPr>
              <a:t>-COLUMN</a:t>
            </a:r>
            <a:r>
              <a:rPr/>
              <a:t> means everything except COLUMN.</a:t>
            </a:r>
            <a:br/>
          </a:p>
          <a:p>
            <a:pPr lvl="1"/>
            <a:r>
              <a:rPr/>
              <a:t>Make sure </a:t>
            </a:r>
            <a:r>
              <a:rPr>
                <a:latin typeface="Courier"/>
              </a:rPr>
              <a:t>names_to</a:t>
            </a:r>
            <a:r>
              <a:rPr/>
              <a:t> is “Year” and </a:t>
            </a:r>
            <a:r>
              <a:rPr>
                <a:latin typeface="Courier"/>
              </a:rPr>
              <a:t>values_to</a:t>
            </a:r>
            <a:r>
              <a:rPr/>
              <a:t> is “Precip”.</a:t>
            </a:r>
            <a:br/>
          </a:p>
          <a:p>
            <a:pPr lvl="1"/>
            <a:r>
              <a:rPr/>
              <a:t>Assign the reshaped dataset to </a:t>
            </a:r>
            <a:r>
              <a:rPr>
                <a:latin typeface="Courier"/>
              </a:rPr>
              <a:t>rainfall_long</a:t>
            </a:r>
            <a:r>
              <a:rPr/>
              <a:t>.</a:t>
            </a:r>
          </a:p>
          <a:p>
            <a:pPr lvl="0" indent="0">
              <a:buNone/>
            </a:pPr>
            <a:r>
              <a:rPr>
                <a:latin typeface="Courier"/>
              </a:rPr>
              <a:t>rainfall_long </a:t>
            </a:r>
            <a:r>
              <a:rPr>
                <a:solidFill>
                  <a:srgbClr val="007020"/>
                </a:solidFill>
                <a:latin typeface="Courier"/>
              </a:rPr>
              <a:t>&lt;-</a:t>
            </a:r>
            <a:r>
              <a:rPr>
                <a:latin typeface="Courier"/>
              </a:rPr>
              <a:t> rainfall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pivot_longer</a:t>
            </a:r>
            <a:r>
              <a:rPr>
                <a:latin typeface="Courier"/>
              </a:rPr>
              <a:t>(</a:t>
            </a:r>
            <a:r>
              <a:rPr>
                <a:solidFill>
                  <a:srgbClr val="4070A0"/>
                </a:solidFill>
                <a:latin typeface="Courier"/>
              </a:rPr>
              <a:t>!</a:t>
            </a:r>
            <a:r>
              <a:rPr>
                <a:latin typeface="Courier"/>
              </a:rPr>
              <a:t>Month, </a:t>
            </a:r>
            <a:r>
              <a:rPr>
                <a:solidFill>
                  <a:srgbClr val="7D9029"/>
                </a:solidFill>
                <a:latin typeface="Courier"/>
              </a:rPr>
              <a:t>names_to =</a:t>
            </a:r>
            <a:r>
              <a:rPr>
                <a:latin typeface="Courier"/>
              </a:rPr>
              <a:t> </a:t>
            </a:r>
            <a:r>
              <a:rPr>
                <a:solidFill>
                  <a:srgbClr val="4070A0"/>
                </a:solidFill>
                <a:latin typeface="Courier"/>
              </a:rPr>
              <a:t>"Year"</a:t>
            </a:r>
            <a:r>
              <a:rPr>
                <a:latin typeface="Courier"/>
              </a:rPr>
              <a:t>, </a:t>
            </a:r>
            <a:r>
              <a:rPr>
                <a:solidFill>
                  <a:srgbClr val="7D9029"/>
                </a:solidFill>
                <a:latin typeface="Courier"/>
              </a:rPr>
              <a:t>values_to =</a:t>
            </a:r>
            <a:r>
              <a:rPr>
                <a:latin typeface="Courier"/>
              </a:rPr>
              <a:t> </a:t>
            </a:r>
            <a:r>
              <a:rPr>
                <a:solidFill>
                  <a:srgbClr val="4070A0"/>
                </a:solidFill>
                <a:latin typeface="Courier"/>
              </a:rPr>
              <a:t>"Precip"</a:t>
            </a:r>
            <a:r>
              <a:rPr>
                <a:latin typeface="Courier"/>
              </a:rPr>
              <a:t>)</a:t>
            </a:r>
          </a:p>
          <a:p>
            <a:pPr lvl="0" marL="0" indent="0">
              <a:buNone/>
            </a:pPr>
            <a:r>
              <a:rPr/>
              <a:t>15. How many possible “Year” and “Month” combinations are in </a:t>
            </a:r>
            <a:r>
              <a:rPr>
                <a:latin typeface="Courier"/>
              </a:rPr>
              <a:t>rainfall_long</a:t>
            </a:r>
            <a:r>
              <a:rPr/>
              <a:t>? Use </a:t>
            </a:r>
            <a:r>
              <a:rPr>
                <a:latin typeface="Courier"/>
              </a:rPr>
              <a:t>count()</a:t>
            </a:r>
            <a:r>
              <a:rPr/>
              <a:t>. How does this compare to </a:t>
            </a:r>
            <a:r>
              <a:rPr>
                <a:latin typeface="Courier"/>
              </a:rPr>
              <a:t>nrow()</a:t>
            </a:r>
            <a:r>
              <a:rPr/>
              <a:t>? Can you use this information to determine the number of observations per each Year and Month combination?</a:t>
            </a:r>
          </a:p>
          <a:p>
            <a:pPr lvl="0" indent="0">
              <a:buNone/>
            </a:pPr>
            <a:r>
              <a:rPr>
                <a:latin typeface="Courier"/>
              </a:rPr>
              <a:t>rainfall_long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count</a:t>
            </a:r>
            <a:r>
              <a:rPr>
                <a:latin typeface="Courier"/>
              </a:rPr>
              <a:t>(Year, Month)</a:t>
            </a:r>
          </a:p>
          <a:p>
            <a:pPr lvl="0" indent="0">
              <a:buNone/>
            </a:pPr>
            <a:r>
              <a:rPr>
                <a:latin typeface="Courier"/>
              </a:rPr>
              <a:t>## # A tibble: 208 × 3
##    Year  Month      n
##    &lt;chr&gt; &lt;chr&gt;  &lt;int&gt;
##  1 2009  Annual     1
##  2 2009  Apr        1
##  3 2009  Aug        1
##  4 2009  Dec        1
##  5 2009  Feb        1
##  6 2009  Jan        1
##  7 2009  Jul        1
##  8 2009  Jun        1
##  9 2009  Mar        1
## 10 2009  May        1
## # ℹ 198 more rows</a:t>
            </a:r>
          </a:p>
          <a:p>
            <a:pPr lvl="0" indent="0">
              <a:buNone/>
            </a:pPr>
            <a:r>
              <a:rPr>
                <a:solidFill>
                  <a:srgbClr val="06287E"/>
                </a:solidFill>
                <a:latin typeface="Courier"/>
              </a:rPr>
              <a:t>nrow</a:t>
            </a:r>
            <a:r>
              <a:rPr>
                <a:latin typeface="Courier"/>
              </a:rPr>
              <a:t>(rainfall_long)</a:t>
            </a:r>
          </a:p>
          <a:p>
            <a:pPr lvl="0" indent="0">
              <a:buNone/>
            </a:pPr>
            <a:r>
              <a:rPr>
                <a:latin typeface="Courier"/>
              </a:rPr>
              <a:t>## [1] 208</a:t>
            </a:r>
          </a:p>
          <a:p>
            <a:pPr lvl="0" indent="0">
              <a:buNone/>
            </a:pPr>
            <a:r>
              <a:rPr i="1">
                <a:solidFill>
                  <a:srgbClr val="60A0B0"/>
                </a:solidFill>
                <a:latin typeface="Courier"/>
              </a:rPr>
              <a:t># They are the same; the dataset contains one observation per Year and Month combination.</a:t>
            </a:r>
          </a:p>
          <a:p>
            <a:pPr lvl="0" marL="0" indent="0">
              <a:buNone/>
            </a:pPr>
            <a:r>
              <a:rPr/>
              <a:t>16. We would like to join the rainfall measurements dataset with the Baltimore surface water quality dataset, but we need to do a bit more wrangling first. Because the rainfall measures were collected near the Hamilton Ave water testing site, let’s keep only the Hamilton Ave data from the </a:t>
            </a:r>
            <a:r>
              <a:rPr>
                <a:latin typeface="Courier"/>
              </a:rPr>
              <a:t>water_subset</a:t>
            </a:r>
            <a:r>
              <a:rPr/>
              <a:t> data, using </a:t>
            </a:r>
            <a:r>
              <a:rPr>
                <a:latin typeface="Courier"/>
              </a:rPr>
              <a:t>filter()</a:t>
            </a:r>
            <a:r>
              <a:rPr/>
              <a:t>. Assign this to </a:t>
            </a:r>
            <a:r>
              <a:rPr>
                <a:latin typeface="Courier"/>
              </a:rPr>
              <a:t>water_Ham</a:t>
            </a:r>
            <a:r>
              <a:rPr/>
              <a:t>.</a:t>
            </a:r>
          </a:p>
          <a:p>
            <a:pPr lvl="1"/>
            <a:r>
              <a:rPr/>
              <a:t>The “Station” column should be “HAMILTON AVE.”</a:t>
            </a:r>
          </a:p>
          <a:p>
            <a:pPr lvl="0" indent="0">
              <a:buNone/>
            </a:pPr>
            <a:r>
              <a:rPr>
                <a:latin typeface="Courier"/>
              </a:rPr>
              <a:t>water_Ham </a:t>
            </a:r>
            <a:r>
              <a:rPr>
                <a:solidFill>
                  <a:srgbClr val="007020"/>
                </a:solidFill>
                <a:latin typeface="Courier"/>
              </a:rPr>
              <a:t>&lt;-</a:t>
            </a:r>
            <a:r>
              <a:rPr>
                <a:latin typeface="Courier"/>
              </a:rPr>
              <a:t> water_subset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(Station </a:t>
            </a:r>
            <a:r>
              <a:rPr>
                <a:solidFill>
                  <a:srgbClr val="4070A0"/>
                </a:solidFill>
                <a:latin typeface="Courier"/>
              </a:rPr>
              <a:t>==</a:t>
            </a:r>
            <a:r>
              <a:rPr>
                <a:latin typeface="Courier"/>
              </a:rPr>
              <a:t> </a:t>
            </a:r>
            <a:r>
              <a:rPr>
                <a:solidFill>
                  <a:srgbClr val="4070A0"/>
                </a:solidFill>
                <a:latin typeface="Courier"/>
              </a:rPr>
              <a:t>"HAMILTON AVE."</a:t>
            </a:r>
            <a:r>
              <a:rPr>
                <a:latin typeface="Courier"/>
              </a:rPr>
              <a:t>)</a:t>
            </a:r>
          </a:p>
          <a:p>
            <a:pPr lvl="0" marL="0" indent="0">
              <a:buNone/>
            </a:pPr>
            <a:r>
              <a:rPr/>
              <a:t>17. Right-join </a:t>
            </a:r>
            <a:r>
              <a:rPr>
                <a:latin typeface="Courier"/>
              </a:rPr>
              <a:t>water_Ham</a:t>
            </a:r>
            <a:r>
              <a:rPr/>
              <a:t> and </a:t>
            </a:r>
            <a:r>
              <a:rPr>
                <a:latin typeface="Courier"/>
              </a:rPr>
              <a:t>rainfall_long</a:t>
            </a:r>
            <a:r>
              <a:rPr/>
              <a:t> by “Month” and “Year” using </a:t>
            </a:r>
            <a:r>
              <a:rPr>
                <a:latin typeface="Courier"/>
              </a:rPr>
              <a:t>right_join()</a:t>
            </a:r>
            <a:r>
              <a:rPr/>
              <a:t>. Assign the joined dataset to the name </a:t>
            </a:r>
            <a:r>
              <a:rPr>
                <a:latin typeface="Courier"/>
              </a:rPr>
              <a:t>water_rain</a:t>
            </a:r>
            <a:r>
              <a:rPr/>
              <a:t>. Did this join attempt work? Why or why not?</a:t>
            </a:r>
          </a:p>
          <a:p>
            <a:pPr lvl="0" indent="0">
              <a:buNone/>
            </a:pPr>
            <a:r>
              <a:rPr>
                <a:latin typeface="Courier"/>
              </a:rPr>
              <a:t>water_rain </a:t>
            </a:r>
            <a:r>
              <a:rPr>
                <a:solidFill>
                  <a:srgbClr val="007020"/>
                </a:solidFill>
                <a:latin typeface="Courier"/>
              </a:rPr>
              <a:t>&lt;-</a:t>
            </a:r>
            <a:r>
              <a:rPr>
                <a:latin typeface="Courier"/>
              </a:rPr>
              <a:t> water_Ham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right_join</a:t>
            </a:r>
            <a:r>
              <a:rPr>
                <a:latin typeface="Courier"/>
              </a:rPr>
              <a:t>(rainfall_long, </a:t>
            </a:r>
            <a:r>
              <a:rPr>
                <a:solidFill>
                  <a:srgbClr val="7D9029"/>
                </a:solidFill>
                <a:latin typeface="Courier"/>
              </a:rPr>
              <a:t>by =</a:t>
            </a:r>
            <a:r>
              <a:rPr>
                <a:latin typeface="Courier"/>
              </a:rPr>
              <a:t> </a:t>
            </a:r>
            <a:r>
              <a:rPr>
                <a:solidFill>
                  <a:srgbClr val="06287E"/>
                </a:solidFill>
                <a:latin typeface="Courier"/>
              </a:rPr>
              <a:t>c</a:t>
            </a:r>
            <a:r>
              <a:rPr>
                <a:latin typeface="Courier"/>
              </a:rPr>
              <a:t>(</a:t>
            </a:r>
            <a:r>
              <a:rPr>
                <a:solidFill>
                  <a:srgbClr val="4070A0"/>
                </a:solidFill>
                <a:latin typeface="Courier"/>
              </a:rPr>
              <a:t>"Month"</a:t>
            </a:r>
            <a:r>
              <a:rPr>
                <a:latin typeface="Courier"/>
              </a:rPr>
              <a:t>, </a:t>
            </a:r>
            <a:r>
              <a:rPr>
                <a:solidFill>
                  <a:srgbClr val="4070A0"/>
                </a:solidFill>
                <a:latin typeface="Courier"/>
              </a:rPr>
              <a:t>"Year"</a:t>
            </a:r>
            <a:r>
              <a:rPr>
                <a:latin typeface="Courier"/>
              </a:rPr>
              <a:t>))</a:t>
            </a:r>
          </a:p>
          <a:p>
            <a:pPr lvl="0" indent="0">
              <a:buNone/>
            </a:pPr>
            <a:r>
              <a:rPr>
                <a:latin typeface="Courier"/>
              </a:rPr>
              <a:t>## Error in `right_join()`:
## ! Can't join `x$Month` with `y$Month` due to incompatible types.
## ℹ `x$Month` is a &lt;double&gt;.
## ℹ `y$Month` is a &lt;character&gt;.</a:t>
            </a:r>
          </a:p>
          <a:p>
            <a:pPr lvl="0" indent="0">
              <a:buNone/>
            </a:pPr>
            <a:r>
              <a:rPr i="1">
                <a:solidFill>
                  <a:srgbClr val="60A0B0"/>
                </a:solidFill>
                <a:latin typeface="Courier"/>
              </a:rPr>
              <a:t>#This attempted join did not work, because the class of Month is not the same between the two datasets!</a:t>
            </a:r>
          </a:p>
          <a:p>
            <a:pPr lvl="0" marL="0" indent="0">
              <a:buNone/>
            </a:pPr>
            <a:r>
              <a:rPr/>
              <a:t>18. Check the class of the “Month” column in each dataset. Reformat “Month” in </a:t>
            </a:r>
            <a:r>
              <a:rPr>
                <a:latin typeface="Courier"/>
              </a:rPr>
              <a:t>rainfall_long</a:t>
            </a:r>
            <a:r>
              <a:rPr/>
              <a:t> so that it matches the format in </a:t>
            </a:r>
            <a:r>
              <a:rPr>
                <a:latin typeface="Courier"/>
              </a:rPr>
              <a:t>water_Ham</a:t>
            </a:r>
            <a:r>
              <a:rPr/>
              <a:t>. Use </a:t>
            </a:r>
            <a:r>
              <a:rPr>
                <a:latin typeface="Courier"/>
              </a:rPr>
              <a:t>case_when()</a:t>
            </a:r>
            <a:r>
              <a:rPr/>
              <a:t> and </a:t>
            </a:r>
            <a:r>
              <a:rPr>
                <a:latin typeface="Courier"/>
              </a:rPr>
              <a:t>mutate()</a:t>
            </a:r>
            <a:r>
              <a:rPr/>
              <a:t>, then reassign to </a:t>
            </a:r>
            <a:r>
              <a:rPr>
                <a:latin typeface="Courier"/>
              </a:rPr>
              <a:t>rainfall_long</a:t>
            </a:r>
            <a:r>
              <a:rPr/>
              <a:t>.</a:t>
            </a:r>
          </a:p>
          <a:p>
            <a:pPr lvl="0" indent="0">
              <a:buNone/>
            </a:pPr>
            <a:r>
              <a:rPr>
                <a:latin typeface="Courier"/>
              </a:rPr>
              <a:t>rainfall_long </a:t>
            </a:r>
            <a:r>
              <a:rPr>
                <a:solidFill>
                  <a:srgbClr val="007020"/>
                </a:solidFill>
                <a:latin typeface="Courier"/>
              </a:rPr>
              <a:t>&lt;-</a:t>
            </a:r>
            <a:r>
              <a:rPr>
                <a:latin typeface="Courier"/>
              </a:rPr>
              <a:t> rainfall_long </a:t>
            </a:r>
            <a:r>
              <a:rPr>
                <a:solidFill>
                  <a:srgbClr val="4070A0"/>
                </a:solidFill>
                <a:latin typeface="Courier"/>
              </a:rPr>
              <a:t>|</a:t>
            </a:r>
            <a:r>
              <a:rPr b="1">
                <a:solidFill>
                  <a:srgbClr val="FF0000"/>
                </a:solidFill>
                <a:latin typeface="Courier"/>
              </a:rPr>
              <a:t>&gt;</a:t>
            </a:r>
            <a:r>
              <a:rPr>
                <a:latin typeface="Courier"/>
              </a:rPr>
              <a:t> </a:t>
            </a:r>
            <a:br/>
            <a:r>
              <a:rPr>
                <a:latin typeface="Courier"/>
              </a:rPr>
              <a:t>  </a:t>
            </a:r>
            <a:r>
              <a:rPr>
                <a:solidFill>
                  <a:srgbClr val="06287E"/>
                </a:solidFill>
                <a:latin typeface="Courier"/>
              </a:rPr>
              <a:t>mutate</a:t>
            </a:r>
            <a:r>
              <a:rPr>
                <a:latin typeface="Courier"/>
              </a:rPr>
              <a:t>(</a:t>
            </a:r>
            <a:r>
              <a:rPr>
                <a:solidFill>
                  <a:srgbClr val="7D9029"/>
                </a:solidFill>
                <a:latin typeface="Courier"/>
              </a:rPr>
              <a:t>Month =</a:t>
            </a:r>
            <a:r>
              <a:rPr>
                <a:latin typeface="Courier"/>
              </a:rPr>
              <a:t> </a:t>
            </a:r>
            <a:r>
              <a:rPr>
                <a:solidFill>
                  <a:srgbClr val="06287E"/>
                </a:solidFill>
                <a:latin typeface="Courier"/>
              </a:rPr>
              <a:t>case_when</a:t>
            </a:r>
            <a:r>
              <a:rPr>
                <a:latin typeface="Courier"/>
              </a:rPr>
              <a:t>(</a:t>
            </a:r>
            <a:br/>
            <a:r>
              <a:rPr>
                <a:latin typeface="Courier"/>
              </a:rPr>
              <a:t>    Month </a:t>
            </a:r>
            <a:r>
              <a:rPr>
                <a:solidFill>
                  <a:srgbClr val="4070A0"/>
                </a:solidFill>
                <a:latin typeface="Courier"/>
              </a:rPr>
              <a:t>==</a:t>
            </a:r>
            <a:r>
              <a:rPr>
                <a:latin typeface="Courier"/>
              </a:rPr>
              <a:t> </a:t>
            </a:r>
            <a:r>
              <a:rPr>
                <a:solidFill>
                  <a:srgbClr val="4070A0"/>
                </a:solidFill>
                <a:latin typeface="Courier"/>
              </a:rPr>
              <a:t>"Jan"</a:t>
            </a:r>
            <a:r>
              <a:rPr>
                <a:latin typeface="Courier"/>
              </a:rPr>
              <a:t> </a:t>
            </a:r>
            <a:r>
              <a:rPr>
                <a:solidFill>
                  <a:srgbClr val="4070A0"/>
                </a:solidFill>
                <a:latin typeface="Courier"/>
              </a:rPr>
              <a:t>~</a:t>
            </a:r>
            <a:r>
              <a:rPr>
                <a:latin typeface="Courier"/>
              </a:rPr>
              <a:t> </a:t>
            </a:r>
            <a:r>
              <a:rPr>
                <a:solidFill>
                  <a:srgbClr val="40A070"/>
                </a:solidFill>
                <a:latin typeface="Courier"/>
              </a:rPr>
              <a:t>1</a:t>
            </a:r>
            <a:r>
              <a:rPr>
                <a:latin typeface="Courier"/>
              </a:rPr>
              <a:t>,</a:t>
            </a:r>
            <a:br/>
            <a:r>
              <a:rPr>
                <a:latin typeface="Courier"/>
              </a:rPr>
              <a:t>    Month </a:t>
            </a:r>
            <a:r>
              <a:rPr>
                <a:solidFill>
                  <a:srgbClr val="4070A0"/>
                </a:solidFill>
                <a:latin typeface="Courier"/>
              </a:rPr>
              <a:t>==</a:t>
            </a:r>
            <a:r>
              <a:rPr>
                <a:latin typeface="Courier"/>
              </a:rPr>
              <a:t> </a:t>
            </a:r>
            <a:r>
              <a:rPr>
                <a:solidFill>
                  <a:srgbClr val="4070A0"/>
                </a:solidFill>
                <a:latin typeface="Courier"/>
              </a:rPr>
              <a:t>"Feb"</a:t>
            </a:r>
            <a:r>
              <a:rPr>
                <a:latin typeface="Courier"/>
              </a:rPr>
              <a:t> </a:t>
            </a:r>
            <a:r>
              <a:rPr>
                <a:solidFill>
                  <a:srgbClr val="4070A0"/>
                </a:solidFill>
                <a:latin typeface="Courier"/>
              </a:rPr>
              <a:t>~</a:t>
            </a:r>
            <a:r>
              <a:rPr>
                <a:latin typeface="Courier"/>
              </a:rPr>
              <a:t> </a:t>
            </a:r>
            <a:r>
              <a:rPr>
                <a:solidFill>
                  <a:srgbClr val="40A070"/>
                </a:solidFill>
                <a:latin typeface="Courier"/>
              </a:rPr>
              <a:t>2</a:t>
            </a:r>
            <a:r>
              <a:rPr>
                <a:latin typeface="Courier"/>
              </a:rPr>
              <a:t>,</a:t>
            </a:r>
            <a:br/>
            <a:r>
              <a:rPr>
                <a:latin typeface="Courier"/>
              </a:rPr>
              <a:t>    Month </a:t>
            </a:r>
            <a:r>
              <a:rPr>
                <a:solidFill>
                  <a:srgbClr val="4070A0"/>
                </a:solidFill>
                <a:latin typeface="Courier"/>
              </a:rPr>
              <a:t>==</a:t>
            </a:r>
            <a:r>
              <a:rPr>
                <a:latin typeface="Courier"/>
              </a:rPr>
              <a:t> </a:t>
            </a:r>
            <a:r>
              <a:rPr>
                <a:solidFill>
                  <a:srgbClr val="4070A0"/>
                </a:solidFill>
                <a:latin typeface="Courier"/>
              </a:rPr>
              <a:t>"Mar"</a:t>
            </a:r>
            <a:r>
              <a:rPr>
                <a:latin typeface="Courier"/>
              </a:rPr>
              <a:t> </a:t>
            </a:r>
            <a:r>
              <a:rPr>
                <a:solidFill>
                  <a:srgbClr val="4070A0"/>
                </a:solidFill>
                <a:latin typeface="Courier"/>
              </a:rPr>
              <a:t>~</a:t>
            </a:r>
            <a:r>
              <a:rPr>
                <a:latin typeface="Courier"/>
              </a:rPr>
              <a:t> </a:t>
            </a:r>
            <a:r>
              <a:rPr>
                <a:solidFill>
                  <a:srgbClr val="40A070"/>
                </a:solidFill>
                <a:latin typeface="Courier"/>
              </a:rPr>
              <a:t>3</a:t>
            </a:r>
            <a:r>
              <a:rPr>
                <a:latin typeface="Courier"/>
              </a:rPr>
              <a:t>,</a:t>
            </a:r>
            <a:br/>
            <a:r>
              <a:rPr>
                <a:latin typeface="Courier"/>
              </a:rPr>
              <a:t>    Month </a:t>
            </a:r>
            <a:r>
              <a:rPr>
                <a:solidFill>
                  <a:srgbClr val="4070A0"/>
                </a:solidFill>
                <a:latin typeface="Courier"/>
              </a:rPr>
              <a:t>==</a:t>
            </a:r>
            <a:r>
              <a:rPr>
                <a:latin typeface="Courier"/>
              </a:rPr>
              <a:t> </a:t>
            </a:r>
            <a:r>
              <a:rPr>
                <a:solidFill>
                  <a:srgbClr val="4070A0"/>
                </a:solidFill>
                <a:latin typeface="Courier"/>
              </a:rPr>
              <a:t>"Apr"</a:t>
            </a:r>
            <a:r>
              <a:rPr>
                <a:latin typeface="Courier"/>
              </a:rPr>
              <a:t> </a:t>
            </a:r>
            <a:r>
              <a:rPr>
                <a:solidFill>
                  <a:srgbClr val="4070A0"/>
                </a:solidFill>
                <a:latin typeface="Courier"/>
              </a:rPr>
              <a:t>~</a:t>
            </a:r>
            <a:r>
              <a:rPr>
                <a:latin typeface="Courier"/>
              </a:rPr>
              <a:t> </a:t>
            </a:r>
            <a:r>
              <a:rPr>
                <a:solidFill>
                  <a:srgbClr val="40A070"/>
                </a:solidFill>
                <a:latin typeface="Courier"/>
              </a:rPr>
              <a:t>4</a:t>
            </a:r>
            <a:r>
              <a:rPr>
                <a:latin typeface="Courier"/>
              </a:rPr>
              <a:t>,</a:t>
            </a:r>
            <a:br/>
            <a:r>
              <a:rPr>
                <a:latin typeface="Courier"/>
              </a:rPr>
              <a:t>    Month </a:t>
            </a:r>
            <a:r>
              <a:rPr>
                <a:solidFill>
                  <a:srgbClr val="4070A0"/>
                </a:solidFill>
                <a:latin typeface="Courier"/>
              </a:rPr>
              <a:t>==</a:t>
            </a:r>
            <a:r>
              <a:rPr>
                <a:latin typeface="Courier"/>
              </a:rPr>
              <a:t> </a:t>
            </a:r>
            <a:r>
              <a:rPr>
                <a:solidFill>
                  <a:srgbClr val="4070A0"/>
                </a:solidFill>
                <a:latin typeface="Courier"/>
              </a:rPr>
              <a:t>"May"</a:t>
            </a:r>
            <a:r>
              <a:rPr>
                <a:latin typeface="Courier"/>
              </a:rPr>
              <a:t> </a:t>
            </a:r>
            <a:r>
              <a:rPr>
                <a:solidFill>
                  <a:srgbClr val="4070A0"/>
                </a:solidFill>
                <a:latin typeface="Courier"/>
              </a:rPr>
              <a:t>~</a:t>
            </a:r>
            <a:r>
              <a:rPr>
                <a:latin typeface="Courier"/>
              </a:rPr>
              <a:t> </a:t>
            </a:r>
            <a:r>
              <a:rPr>
                <a:solidFill>
                  <a:srgbClr val="40A070"/>
                </a:solidFill>
                <a:latin typeface="Courier"/>
              </a:rPr>
              <a:t>5</a:t>
            </a:r>
            <a:r>
              <a:rPr>
                <a:latin typeface="Courier"/>
              </a:rPr>
              <a:t>,</a:t>
            </a:r>
            <a:br/>
            <a:r>
              <a:rPr>
                <a:latin typeface="Courier"/>
              </a:rPr>
              <a:t>    Month </a:t>
            </a:r>
            <a:r>
              <a:rPr>
                <a:solidFill>
                  <a:srgbClr val="4070A0"/>
                </a:solidFill>
                <a:latin typeface="Courier"/>
              </a:rPr>
              <a:t>==</a:t>
            </a:r>
            <a:r>
              <a:rPr>
                <a:latin typeface="Courier"/>
              </a:rPr>
              <a:t> </a:t>
            </a:r>
            <a:r>
              <a:rPr>
                <a:solidFill>
                  <a:srgbClr val="4070A0"/>
                </a:solidFill>
                <a:latin typeface="Courier"/>
              </a:rPr>
              <a:t>"Jun"</a:t>
            </a:r>
            <a:r>
              <a:rPr>
                <a:latin typeface="Courier"/>
              </a:rPr>
              <a:t> </a:t>
            </a:r>
            <a:r>
              <a:rPr>
                <a:solidFill>
                  <a:srgbClr val="4070A0"/>
                </a:solidFill>
                <a:latin typeface="Courier"/>
              </a:rPr>
              <a:t>~</a:t>
            </a:r>
            <a:r>
              <a:rPr>
                <a:latin typeface="Courier"/>
              </a:rPr>
              <a:t> </a:t>
            </a:r>
            <a:r>
              <a:rPr>
                <a:solidFill>
                  <a:srgbClr val="40A070"/>
                </a:solidFill>
                <a:latin typeface="Courier"/>
              </a:rPr>
              <a:t>6</a:t>
            </a:r>
            <a:r>
              <a:rPr>
                <a:latin typeface="Courier"/>
              </a:rPr>
              <a:t>,</a:t>
            </a:r>
            <a:br/>
            <a:r>
              <a:rPr>
                <a:latin typeface="Courier"/>
              </a:rPr>
              <a:t>    Month </a:t>
            </a:r>
            <a:r>
              <a:rPr>
                <a:solidFill>
                  <a:srgbClr val="4070A0"/>
                </a:solidFill>
                <a:latin typeface="Courier"/>
              </a:rPr>
              <a:t>==</a:t>
            </a:r>
            <a:r>
              <a:rPr>
                <a:latin typeface="Courier"/>
              </a:rPr>
              <a:t> </a:t>
            </a:r>
            <a:r>
              <a:rPr>
                <a:solidFill>
                  <a:srgbClr val="4070A0"/>
                </a:solidFill>
                <a:latin typeface="Courier"/>
              </a:rPr>
              <a:t>"Jul"</a:t>
            </a:r>
            <a:r>
              <a:rPr>
                <a:latin typeface="Courier"/>
              </a:rPr>
              <a:t> </a:t>
            </a:r>
            <a:r>
              <a:rPr>
                <a:solidFill>
                  <a:srgbClr val="4070A0"/>
                </a:solidFill>
                <a:latin typeface="Courier"/>
              </a:rPr>
              <a:t>~</a:t>
            </a:r>
            <a:r>
              <a:rPr>
                <a:latin typeface="Courier"/>
              </a:rPr>
              <a:t> </a:t>
            </a:r>
            <a:r>
              <a:rPr>
                <a:solidFill>
                  <a:srgbClr val="40A070"/>
                </a:solidFill>
                <a:latin typeface="Courier"/>
              </a:rPr>
              <a:t>7</a:t>
            </a:r>
            <a:r>
              <a:rPr>
                <a:latin typeface="Courier"/>
              </a:rPr>
              <a:t>,</a:t>
            </a:r>
            <a:br/>
            <a:r>
              <a:rPr>
                <a:latin typeface="Courier"/>
              </a:rPr>
              <a:t>    Month </a:t>
            </a:r>
            <a:r>
              <a:rPr>
                <a:solidFill>
                  <a:srgbClr val="4070A0"/>
                </a:solidFill>
                <a:latin typeface="Courier"/>
              </a:rPr>
              <a:t>==</a:t>
            </a:r>
            <a:r>
              <a:rPr>
                <a:latin typeface="Courier"/>
              </a:rPr>
              <a:t> </a:t>
            </a:r>
            <a:r>
              <a:rPr>
                <a:solidFill>
                  <a:srgbClr val="4070A0"/>
                </a:solidFill>
                <a:latin typeface="Courier"/>
              </a:rPr>
              <a:t>"Aug"</a:t>
            </a:r>
            <a:r>
              <a:rPr>
                <a:latin typeface="Courier"/>
              </a:rPr>
              <a:t> </a:t>
            </a:r>
            <a:r>
              <a:rPr>
                <a:solidFill>
                  <a:srgbClr val="4070A0"/>
                </a:solidFill>
                <a:latin typeface="Courier"/>
              </a:rPr>
              <a:t>~</a:t>
            </a:r>
            <a:r>
              <a:rPr>
                <a:latin typeface="Courier"/>
              </a:rPr>
              <a:t> </a:t>
            </a:r>
            <a:r>
              <a:rPr>
                <a:solidFill>
                  <a:srgbClr val="40A070"/>
                </a:solidFill>
                <a:latin typeface="Courier"/>
              </a:rPr>
              <a:t>8</a:t>
            </a:r>
            <a:r>
              <a:rPr>
                <a:latin typeface="Courier"/>
              </a:rPr>
              <a:t>,</a:t>
            </a:r>
            <a:br/>
            <a:r>
              <a:rPr>
                <a:latin typeface="Courier"/>
              </a:rPr>
              <a:t>    Month </a:t>
            </a:r>
            <a:r>
              <a:rPr>
                <a:solidFill>
                  <a:srgbClr val="4070A0"/>
                </a:solidFill>
                <a:latin typeface="Courier"/>
              </a:rPr>
              <a:t>==</a:t>
            </a:r>
            <a:r>
              <a:rPr>
                <a:latin typeface="Courier"/>
              </a:rPr>
              <a:t> </a:t>
            </a:r>
            <a:r>
              <a:rPr>
                <a:solidFill>
                  <a:srgbClr val="4070A0"/>
                </a:solidFill>
                <a:latin typeface="Courier"/>
              </a:rPr>
              <a:t>"Sep"</a:t>
            </a:r>
            <a:r>
              <a:rPr>
                <a:latin typeface="Courier"/>
              </a:rPr>
              <a:t> </a:t>
            </a:r>
            <a:r>
              <a:rPr>
                <a:solidFill>
                  <a:srgbClr val="4070A0"/>
                </a:solidFill>
                <a:latin typeface="Courier"/>
              </a:rPr>
              <a:t>~</a:t>
            </a:r>
            <a:r>
              <a:rPr>
                <a:latin typeface="Courier"/>
              </a:rPr>
              <a:t> </a:t>
            </a:r>
            <a:r>
              <a:rPr>
                <a:solidFill>
                  <a:srgbClr val="40A070"/>
                </a:solidFill>
                <a:latin typeface="Courier"/>
              </a:rPr>
              <a:t>9</a:t>
            </a:r>
            <a:r>
              <a:rPr>
                <a:latin typeface="Courier"/>
              </a:rPr>
              <a:t>,</a:t>
            </a:r>
            <a:br/>
            <a:r>
              <a:rPr>
                <a:latin typeface="Courier"/>
              </a:rPr>
              <a:t>    Month </a:t>
            </a:r>
            <a:r>
              <a:rPr>
                <a:solidFill>
                  <a:srgbClr val="4070A0"/>
                </a:solidFill>
                <a:latin typeface="Courier"/>
              </a:rPr>
              <a:t>==</a:t>
            </a:r>
            <a:r>
              <a:rPr>
                <a:latin typeface="Courier"/>
              </a:rPr>
              <a:t> </a:t>
            </a:r>
            <a:r>
              <a:rPr>
                <a:solidFill>
                  <a:srgbClr val="4070A0"/>
                </a:solidFill>
                <a:latin typeface="Courier"/>
              </a:rPr>
              <a:t>"Oct"</a:t>
            </a:r>
            <a:r>
              <a:rPr>
                <a:latin typeface="Courier"/>
              </a:rPr>
              <a:t> </a:t>
            </a:r>
            <a:r>
              <a:rPr>
                <a:solidFill>
                  <a:srgbClr val="4070A0"/>
                </a:solidFill>
                <a:latin typeface="Courier"/>
              </a:rPr>
              <a:t>~</a:t>
            </a:r>
            <a:r>
              <a:rPr>
                <a:latin typeface="Courier"/>
              </a:rPr>
              <a:t> </a:t>
            </a:r>
            <a:r>
              <a:rPr>
                <a:solidFill>
                  <a:srgbClr val="40A070"/>
                </a:solidFill>
                <a:latin typeface="Courier"/>
              </a:rPr>
              <a:t>10</a:t>
            </a:r>
            <a:r>
              <a:rPr>
                <a:latin typeface="Courier"/>
              </a:rPr>
              <a:t>,</a:t>
            </a:r>
            <a:br/>
            <a:r>
              <a:rPr>
                <a:latin typeface="Courier"/>
              </a:rPr>
              <a:t>    Month </a:t>
            </a:r>
            <a:r>
              <a:rPr>
                <a:solidFill>
                  <a:srgbClr val="4070A0"/>
                </a:solidFill>
                <a:latin typeface="Courier"/>
              </a:rPr>
              <a:t>==</a:t>
            </a:r>
            <a:r>
              <a:rPr>
                <a:latin typeface="Courier"/>
              </a:rPr>
              <a:t> </a:t>
            </a:r>
            <a:r>
              <a:rPr>
                <a:solidFill>
                  <a:srgbClr val="4070A0"/>
                </a:solidFill>
                <a:latin typeface="Courier"/>
              </a:rPr>
              <a:t>"Nov"</a:t>
            </a:r>
            <a:r>
              <a:rPr>
                <a:latin typeface="Courier"/>
              </a:rPr>
              <a:t> </a:t>
            </a:r>
            <a:r>
              <a:rPr>
                <a:solidFill>
                  <a:srgbClr val="4070A0"/>
                </a:solidFill>
                <a:latin typeface="Courier"/>
              </a:rPr>
              <a:t>~</a:t>
            </a:r>
            <a:r>
              <a:rPr>
                <a:latin typeface="Courier"/>
              </a:rPr>
              <a:t> </a:t>
            </a:r>
            <a:r>
              <a:rPr>
                <a:solidFill>
                  <a:srgbClr val="40A070"/>
                </a:solidFill>
                <a:latin typeface="Courier"/>
              </a:rPr>
              <a:t>11</a:t>
            </a:r>
            <a:r>
              <a:rPr>
                <a:latin typeface="Courier"/>
              </a:rPr>
              <a:t>,</a:t>
            </a:r>
            <a:br/>
            <a:r>
              <a:rPr>
                <a:latin typeface="Courier"/>
              </a:rPr>
              <a:t>    Month </a:t>
            </a:r>
            <a:r>
              <a:rPr>
                <a:solidFill>
                  <a:srgbClr val="4070A0"/>
                </a:solidFill>
                <a:latin typeface="Courier"/>
              </a:rPr>
              <a:t>==</a:t>
            </a:r>
            <a:r>
              <a:rPr>
                <a:latin typeface="Courier"/>
              </a:rPr>
              <a:t> </a:t>
            </a:r>
            <a:r>
              <a:rPr>
                <a:solidFill>
                  <a:srgbClr val="4070A0"/>
                </a:solidFill>
                <a:latin typeface="Courier"/>
              </a:rPr>
              <a:t>"Dec"</a:t>
            </a:r>
            <a:r>
              <a:rPr>
                <a:latin typeface="Courier"/>
              </a:rPr>
              <a:t> </a:t>
            </a:r>
            <a:r>
              <a:rPr>
                <a:solidFill>
                  <a:srgbClr val="4070A0"/>
                </a:solidFill>
                <a:latin typeface="Courier"/>
              </a:rPr>
              <a:t>~</a:t>
            </a:r>
            <a:r>
              <a:rPr>
                <a:latin typeface="Courier"/>
              </a:rPr>
              <a:t> </a:t>
            </a:r>
            <a:r>
              <a:rPr>
                <a:solidFill>
                  <a:srgbClr val="40A070"/>
                </a:solidFill>
                <a:latin typeface="Courier"/>
              </a:rPr>
              <a:t>12</a:t>
            </a:r>
            <a:br/>
            <a:r>
              <a:rPr>
                <a:latin typeface="Courier"/>
              </a:rPr>
              <a:t>    ))</a:t>
            </a:r>
          </a:p>
          <a:p>
            <a:pPr lvl="0" marL="0" indent="0">
              <a:buNone/>
            </a:pPr>
            <a:r>
              <a:rPr/>
              <a:t>19. NOW try to right-join </a:t>
            </a:r>
            <a:r>
              <a:rPr>
                <a:latin typeface="Courier"/>
              </a:rPr>
              <a:t>water_Ham</a:t>
            </a:r>
            <a:r>
              <a:rPr/>
              <a:t> and </a:t>
            </a:r>
            <a:r>
              <a:rPr>
                <a:latin typeface="Courier"/>
              </a:rPr>
              <a:t>rainfall_long</a:t>
            </a:r>
            <a:r>
              <a:rPr/>
              <a:t> by “Month” and “Year” and assign the joined dataset to the name </a:t>
            </a:r>
            <a:r>
              <a:rPr>
                <a:latin typeface="Courier"/>
              </a:rPr>
              <a:t>water_rain</a:t>
            </a:r>
            <a:r>
              <a:rPr/>
              <a:t>. Did this join attempt work?</a:t>
            </a:r>
          </a:p>
          <a:p>
            <a:pPr lvl="0" indent="0">
              <a:buNone/>
            </a:pPr>
            <a:r>
              <a:rPr>
                <a:latin typeface="Courier"/>
              </a:rPr>
              <a:t>water_rain </a:t>
            </a:r>
            <a:r>
              <a:rPr>
                <a:solidFill>
                  <a:srgbClr val="007020"/>
                </a:solidFill>
                <a:latin typeface="Courier"/>
              </a:rPr>
              <a:t>&lt;-</a:t>
            </a:r>
            <a:r>
              <a:rPr>
                <a:latin typeface="Courier"/>
              </a:rPr>
              <a:t> water_Ham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right_join</a:t>
            </a:r>
            <a:r>
              <a:rPr>
                <a:latin typeface="Courier"/>
              </a:rPr>
              <a:t>(rainfall_long, </a:t>
            </a:r>
            <a:r>
              <a:rPr>
                <a:solidFill>
                  <a:srgbClr val="7D9029"/>
                </a:solidFill>
                <a:latin typeface="Courier"/>
              </a:rPr>
              <a:t>by =</a:t>
            </a:r>
            <a:r>
              <a:rPr>
                <a:latin typeface="Courier"/>
              </a:rPr>
              <a:t> </a:t>
            </a:r>
            <a:r>
              <a:rPr>
                <a:solidFill>
                  <a:srgbClr val="06287E"/>
                </a:solidFill>
                <a:latin typeface="Courier"/>
              </a:rPr>
              <a:t>c</a:t>
            </a:r>
            <a:r>
              <a:rPr>
                <a:latin typeface="Courier"/>
              </a:rPr>
              <a:t>(</a:t>
            </a:r>
            <a:r>
              <a:rPr>
                <a:solidFill>
                  <a:srgbClr val="4070A0"/>
                </a:solidFill>
                <a:latin typeface="Courier"/>
              </a:rPr>
              <a:t>"Month"</a:t>
            </a:r>
            <a:r>
              <a:rPr>
                <a:latin typeface="Courier"/>
              </a:rPr>
              <a:t>, </a:t>
            </a:r>
            <a:r>
              <a:rPr>
                <a:solidFill>
                  <a:srgbClr val="4070A0"/>
                </a:solidFill>
                <a:latin typeface="Courier"/>
              </a:rPr>
              <a:t>"Year"</a:t>
            </a:r>
            <a:r>
              <a:rPr>
                <a:latin typeface="Courier"/>
              </a:rPr>
              <a:t>))</a:t>
            </a:r>
          </a:p>
          <a:p>
            <a:pPr lvl="0" indent="0">
              <a:buNone/>
            </a:pPr>
            <a:r>
              <a:rPr>
                <a:latin typeface="Courier"/>
              </a:rPr>
              <a:t>## Error in `right_join()`:
## ! Can't join `x$Year` with `y$Year` due to incompatible types.
## ℹ `x$Year` is a &lt;double&gt;.
## ℹ `y$Year` is a &lt;character&gt;.</a:t>
            </a:r>
          </a:p>
          <a:p>
            <a:pPr lvl="0" indent="0">
              <a:buNone/>
            </a:pPr>
            <a:r>
              <a:rPr i="1">
                <a:solidFill>
                  <a:srgbClr val="60A0B0"/>
                </a:solidFill>
                <a:latin typeface="Courier"/>
              </a:rPr>
              <a:t>#This attempted join did not work either, because "Year" is a different format between both datasets too!</a:t>
            </a:r>
          </a:p>
          <a:p>
            <a:pPr lvl="0" marL="0" indent="0">
              <a:buNone/>
            </a:pPr>
            <a:r>
              <a:rPr/>
              <a:t>20. Fix the differences between the classes of “Year” by changing </a:t>
            </a:r>
            <a:r>
              <a:rPr>
                <a:latin typeface="Courier"/>
              </a:rPr>
              <a:t>rainfall_long</a:t>
            </a:r>
            <a:r>
              <a:rPr/>
              <a:t>. Then right-join the two datasets to make “water_rain”.</a:t>
            </a:r>
          </a:p>
          <a:p>
            <a:pPr lvl="0" indent="0">
              <a:buNone/>
            </a:pPr>
            <a:r>
              <a:rPr>
                <a:latin typeface="Courier"/>
              </a:rPr>
              <a:t>rainfall_long </a:t>
            </a:r>
            <a:r>
              <a:rPr>
                <a:solidFill>
                  <a:srgbClr val="007020"/>
                </a:solidFill>
                <a:latin typeface="Courier"/>
              </a:rPr>
              <a:t>&lt;-</a:t>
            </a:r>
            <a:r>
              <a:rPr>
                <a:latin typeface="Courier"/>
              </a:rPr>
              <a:t> rainfall_long </a:t>
            </a:r>
            <a:r>
              <a:rPr>
                <a:solidFill>
                  <a:srgbClr val="4070A0"/>
                </a:solidFill>
                <a:latin typeface="Courier"/>
              </a:rPr>
              <a:t>|</a:t>
            </a:r>
            <a:r>
              <a:rPr b="1">
                <a:solidFill>
                  <a:srgbClr val="FF0000"/>
                </a:solidFill>
                <a:latin typeface="Courier"/>
              </a:rPr>
              <a:t>&gt;</a:t>
            </a:r>
            <a:r>
              <a:rPr>
                <a:latin typeface="Courier"/>
              </a:rPr>
              <a:t> </a:t>
            </a:r>
            <a:br/>
            <a:r>
              <a:rPr>
                <a:latin typeface="Courier"/>
              </a:rPr>
              <a:t>  </a:t>
            </a:r>
            <a:r>
              <a:rPr>
                <a:solidFill>
                  <a:srgbClr val="06287E"/>
                </a:solidFill>
                <a:latin typeface="Courier"/>
              </a:rPr>
              <a:t>mutate</a:t>
            </a:r>
            <a:r>
              <a:rPr>
                <a:latin typeface="Courier"/>
              </a:rPr>
              <a:t>(</a:t>
            </a:r>
            <a:r>
              <a:rPr>
                <a:solidFill>
                  <a:srgbClr val="7D9029"/>
                </a:solidFill>
                <a:latin typeface="Courier"/>
              </a:rPr>
              <a:t>Year =</a:t>
            </a:r>
            <a:r>
              <a:rPr>
                <a:latin typeface="Courier"/>
              </a:rPr>
              <a:t> </a:t>
            </a:r>
            <a:r>
              <a:rPr>
                <a:solidFill>
                  <a:srgbClr val="06287E"/>
                </a:solidFill>
                <a:latin typeface="Courier"/>
              </a:rPr>
              <a:t>as.double</a:t>
            </a:r>
            <a:r>
              <a:rPr>
                <a:latin typeface="Courier"/>
              </a:rPr>
              <a:t>(Year))</a:t>
            </a:r>
            <a:br/>
            <a:br/>
            <a:r>
              <a:rPr>
                <a:latin typeface="Courier"/>
              </a:rPr>
              <a:t>water_rain </a:t>
            </a:r>
            <a:r>
              <a:rPr>
                <a:solidFill>
                  <a:srgbClr val="007020"/>
                </a:solidFill>
                <a:latin typeface="Courier"/>
              </a:rPr>
              <a:t>&lt;-</a:t>
            </a:r>
            <a:r>
              <a:rPr>
                <a:latin typeface="Courier"/>
              </a:rPr>
              <a:t> water_Ham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right_join</a:t>
            </a:r>
            <a:r>
              <a:rPr>
                <a:latin typeface="Courier"/>
              </a:rPr>
              <a:t>(rainfall_long, </a:t>
            </a:r>
            <a:r>
              <a:rPr>
                <a:solidFill>
                  <a:srgbClr val="7D9029"/>
                </a:solidFill>
                <a:latin typeface="Courier"/>
              </a:rPr>
              <a:t>by =</a:t>
            </a:r>
            <a:r>
              <a:rPr>
                <a:latin typeface="Courier"/>
              </a:rPr>
              <a:t> </a:t>
            </a:r>
            <a:r>
              <a:rPr>
                <a:solidFill>
                  <a:srgbClr val="06287E"/>
                </a:solidFill>
                <a:latin typeface="Courier"/>
              </a:rPr>
              <a:t>c</a:t>
            </a:r>
            <a:r>
              <a:rPr>
                <a:latin typeface="Courier"/>
              </a:rPr>
              <a:t>(</a:t>
            </a:r>
            <a:r>
              <a:rPr>
                <a:solidFill>
                  <a:srgbClr val="4070A0"/>
                </a:solidFill>
                <a:latin typeface="Courier"/>
              </a:rPr>
              <a:t>"Month"</a:t>
            </a:r>
            <a:r>
              <a:rPr>
                <a:latin typeface="Courier"/>
              </a:rPr>
              <a:t>, </a:t>
            </a:r>
            <a:r>
              <a:rPr>
                <a:solidFill>
                  <a:srgbClr val="4070A0"/>
                </a:solidFill>
                <a:latin typeface="Courier"/>
              </a:rPr>
              <a:t>"Year"</a:t>
            </a:r>
            <a:r>
              <a:rPr>
                <a:latin typeface="Courier"/>
              </a:rPr>
              <a:t>))</a:t>
            </a:r>
          </a:p>
          <a:p>
            <a:pPr lvl="0" marL="0" indent="0">
              <a:buNone/>
            </a:pPr>
            <a:r>
              <a:rPr/>
              <a:t>21. Subset </a:t>
            </a:r>
            <a:r>
              <a:rPr>
                <a:latin typeface="Courier"/>
              </a:rPr>
              <a:t>water_rain</a:t>
            </a:r>
            <a:r>
              <a:rPr/>
              <a:t> so that “Parameter” is “pH”. Plot points with “Precip” on the x axis, “Result” on the y axis, and “Year” as color. Facet the plot by Month. You can use esquisse or ggplot (whichever you prefer).</a:t>
            </a:r>
          </a:p>
          <a:p>
            <a:pPr lvl="0" indent="0">
              <a:buNone/>
            </a:pPr>
            <a:r>
              <a:rPr>
                <a:latin typeface="Courier"/>
              </a:rPr>
              <a:t>plot_subset </a:t>
            </a:r>
            <a:r>
              <a:rPr>
                <a:solidFill>
                  <a:srgbClr val="007020"/>
                </a:solidFill>
                <a:latin typeface="Courier"/>
              </a:rPr>
              <a:t>&lt;-</a:t>
            </a:r>
            <a:r>
              <a:rPr>
                <a:latin typeface="Courier"/>
              </a:rPr>
              <a:t> water_rain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(Parameter </a:t>
            </a:r>
            <a:r>
              <a:rPr>
                <a:solidFill>
                  <a:srgbClr val="4070A0"/>
                </a:solidFill>
                <a:latin typeface="Courier"/>
              </a:rPr>
              <a:t>==</a:t>
            </a:r>
            <a:r>
              <a:rPr>
                <a:latin typeface="Courier"/>
              </a:rPr>
              <a:t> </a:t>
            </a:r>
            <a:r>
              <a:rPr>
                <a:solidFill>
                  <a:srgbClr val="4070A0"/>
                </a:solidFill>
                <a:latin typeface="Courier"/>
              </a:rPr>
              <a:t>"pH"</a:t>
            </a:r>
            <a:r>
              <a:rPr>
                <a:latin typeface="Courier"/>
              </a:rPr>
              <a:t>)</a:t>
            </a:r>
            <a:br/>
            <a:br/>
            <a:r>
              <a:rPr i="1">
                <a:solidFill>
                  <a:srgbClr val="60A0B0"/>
                </a:solidFill>
                <a:latin typeface="Courier"/>
              </a:rPr>
              <a:t>#If using esquisse:</a:t>
            </a:r>
            <a:br/>
            <a:r>
              <a:rPr i="1">
                <a:solidFill>
                  <a:srgbClr val="60A0B0"/>
                </a:solidFill>
                <a:latin typeface="Courier"/>
              </a:rPr>
              <a:t>#library(esquisse)</a:t>
            </a:r>
            <a:br/>
            <a:r>
              <a:rPr i="1">
                <a:solidFill>
                  <a:srgbClr val="60A0B0"/>
                </a:solidFill>
                <a:latin typeface="Courier"/>
              </a:rPr>
              <a:t>#esquisser(plot_subset)</a:t>
            </a:r>
            <a:br/>
            <a:br/>
            <a:r>
              <a:rPr i="1">
                <a:solidFill>
                  <a:srgbClr val="60A0B0"/>
                </a:solidFill>
                <a:latin typeface="Courier"/>
              </a:rPr>
              <a:t>#If using ggplot:</a:t>
            </a:r>
            <a:br/>
            <a:r>
              <a:rPr>
                <a:solidFill>
                  <a:srgbClr val="06287E"/>
                </a:solidFill>
                <a:latin typeface="Courier"/>
              </a:rPr>
              <a:t>ggplot</a:t>
            </a:r>
            <a:r>
              <a:rPr>
                <a:latin typeface="Courier"/>
              </a:rPr>
              <a:t>(</a:t>
            </a:r>
            <a:r>
              <a:rPr>
                <a:solidFill>
                  <a:srgbClr val="7D9029"/>
                </a:solidFill>
                <a:latin typeface="Courier"/>
              </a:rPr>
              <a:t>data =</a:t>
            </a:r>
            <a:r>
              <a:rPr>
                <a:latin typeface="Courier"/>
              </a:rPr>
              <a:t> plot_subset, </a:t>
            </a:r>
            <a:r>
              <a:rPr>
                <a:solidFill>
                  <a:srgbClr val="06287E"/>
                </a:solidFill>
                <a:latin typeface="Courier"/>
              </a:rPr>
              <a:t>aes</a:t>
            </a:r>
            <a:r>
              <a:rPr>
                <a:latin typeface="Courier"/>
              </a:rPr>
              <a:t>(</a:t>
            </a:r>
            <a:r>
              <a:rPr>
                <a:solidFill>
                  <a:srgbClr val="7D9029"/>
                </a:solidFill>
                <a:latin typeface="Courier"/>
              </a:rPr>
              <a:t>x =</a:t>
            </a:r>
            <a:r>
              <a:rPr>
                <a:latin typeface="Courier"/>
              </a:rPr>
              <a:t> Precip, </a:t>
            </a:r>
            <a:r>
              <a:rPr>
                <a:solidFill>
                  <a:srgbClr val="7D9029"/>
                </a:solidFill>
                <a:latin typeface="Courier"/>
              </a:rPr>
              <a:t>y =</a:t>
            </a:r>
            <a:r>
              <a:rPr>
                <a:latin typeface="Courier"/>
              </a:rPr>
              <a:t> Result, </a:t>
            </a:r>
            <a:r>
              <a:rPr>
                <a:solidFill>
                  <a:srgbClr val="7D9029"/>
                </a:solidFill>
                <a:latin typeface="Courier"/>
              </a:rPr>
              <a:t>color =</a:t>
            </a:r>
            <a:r>
              <a:rPr>
                <a:latin typeface="Courier"/>
              </a:rPr>
              <a:t> Year)) </a:t>
            </a:r>
            <a:r>
              <a:rPr>
                <a:solidFill>
                  <a:srgbClr val="4070A0"/>
                </a:solidFill>
                <a:latin typeface="Courier"/>
              </a:rPr>
              <a:t>+</a:t>
            </a:r>
            <a:br/>
            <a:r>
              <a:rPr>
                <a:latin typeface="Courier"/>
              </a:rPr>
              <a:t>  </a:t>
            </a:r>
            <a:r>
              <a:rPr>
                <a:solidFill>
                  <a:srgbClr val="06287E"/>
                </a:solidFill>
                <a:latin typeface="Courier"/>
              </a:rPr>
              <a:t>geom_point</a:t>
            </a:r>
            <a:r>
              <a:rPr>
                <a:latin typeface="Courier"/>
              </a:rPr>
              <a:t>() </a:t>
            </a:r>
            <a:r>
              <a:rPr>
                <a:solidFill>
                  <a:srgbClr val="4070A0"/>
                </a:solidFill>
                <a:latin typeface="Courier"/>
              </a:rPr>
              <a:t>+</a:t>
            </a:r>
            <a:br/>
            <a:r>
              <a:rPr>
                <a:latin typeface="Courier"/>
              </a:rPr>
              <a:t>  </a:t>
            </a:r>
            <a:r>
              <a:rPr>
                <a:solidFill>
                  <a:srgbClr val="06287E"/>
                </a:solidFill>
                <a:latin typeface="Courier"/>
              </a:rPr>
              <a:t>facet_wrap</a:t>
            </a:r>
            <a:r>
              <a:rPr>
                <a:latin typeface="Courier"/>
              </a:rPr>
              <a:t>(</a:t>
            </a:r>
            <a:r>
              <a:rPr>
                <a:solidFill>
                  <a:srgbClr val="4070A0"/>
                </a:solidFill>
                <a:latin typeface="Courier"/>
              </a:rPr>
              <a:t>~</a:t>
            </a:r>
            <a:r>
              <a:rPr>
                <a:latin typeface="Courier"/>
              </a:rPr>
              <a:t>Month)</a:t>
            </a:r>
          </a:p>
          <a:p>
            <a:pPr lvl="0" indent="0">
              <a:buNone/>
            </a:pPr>
            <a:r>
              <a:rPr>
                <a:latin typeface="Courier"/>
              </a:rPr>
              <a:t>## Warning: Removed 111 rows containing missing values or values outside the scale range
## (`geom_point()`).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__w/DaSEH/DaSEH/modules/HW/homework3_Key_files/figure-pptx/21response-1.png" id="0" name="Picture 1"/>
          <p:cNvPicPr>
            <a:picLocks noGrp="1" noChangeAspect="1"/>
          </p:cNvPicPr>
          <p:nvPr/>
        </p:nvPicPr>
        <p:blipFill>
          <a:blip r:embed="rId2"/>
          <a:stretch>
            <a:fillRect/>
          </a:stretch>
        </p:blipFill>
        <p:spPr bwMode="auto">
          <a:xfrm>
            <a:off x="2451100" y="1193800"/>
            <a:ext cx="42418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p>
          <a:p>
            <a:pPr lvl="0" indent="0">
              <a:buNone/>
            </a:pPr>
            <a:r>
              <a:rPr i="1">
                <a:solidFill>
                  <a:srgbClr val="60A0B0"/>
                </a:solidFill>
                <a:latin typeface="Courier"/>
              </a:rPr>
              <a:t># Alternative syntax</a:t>
            </a:r>
            <a:br/>
            <a:r>
              <a:rPr i="1">
                <a:solidFill>
                  <a:srgbClr val="60A0B0"/>
                </a:solidFill>
                <a:latin typeface="Courier"/>
              </a:rPr>
              <a:t># water_rain |&gt;</a:t>
            </a:r>
            <a:br/>
            <a:r>
              <a:rPr i="1">
                <a:solidFill>
                  <a:srgbClr val="60A0B0"/>
                </a:solidFill>
                <a:latin typeface="Courier"/>
              </a:rPr>
              <a:t>#   filter(Parameter == "pH") |&gt;</a:t>
            </a:r>
            <a:br/>
            <a:r>
              <a:rPr i="1">
                <a:solidFill>
                  <a:srgbClr val="60A0B0"/>
                </a:solidFill>
                <a:latin typeface="Courier"/>
              </a:rPr>
              <a:t>#   ggplot(aes(x = Precip, y = Result, color = Year)) +</a:t>
            </a:r>
            <a:br/>
            <a:r>
              <a:rPr i="1">
                <a:solidFill>
                  <a:srgbClr val="60A0B0"/>
                </a:solidFill>
                <a:latin typeface="Courier"/>
              </a:rPr>
              <a:t>#   geom_point() +</a:t>
            </a:r>
            <a:br/>
            <a:r>
              <a:rPr i="1">
                <a:solidFill>
                  <a:srgbClr val="60A0B0"/>
                </a:solidFill>
                <a:latin typeface="Courier"/>
              </a:rPr>
              <a:t>#   facet_wrap(~ Month)</a:t>
            </a:r>
          </a:p>
          <a:p>
            <a:pPr lvl="0" marL="0" indent="0">
              <a:buNone/>
            </a:pPr>
            <a:r>
              <a:rPr/>
              <a:t>22. Create a new plot changing the measurement units. This time, subset </a:t>
            </a:r>
            <a:r>
              <a:rPr>
                <a:latin typeface="Courier"/>
              </a:rPr>
              <a:t>water_rain</a:t>
            </a:r>
            <a:r>
              <a:rPr/>
              <a:t> so that “Parameter” is “Water Temperature”. Plot points with “Precip” on the x axis, “Result” on the y axis, and “Year” as color. Facet the plot by Month. You can use esquisse or ggplot (whichever you prefer). Do the temperatures follow the expected seasonal climate across months (highs and lows)?</a:t>
            </a:r>
          </a:p>
          <a:p>
            <a:pPr lvl="0" indent="0">
              <a:buNone/>
            </a:pPr>
            <a:r>
              <a:rPr>
                <a:latin typeface="Courier"/>
              </a:rPr>
              <a:t>plot_subset </a:t>
            </a:r>
            <a:r>
              <a:rPr>
                <a:solidFill>
                  <a:srgbClr val="007020"/>
                </a:solidFill>
                <a:latin typeface="Courier"/>
              </a:rPr>
              <a:t>&lt;-</a:t>
            </a:r>
            <a:r>
              <a:rPr>
                <a:latin typeface="Courier"/>
              </a:rPr>
              <a:t> water_rain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(Parameter </a:t>
            </a:r>
            <a:r>
              <a:rPr>
                <a:solidFill>
                  <a:srgbClr val="4070A0"/>
                </a:solidFill>
                <a:latin typeface="Courier"/>
              </a:rPr>
              <a:t>==</a:t>
            </a:r>
            <a:r>
              <a:rPr>
                <a:latin typeface="Courier"/>
              </a:rPr>
              <a:t> </a:t>
            </a:r>
            <a:r>
              <a:rPr>
                <a:solidFill>
                  <a:srgbClr val="4070A0"/>
                </a:solidFill>
                <a:latin typeface="Courier"/>
              </a:rPr>
              <a:t>"Water Temperature"</a:t>
            </a:r>
            <a:r>
              <a:rPr>
                <a:latin typeface="Courier"/>
              </a:rPr>
              <a:t>)</a:t>
            </a:r>
            <a:br/>
            <a:br/>
            <a:r>
              <a:rPr i="1">
                <a:solidFill>
                  <a:srgbClr val="60A0B0"/>
                </a:solidFill>
                <a:latin typeface="Courier"/>
              </a:rPr>
              <a:t>#If using esquisse:</a:t>
            </a:r>
            <a:br/>
            <a:r>
              <a:rPr i="1">
                <a:solidFill>
                  <a:srgbClr val="60A0B0"/>
                </a:solidFill>
                <a:latin typeface="Courier"/>
              </a:rPr>
              <a:t>#library(esquisse)</a:t>
            </a:r>
            <a:br/>
            <a:r>
              <a:rPr i="1">
                <a:solidFill>
                  <a:srgbClr val="60A0B0"/>
                </a:solidFill>
                <a:latin typeface="Courier"/>
              </a:rPr>
              <a:t>#esquisser(plot_subset)</a:t>
            </a:r>
            <a:br/>
            <a:br/>
            <a:r>
              <a:rPr i="1">
                <a:solidFill>
                  <a:srgbClr val="60A0B0"/>
                </a:solidFill>
                <a:latin typeface="Courier"/>
              </a:rPr>
              <a:t>#If using ggplot:</a:t>
            </a:r>
            <a:br/>
            <a:r>
              <a:rPr>
                <a:solidFill>
                  <a:srgbClr val="06287E"/>
                </a:solidFill>
                <a:latin typeface="Courier"/>
              </a:rPr>
              <a:t>ggplot</a:t>
            </a:r>
            <a:r>
              <a:rPr>
                <a:latin typeface="Courier"/>
              </a:rPr>
              <a:t>(</a:t>
            </a:r>
            <a:r>
              <a:rPr>
                <a:solidFill>
                  <a:srgbClr val="7D9029"/>
                </a:solidFill>
                <a:latin typeface="Courier"/>
              </a:rPr>
              <a:t>data =</a:t>
            </a:r>
            <a:r>
              <a:rPr>
                <a:latin typeface="Courier"/>
              </a:rPr>
              <a:t> plot_subset, </a:t>
            </a:r>
            <a:r>
              <a:rPr>
                <a:solidFill>
                  <a:srgbClr val="06287E"/>
                </a:solidFill>
                <a:latin typeface="Courier"/>
              </a:rPr>
              <a:t>aes</a:t>
            </a:r>
            <a:r>
              <a:rPr>
                <a:latin typeface="Courier"/>
              </a:rPr>
              <a:t>(</a:t>
            </a:r>
            <a:r>
              <a:rPr>
                <a:solidFill>
                  <a:srgbClr val="7D9029"/>
                </a:solidFill>
                <a:latin typeface="Courier"/>
              </a:rPr>
              <a:t>x =</a:t>
            </a:r>
            <a:r>
              <a:rPr>
                <a:latin typeface="Courier"/>
              </a:rPr>
              <a:t> Precip, </a:t>
            </a:r>
            <a:r>
              <a:rPr>
                <a:solidFill>
                  <a:srgbClr val="7D9029"/>
                </a:solidFill>
                <a:latin typeface="Courier"/>
              </a:rPr>
              <a:t>y =</a:t>
            </a:r>
            <a:r>
              <a:rPr>
                <a:latin typeface="Courier"/>
              </a:rPr>
              <a:t> Result, </a:t>
            </a:r>
            <a:r>
              <a:rPr>
                <a:solidFill>
                  <a:srgbClr val="7D9029"/>
                </a:solidFill>
                <a:latin typeface="Courier"/>
              </a:rPr>
              <a:t>color =</a:t>
            </a:r>
            <a:r>
              <a:rPr>
                <a:latin typeface="Courier"/>
              </a:rPr>
              <a:t> Year)) </a:t>
            </a:r>
            <a:r>
              <a:rPr>
                <a:solidFill>
                  <a:srgbClr val="4070A0"/>
                </a:solidFill>
                <a:latin typeface="Courier"/>
              </a:rPr>
              <a:t>+</a:t>
            </a:r>
            <a:br/>
            <a:r>
              <a:rPr>
                <a:latin typeface="Courier"/>
              </a:rPr>
              <a:t>  </a:t>
            </a:r>
            <a:r>
              <a:rPr>
                <a:solidFill>
                  <a:srgbClr val="06287E"/>
                </a:solidFill>
                <a:latin typeface="Courier"/>
              </a:rPr>
              <a:t>geom_point</a:t>
            </a:r>
            <a:r>
              <a:rPr>
                <a:latin typeface="Courier"/>
              </a:rPr>
              <a:t>() </a:t>
            </a:r>
            <a:r>
              <a:rPr>
                <a:solidFill>
                  <a:srgbClr val="4070A0"/>
                </a:solidFill>
                <a:latin typeface="Courier"/>
              </a:rPr>
              <a:t>+</a:t>
            </a:r>
            <a:br/>
            <a:r>
              <a:rPr>
                <a:latin typeface="Courier"/>
              </a:rPr>
              <a:t>  </a:t>
            </a:r>
            <a:r>
              <a:rPr>
                <a:solidFill>
                  <a:srgbClr val="06287E"/>
                </a:solidFill>
                <a:latin typeface="Courier"/>
              </a:rPr>
              <a:t>facet_wrap</a:t>
            </a:r>
            <a:r>
              <a:rPr>
                <a:latin typeface="Courier"/>
              </a:rPr>
              <a:t>(</a:t>
            </a:r>
            <a:r>
              <a:rPr>
                <a:solidFill>
                  <a:srgbClr val="4070A0"/>
                </a:solidFill>
                <a:latin typeface="Courier"/>
              </a:rPr>
              <a:t>~</a:t>
            </a:r>
            <a:r>
              <a:rPr>
                <a:latin typeface="Courier"/>
              </a:rPr>
              <a:t>Month)</a:t>
            </a:r>
          </a:p>
          <a:p>
            <a:pPr lvl="0" indent="0">
              <a:buNone/>
            </a:pPr>
            <a:r>
              <a:rPr>
                <a:latin typeface="Courier"/>
              </a:rPr>
              <a:t>## Warning: Removed 117 rows containing missing values or values outside the scale range
## (`geom_point()`).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__w/DaSEH/DaSEH/modules/HW/homework3_Key_files/figure-pptx/22response-1.png" id="0" name="Picture 1"/>
          <p:cNvPicPr>
            <a:picLocks noGrp="1" noChangeAspect="1"/>
          </p:cNvPicPr>
          <p:nvPr/>
        </p:nvPicPr>
        <p:blipFill>
          <a:blip r:embed="rId2"/>
          <a:stretch>
            <a:fillRect/>
          </a:stretch>
        </p:blipFill>
        <p:spPr bwMode="auto">
          <a:xfrm>
            <a:off x="2451100" y="1193800"/>
            <a:ext cx="42418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p>
          <a:p>
            <a:pPr lvl="0" indent="0">
              <a:buNone/>
            </a:pPr>
            <a:r>
              <a:rPr i="1">
                <a:solidFill>
                  <a:srgbClr val="60A0B0"/>
                </a:solidFill>
                <a:latin typeface="Courier"/>
              </a:rPr>
              <a:t># Yes, temperatures are higher in summer and lower in winter months.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4</Words>
  <Application>Microsoft Macintosh PowerPoint</Application>
  <PresentationFormat>On-screen Show (16:9)</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Courier New</vt:lpstr>
      <vt:lpstr>Lato</vt:lpstr>
      <vt:lpstr>Montserrat</vt:lpstr>
      <vt:lpstr>Wingdings</vt:lpstr>
      <vt:lpstr>Office Theme</vt:lpstr>
      <vt:lpstr>Basic 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 Homework 3 - Key</dc:title>
  <dc:creator/>
  <cp:keywords/>
  <dcterms:created xsi:type="dcterms:W3CDTF">2026-06-12T16:55:45Z</dcterms:created>
  <dcterms:modified xsi:type="dcterms:W3CDTF">2026-06-12T16:55:45Z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
  </property>
</Properties>
</file>