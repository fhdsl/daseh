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 Id="rId5"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kaggle.com/datasets/deepcontractor/mars-rover-environmental-monitoring-station/data" TargetMode="External" /><Relationship Id="rId3" Type="http://schemas.openxmlformats.org/officeDocument/2006/relationships/hyperlink" Target="https://daseh.org/data/kaggleMars_Dataset.csv" TargetMode="External" /><Relationship Id="rId4" Type="http://schemas.openxmlformats.org/officeDocument/2006/relationships/hyperlink" Target="https://daseh.org/data/kaggleMars_dictionary.tx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Introduction</a:t>
            </a:r>
            <a:r>
              <a:rPr/>
              <a:t> </a:t>
            </a:r>
            <a:r>
              <a:rPr/>
              <a:t>to</a:t>
            </a:r>
            <a:r>
              <a:rPr/>
              <a:t> </a:t>
            </a:r>
            <a:r>
              <a:rPr/>
              <a:t>R:</a:t>
            </a:r>
            <a:r>
              <a:rPr/>
              <a:t> </a:t>
            </a:r>
            <a:r>
              <a:rPr/>
              <a:t>Homework</a:t>
            </a:r>
            <a:r>
              <a:rPr/>
              <a:t> </a:t>
            </a:r>
            <a:r>
              <a:rPr/>
              <a:t>2</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spcBef>
                <a:spcPts val="3000"/>
              </a:spcBef>
              <a:buNone/>
            </a:pPr>
            <a:r>
              <a:rPr b="1"/>
              <a:t>Instructions</a:t>
            </a:r>
          </a:p>
          <a:p>
            <a:pPr lvl="0" marL="0" indent="0">
              <a:buNone/>
            </a:pPr>
            <a:r>
              <a:rPr/>
              <a:t>Homework is optional, but we recommend it so you can get the most out of this course.</a:t>
            </a:r>
          </a:p>
          <a:p>
            <a:pPr lvl="0" indent="0">
              <a:buNone/>
            </a:pPr>
            <a:r>
              <a:rPr i="1">
                <a:solidFill>
                  <a:srgbClr val="BA2121"/>
                </a:solidFill>
                <a:latin typeface="Courier"/>
              </a:rPr>
              <a:t>## you can add more, or change...these are suggestions</a:t>
            </a:r>
            <a:br/>
            <a:r>
              <a:rPr>
                <a:solidFill>
                  <a:srgbClr val="06287E"/>
                </a:solidFill>
                <a:latin typeface="Courier"/>
              </a:rPr>
              <a:t>library</a:t>
            </a:r>
            <a:r>
              <a:rPr>
                <a:latin typeface="Courier"/>
              </a:rPr>
              <a:t>(tidyverse)</a:t>
            </a:r>
            <a:br/>
            <a:r>
              <a:rPr>
                <a:solidFill>
                  <a:srgbClr val="06287E"/>
                </a:solidFill>
                <a:latin typeface="Courier"/>
              </a:rPr>
              <a:t>library</a:t>
            </a:r>
            <a:r>
              <a:rPr>
                <a:latin typeface="Courier"/>
              </a:rPr>
              <a:t>(readr)</a:t>
            </a:r>
            <a:br/>
            <a:r>
              <a:rPr>
                <a:solidFill>
                  <a:srgbClr val="06287E"/>
                </a:solidFill>
                <a:latin typeface="Courier"/>
              </a:rPr>
              <a:t>library</a:t>
            </a:r>
            <a:r>
              <a:rPr>
                <a:latin typeface="Courier"/>
              </a:rPr>
              <a:t>(dplyr)</a:t>
            </a:r>
            <a:br/>
            <a:r>
              <a:rPr>
                <a:solidFill>
                  <a:srgbClr val="06287E"/>
                </a:solidFill>
                <a:latin typeface="Courier"/>
              </a:rPr>
              <a:t>library</a:t>
            </a:r>
            <a:r>
              <a:rPr>
                <a:latin typeface="Courier"/>
              </a:rPr>
              <a:t>(ggplot2)</a:t>
            </a:r>
            <a:br/>
            <a:r>
              <a:rPr>
                <a:solidFill>
                  <a:srgbClr val="06287E"/>
                </a:solidFill>
                <a:latin typeface="Courier"/>
              </a:rPr>
              <a:t>library</a:t>
            </a:r>
            <a:r>
              <a:rPr>
                <a:latin typeface="Courier"/>
              </a:rPr>
              <a:t>(tidyr)</a:t>
            </a:r>
          </a:p>
          <a:p>
            <a:pPr lvl="0" marL="0" indent="0">
              <a:spcBef>
                <a:spcPts val="3000"/>
              </a:spcBef>
              <a:buNone/>
            </a:pPr>
            <a:r>
              <a:rPr b="1"/>
              <a:t>Problem Set</a:t>
            </a:r>
          </a:p>
          <a:p>
            <a:pPr lvl="0" marL="0" indent="0">
              <a:buNone/>
            </a:pPr>
            <a:r>
              <a:rPr/>
              <a:t>1. Create the following two objects.</a:t>
            </a:r>
          </a:p>
          <a:p>
            <a:pPr lvl="1">
              <a:buAutoNum type="alphaLcParenBoth"/>
            </a:pPr>
            <a:r>
              <a:rPr/>
              <a:t>Make an object “bday”. Assign it your birthday in day-month format (1-Jan).</a:t>
            </a:r>
          </a:p>
          <a:p>
            <a:pPr lvl="1">
              <a:buAutoNum type="alphaLcParenBoth"/>
            </a:pPr>
            <a:r>
              <a:rPr/>
              <a:t>Make another object “name”. Assign it your name. Make sure to use quotation marks for anything with text!</a:t>
            </a:r>
          </a:p>
          <a:p>
            <a:pPr lvl="0" marL="0" indent="0">
              <a:buNone/>
            </a:pPr>
            <a:r>
              <a:rPr/>
              <a:t>2. Make an object “me” that is “bday” and “name” combined.</a:t>
            </a:r>
          </a:p>
          <a:p>
            <a:pPr lvl="0" marL="0" indent="0">
              <a:buNone/>
            </a:pPr>
            <a:r>
              <a:rPr/>
              <a:t>3. Determine the data class for “me”.</a:t>
            </a:r>
          </a:p>
          <a:p>
            <a:pPr lvl="0" marL="0" indent="0">
              <a:buNone/>
            </a:pPr>
            <a:r>
              <a:rPr/>
              <a:t>4. If I want to do </a:t>
            </a:r>
            <a:r>
              <a:rPr>
                <a:latin typeface="Courier"/>
              </a:rPr>
              <a:t>me / 2</a:t>
            </a:r>
            <a:r>
              <a:rPr/>
              <a:t> I get the following error: </a:t>
            </a:r>
            <a:r>
              <a:rPr>
                <a:latin typeface="Courier"/>
              </a:rPr>
              <a:t>Error in me/2 : non-numeric argument to binary operator</a:t>
            </a:r>
            <a:r>
              <a:rPr/>
              <a:t>. Why? Write your answer as a comment inside the R chunk below.</a:t>
            </a:r>
          </a:p>
          <a:p>
            <a:pPr lvl="0" marL="0" indent="0">
              <a:buNone/>
            </a:pPr>
            <a:r>
              <a:rPr b="1"/>
              <a:t>The following questions involve an outside dataset.</a:t>
            </a:r>
          </a:p>
          <a:p>
            <a:pPr lvl="0" marL="0" indent="0">
              <a:buNone/>
            </a:pPr>
            <a:r>
              <a:rPr/>
              <a:t>We will be working with a dataset from the “Kaggle” website, which hosts competitions for prediction and machine learning. This particular dataset contains information about temperature measures from the Rover Environmental Monitoring Station (REMS) on Mars. These data are collected by Spain and Finland. More details on this dataset are here: </a:t>
            </a:r>
            <a:r>
              <a:rPr>
                <a:hlinkClick r:id="rId2"/>
              </a:rPr>
              <a:t>https://www.kaggle.com/datasets/deepcontractor/mars-rover-environmental-monitoring-station/data</a:t>
            </a:r>
            <a:r>
              <a:rPr/>
              <a:t>.</a:t>
            </a:r>
          </a:p>
          <a:p>
            <a:pPr lvl="0" marL="0" indent="0">
              <a:buNone/>
            </a:pPr>
            <a:r>
              <a:rPr/>
              <a:t>5. Bring the dataset into R. The dataset is located at: </a:t>
            </a:r>
            <a:r>
              <a:rPr>
                <a:hlinkClick r:id="rId3"/>
              </a:rPr>
              <a:t>https://daseh.org/data/kaggleMars_Dataset.csv</a:t>
            </a:r>
            <a:r>
              <a:rPr/>
              <a:t>. You can use the link, download it, or use whatever method you like for getting the file. Once you get the file, read the dataset in using </a:t>
            </a:r>
            <a:r>
              <a:rPr>
                <a:latin typeface="Courier"/>
              </a:rPr>
              <a:t>read_csv()</a:t>
            </a:r>
            <a:r>
              <a:rPr/>
              <a:t> and assign it the name </a:t>
            </a:r>
            <a:r>
              <a:rPr>
                <a:latin typeface="Courier"/>
              </a:rPr>
              <a:t>mars</a:t>
            </a:r>
            <a:r>
              <a:rPr/>
              <a:t>.</a:t>
            </a:r>
          </a:p>
          <a:p>
            <a:pPr lvl="0" marL="0" indent="0">
              <a:buNone/>
            </a:pPr>
            <a:r>
              <a:rPr/>
              <a:t>6. Import the data “dictionary” from </a:t>
            </a:r>
            <a:r>
              <a:rPr>
                <a:hlinkClick r:id="rId4"/>
              </a:rPr>
              <a:t>https://daseh.org/data/kaggleMars_dictionary.txt</a:t>
            </a:r>
            <a:r>
              <a:rPr/>
              <a:t>. Use the </a:t>
            </a:r>
            <a:r>
              <a:rPr>
                <a:latin typeface="Courier"/>
              </a:rPr>
              <a:t>read_tsv()</a:t>
            </a:r>
            <a:r>
              <a:rPr/>
              <a:t> function and assign it the name “key”.</a:t>
            </a:r>
          </a:p>
          <a:p>
            <a:pPr lvl="0" marL="0" indent="0">
              <a:buNone/>
            </a:pPr>
            <a:r>
              <a:rPr/>
              <a:t>7. You should now be ready to work with the “mars” dataset.</a:t>
            </a:r>
          </a:p>
          <a:p>
            <a:pPr lvl="1">
              <a:buAutoNum type="alphaLcParenBoth"/>
            </a:pPr>
            <a:r>
              <a:rPr/>
              <a:t>Preview the data so that you can see the names of the columns. There are several possible functions to do this.</a:t>
            </a:r>
          </a:p>
          <a:p>
            <a:pPr lvl="1">
              <a:buAutoNum type="alphaLcParenBoth"/>
            </a:pPr>
            <a:r>
              <a:rPr/>
              <a:t>Determine the class of the columns using </a:t>
            </a:r>
            <a:r>
              <a:rPr>
                <a:latin typeface="Courier"/>
              </a:rPr>
              <a:t>str()</a:t>
            </a:r>
            <a:r>
              <a:rPr/>
              <a:t>. Write your answer as a comment inside the R chunk below.</a:t>
            </a:r>
          </a:p>
          <a:p>
            <a:pPr lvl="0" marL="0" indent="0">
              <a:buNone/>
            </a:pPr>
            <a:r>
              <a:rPr/>
              <a:t>8. How many data points (rows) are in the dataset? How many variables (columns) are recorded for each data point?</a:t>
            </a:r>
          </a:p>
          <a:p>
            <a:pPr lvl="0" marL="0" indent="0">
              <a:buNone/>
            </a:pPr>
            <a:r>
              <a:rPr/>
              <a:t>9. Filter out (i.e., remove) measurements from earlier than 2015 (according to the Earth year), as well as any rows with missing data (NA). Replace the original “mars” object by reassigning the new filtered dataset to “mars”. How many data points are left after filtering?</a:t>
            </a:r>
          </a:p>
          <a:p>
            <a:pPr lvl="0" marL="0" indent="0">
              <a:buNone/>
            </a:pPr>
            <a:r>
              <a:rPr b="1"/>
              <a:t>Hint:</a:t>
            </a:r>
            <a:r>
              <a:rPr/>
              <a:t> use drop_na() to remove rows with missing values.</a:t>
            </a:r>
          </a:p>
          <a:p>
            <a:pPr lvl="0" marL="0" indent="0">
              <a:buNone/>
            </a:pPr>
            <a:r>
              <a:rPr/>
              <a:t>10. From this point on, work with the filtered “mars” dataset from the above question. A Martian year is equivalent to 668.6 sols (or solar days). Create a new variable (column) called “years_since_landing” that shows how many Martian years the Curiosity rover had been on Mars for each measurement (divide “solar_day” by 668.6). Check to make sure the new column is there.</a:t>
            </a:r>
          </a:p>
          <a:p>
            <a:pPr lvl="0" marL="0" indent="0">
              <a:buNone/>
            </a:pPr>
            <a:r>
              <a:rPr b="1"/>
              <a:t>Hint:</a:t>
            </a:r>
            <a:r>
              <a:rPr/>
              <a:t> use the </a:t>
            </a:r>
            <a:r>
              <a:rPr>
                <a:latin typeface="Courier"/>
              </a:rPr>
              <a:t>mutate()</a:t>
            </a:r>
            <a:r>
              <a:rPr/>
              <a:t> function.</a:t>
            </a:r>
          </a:p>
          <a:p>
            <a:pPr lvl="0" marL="0" indent="0">
              <a:buNone/>
            </a:pPr>
            <a:r>
              <a:rPr/>
              <a:t>11. What is the range of the maximum ground temperature (“max_ground_temp”) of the dataset?</a:t>
            </a:r>
          </a:p>
          <a:p>
            <a:pPr lvl="0" marL="0" indent="0">
              <a:buNone/>
            </a:pPr>
            <a:r>
              <a:rPr/>
              <a:t>12. Create a random sample with of atmospheric pressure readings from </a:t>
            </a:r>
            <a:r>
              <a:rPr>
                <a:latin typeface="Courier"/>
              </a:rPr>
              <a:t>mars</a:t>
            </a:r>
            <a:r>
              <a:rPr/>
              <a:t>. To determine the column that corresponds to atmospheric pressure, check the “key” corresponding to the data dictionary that you imported above in question 6. Use </a:t>
            </a:r>
            <a:r>
              <a:rPr>
                <a:latin typeface="Courier"/>
              </a:rPr>
              <a:t>sample()</a:t>
            </a:r>
            <a:r>
              <a:rPr/>
              <a:t> and </a:t>
            </a:r>
            <a:r>
              <a:rPr>
                <a:latin typeface="Courier"/>
              </a:rPr>
              <a:t>pull()</a:t>
            </a:r>
            <a:r>
              <a:rPr/>
              <a:t>. Remember that by default random samples differ each time you run the code.</a:t>
            </a:r>
          </a:p>
          <a:p>
            <a:pPr lvl="0" marL="0" indent="0">
              <a:buNone/>
            </a:pPr>
            <a:r>
              <a:rPr/>
              <a:t>13. How many data points are from days where the maximum ground temperature got above 0 degrees Celsius? What percent/proportion do these represent? Use:</a:t>
            </a:r>
          </a:p>
          <a:p>
            <a:pPr lvl="1"/>
            <a:r>
              <a:rPr>
                <a:latin typeface="Courier"/>
              </a:rPr>
              <a:t>filter()</a:t>
            </a:r>
            <a:r>
              <a:rPr/>
              <a:t> and </a:t>
            </a:r>
            <a:r>
              <a:rPr>
                <a:latin typeface="Courier"/>
              </a:rPr>
              <a:t>nrow()</a:t>
            </a:r>
          </a:p>
          <a:p>
            <a:pPr lvl="1"/>
            <a:r>
              <a:rPr>
                <a:latin typeface="Courier"/>
              </a:rPr>
              <a:t>group_by()</a:t>
            </a:r>
            <a:r>
              <a:rPr/>
              <a:t> and </a:t>
            </a:r>
            <a:r>
              <a:rPr>
                <a:latin typeface="Courier"/>
              </a:rPr>
              <a:t>summarize()</a:t>
            </a:r>
            <a:r>
              <a:rPr/>
              <a:t> or</a:t>
            </a:r>
          </a:p>
          <a:p>
            <a:pPr lvl="1"/>
            <a:r>
              <a:rPr>
                <a:latin typeface="Courier"/>
              </a:rPr>
              <a:t>sum()</a:t>
            </a:r>
          </a:p>
          <a:p>
            <a:pPr lvl="0" marL="0" indent="0">
              <a:buNone/>
            </a:pPr>
            <a:r>
              <a:rPr/>
              <a:t>14. How many different UV radiation levels (“UV_Radiation”) are there?</a:t>
            </a:r>
          </a:p>
          <a:p>
            <a:pPr lvl="0" marL="0" indent="0">
              <a:buNone/>
            </a:pPr>
            <a:r>
              <a:rPr b="1"/>
              <a:t>Hint:</a:t>
            </a:r>
            <a:r>
              <a:rPr/>
              <a:t> use </a:t>
            </a:r>
            <a:r>
              <a:rPr>
                <a:latin typeface="Courier"/>
              </a:rPr>
              <a:t>length()</a:t>
            </a:r>
            <a:r>
              <a:rPr/>
              <a:t> with </a:t>
            </a:r>
            <a:r>
              <a:rPr>
                <a:latin typeface="Courier"/>
              </a:rPr>
              <a:t>unique()</a:t>
            </a:r>
            <a:r>
              <a:rPr/>
              <a:t> or </a:t>
            </a:r>
            <a:r>
              <a:rPr>
                <a:latin typeface="Courier"/>
              </a:rPr>
              <a:t>table()</a:t>
            </a:r>
            <a:r>
              <a:rPr/>
              <a:t>. Remember to </a:t>
            </a:r>
            <a:r>
              <a:rPr>
                <a:latin typeface="Courier"/>
              </a:rPr>
              <a:t>pull()</a:t>
            </a:r>
            <a:r>
              <a:rPr/>
              <a:t> the right column.</a:t>
            </a:r>
          </a:p>
          <a:p>
            <a:pPr lvl="0" marL="0" indent="0">
              <a:buNone/>
            </a:pPr>
            <a:r>
              <a:rPr/>
              <a:t>15. How many different weather conditions (“weather”) are reported?</a:t>
            </a:r>
          </a:p>
          <a:p>
            <a:pPr lvl="0" marL="0" indent="0">
              <a:buNone/>
            </a:pPr>
            <a:r>
              <a:rPr/>
              <a:t>16. Which UV radiation level had the highest maximum air temperature, and what was it?</a:t>
            </a:r>
          </a:p>
          <a:p>
            <a:pPr lvl="0" marL="0" indent="0">
              <a:buNone/>
            </a:pPr>
            <a:r>
              <a:rPr b="1"/>
              <a:t>Hint:</a:t>
            </a:r>
            <a:r>
              <a:rPr/>
              <a:t> Use </a:t>
            </a:r>
            <a:r>
              <a:rPr>
                <a:latin typeface="Courier"/>
              </a:rPr>
              <a:t>group_by()</a:t>
            </a:r>
            <a:r>
              <a:rPr/>
              <a:t> with </a:t>
            </a:r>
            <a:r>
              <a:rPr>
                <a:latin typeface="Courier"/>
              </a:rPr>
              <a:t>summarize()</a:t>
            </a:r>
            <a:r>
              <a:rPr/>
              <a:t>.</a:t>
            </a:r>
          </a:p>
          <a:p>
            <a:pPr lvl="0" marL="0" indent="0">
              <a:buNone/>
            </a:pPr>
            <a:r>
              <a:rPr/>
              <a:t>17. Extend on the code you wrote for question 16. Use the </a:t>
            </a:r>
            <a:r>
              <a:rPr>
                <a:latin typeface="Courier"/>
              </a:rPr>
              <a:t>arrange()</a:t>
            </a:r>
            <a:r>
              <a:rPr/>
              <a:t> function to sort the output by maximum air temperature.</a:t>
            </a:r>
          </a:p>
          <a:p>
            <a:pPr lvl="0" marL="0" indent="0">
              <a:buNone/>
            </a:pPr>
            <a:r>
              <a:rPr/>
              <a:t>18. How many measurements were taken on days when the UV radiation was “low” and the maximum air temperature was above freezing? Use:</a:t>
            </a:r>
          </a:p>
          <a:p>
            <a:pPr lvl="1"/>
            <a:r>
              <a:rPr>
                <a:latin typeface="Courier"/>
              </a:rPr>
              <a:t>filter()</a:t>
            </a:r>
            <a:r>
              <a:rPr/>
              <a:t> and </a:t>
            </a:r>
            <a:r>
              <a:rPr>
                <a:latin typeface="Courier"/>
              </a:rPr>
              <a:t>count()</a:t>
            </a:r>
          </a:p>
          <a:p>
            <a:pPr lvl="1"/>
            <a:r>
              <a:rPr>
                <a:latin typeface="Courier"/>
              </a:rPr>
              <a:t>filter()</a:t>
            </a:r>
            <a:r>
              <a:rPr/>
              <a:t> and </a:t>
            </a:r>
            <a:r>
              <a:rPr>
                <a:latin typeface="Courier"/>
              </a:rPr>
              <a:t>tally()</a:t>
            </a:r>
            <a:r>
              <a:rPr/>
              <a:t> or</a:t>
            </a:r>
          </a:p>
          <a:p>
            <a:pPr lvl="1"/>
            <a:r>
              <a:rPr>
                <a:latin typeface="Courier"/>
              </a:rPr>
              <a:t>sum()</a:t>
            </a:r>
          </a:p>
          <a:p>
            <a:pPr lvl="0" marL="0" indent="0">
              <a:buNone/>
            </a:pPr>
            <a:r>
              <a:rPr/>
              <a:t>19. How many days was the UV radiation was “high” or “very high”? use:</a:t>
            </a:r>
          </a:p>
          <a:p>
            <a:pPr lvl="1"/>
            <a:r>
              <a:rPr>
                <a:latin typeface="Courier"/>
              </a:rPr>
              <a:t>filter()</a:t>
            </a:r>
            <a:r>
              <a:rPr/>
              <a:t> and </a:t>
            </a:r>
            <a:r>
              <a:rPr>
                <a:latin typeface="Courier"/>
              </a:rPr>
              <a:t>count()</a:t>
            </a:r>
          </a:p>
          <a:p>
            <a:pPr lvl="1"/>
            <a:r>
              <a:rPr>
                <a:latin typeface="Courier"/>
              </a:rPr>
              <a:t>filter()</a:t>
            </a:r>
            <a:r>
              <a:rPr/>
              <a:t> and </a:t>
            </a:r>
            <a:r>
              <a:rPr>
                <a:latin typeface="Courier"/>
              </a:rPr>
              <a:t>tally()</a:t>
            </a:r>
            <a:r>
              <a:rPr/>
              <a:t> or</a:t>
            </a:r>
          </a:p>
          <a:p>
            <a:pPr lvl="1"/>
            <a:r>
              <a:rPr>
                <a:latin typeface="Courier"/>
              </a:rPr>
              <a:t>sum()</a:t>
            </a:r>
          </a:p>
          <a:p>
            <a:pPr lvl="0" marL="0" indent="0">
              <a:buNone/>
            </a:pPr>
            <a:r>
              <a:rPr/>
              <a:t>20. Select all columns in “mars” where the column names starts with “min” (using </a:t>
            </a:r>
            <a:r>
              <a:rPr>
                <a:latin typeface="Courier"/>
              </a:rPr>
              <a:t>select()</a:t>
            </a:r>
            <a:r>
              <a:rPr/>
              <a:t> and </a:t>
            </a:r>
            <a:r>
              <a:rPr>
                <a:latin typeface="Courier"/>
              </a:rPr>
              <a:t>starts_with()</a:t>
            </a:r>
            <a:r>
              <a:rPr/>
              <a:t>. Then, use </a:t>
            </a:r>
            <a:r>
              <a:rPr>
                <a:latin typeface="Courier"/>
              </a:rPr>
              <a:t>colMeans()</a:t>
            </a:r>
            <a:r>
              <a:rPr/>
              <a:t> to summarize across these columns.</a:t>
            </a:r>
          </a:p>
          <a:p>
            <a:pPr lvl="0" marL="0" indent="0">
              <a:buNone/>
            </a:pPr>
            <a:r>
              <a:rPr/>
              <a:t>21. Using “mars”, create a new binary (TRUEs and FALSEs) column to indicate if the day’s maximum air temperature was above freezing. Call the new column “above_freezing”.</a:t>
            </a:r>
          </a:p>
          <a:p>
            <a:pPr lvl="0" marL="0" indent="0">
              <a:buNone/>
            </a:pPr>
            <a:r>
              <a:rPr/>
              <a:t>22. What is the average atmospheric pressure for days that have an air temperature above freezing and UV radiation level of “moderate”? How does this compare with days that do NOT fit these criteria?</a:t>
            </a:r>
          </a:p>
          <a:p>
            <a:pPr lvl="0" marL="0" indent="0">
              <a:buNone/>
            </a:pPr>
            <a:r>
              <a:rPr/>
              <a:t>23. Among days with a “moderate” UV level that are above freezing, what is the distribution of the earth year in which these days occurred?</a:t>
            </a:r>
          </a:p>
          <a:p>
            <a:pPr lvl="0" marL="0" indent="0">
              <a:buNone/>
            </a:pPr>
            <a:r>
              <a:rPr/>
              <a:t>24. How many days (using </a:t>
            </a:r>
            <a:r>
              <a:rPr>
                <a:latin typeface="Courier"/>
              </a:rPr>
              <a:t>filter()</a:t>
            </a:r>
            <a:r>
              <a:rPr/>
              <a:t> or </a:t>
            </a:r>
            <a:r>
              <a:rPr>
                <a:latin typeface="Courier"/>
              </a:rPr>
              <a:t>sum()</a:t>
            </a:r>
            <a:r>
              <a:rPr/>
              <a:t> ) have a maximum ground or air temperature above zero and have a UV level of “high” or “very_high”?</a:t>
            </a:r>
          </a:p>
          <a:p>
            <a:pPr lvl="0" marL="0" indent="0">
              <a:buNone/>
            </a:pPr>
            <a:r>
              <a:rPr/>
              <a:t>25. Make a boxplot (</a:t>
            </a:r>
            <a:r>
              <a:rPr>
                <a:latin typeface="Courier"/>
              </a:rPr>
              <a:t>boxplot()</a:t>
            </a:r>
            <a:r>
              <a:rPr/>
              <a:t>) that looks at earth year (“earth_year”) on the x-axis and minimum air temperature (“min_air_temp”) on the y-axis.</a:t>
            </a:r>
          </a:p>
          <a:p>
            <a:pPr lvl="0" marL="0" indent="0">
              <a:buNone/>
            </a:pPr>
            <a:r>
              <a:rPr/>
              <a:t>26. Knit your document into a report.</a:t>
            </a:r>
          </a:p>
          <a:p>
            <a:pPr lvl="0" marL="0" indent="0">
              <a:buNone/>
            </a:pPr>
            <a:r>
              <a:rPr/>
              <a:t>You use the knit button to do this. Make sure all your code is working first!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Homework 2</dc:title>
  <dc:creator/>
  <cp:keywords/>
  <dcterms:created xsi:type="dcterms:W3CDTF">2026-06-12T16:55:26Z</dcterms:created>
  <dcterms:modified xsi:type="dcterms:W3CDTF">2026-06-12T16:55:26Z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