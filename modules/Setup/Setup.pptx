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2100"/>
    <p:restoredTop autoAdjust="0" sz="94752"/>
  </p:normalViewPr>
  <p:slideViewPr>
    <p:cSldViewPr snapToGrid="0" snapToObjects="1">
      <p:cViewPr varScale="1">
        <p:scale>
          <a:sx d="100" n="198"/>
          <a:sy d="100" n="198"/>
        </p:scale>
        <p:origin x="1208"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 Id="rId24"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739774"/>
            <a:ext cx="7772400" cy="1102519"/>
          </a:xfrm>
        </p:spPr>
        <p:txBody>
          <a:bodyPr/>
          <a:lstStyle>
            <a:lvl1pPr algn="ctr">
              <a:defRPr sz="4000" baseline="0"/>
            </a:lvl1pPr>
          </a:lstStyle>
          <a:p>
            <a:r>
              <a:rPr lang="en-US" dirty="0"/>
              <a:t>Click to edit Master title style</a:t>
            </a:r>
          </a:p>
        </p:txBody>
      </p:sp>
      <p:sp>
        <p:nvSpPr>
          <p:cNvPr id="3" name="Subtitle 2"/>
          <p:cNvSpPr>
            <a:spLocks noGrp="1"/>
          </p:cNvSpPr>
          <p:nvPr>
            <p:ph type="subTitle" idx="1"/>
          </p:nvPr>
        </p:nvSpPr>
        <p:spPr>
          <a:xfrm>
            <a:off x="1371600" y="3881730"/>
            <a:ext cx="6400800" cy="34737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1026" name="Picture 2">
            <a:extLst>
              <a:ext uri="{FF2B5EF4-FFF2-40B4-BE49-F238E27FC236}">
                <a16:creationId xmlns:a16="http://schemas.microsoft.com/office/drawing/2014/main" id="{CE918C2E-CA3D-3E7E-792D-7E5EF124597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252696" y="289937"/>
            <a:ext cx="4638608" cy="25979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5/12/26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5/12/26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5/12/26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5/12/26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3300" kern="1200" baseline="0">
          <a:solidFill>
            <a:schemeClr val="tx1"/>
          </a:solidFill>
          <a:latin typeface="Montserrat" panose="00000500000000000000" pitchFamily="2" charset="77"/>
          <a:ea typeface="+mj-ea"/>
          <a:cs typeface="+mj-cs"/>
        </a:defRPr>
      </a:lvl1pPr>
    </p:titleStyle>
    <p:bodyStyle>
      <a:lvl1pPr marL="342900" indent="-342900" algn="l" defTabSz="342900" rtl="0" eaLnBrk="1" latinLnBrk="0" hangingPunct="1">
        <a:spcBef>
          <a:spcPct val="20000"/>
        </a:spcBef>
        <a:buFont typeface="Arial"/>
        <a:buChar char="•"/>
        <a:defRPr sz="1300" kern="1200" baseline="0">
          <a:solidFill>
            <a:schemeClr val="tx1"/>
          </a:solidFill>
          <a:latin typeface="Lato" panose="020F0502020204030203" pitchFamily="34" charset="0"/>
          <a:ea typeface="+mn-ea"/>
          <a:cs typeface="+mn-cs"/>
        </a:defRPr>
      </a:lvl1pPr>
      <a:lvl2pPr marL="685800" indent="-342900" algn="l" defTabSz="342900" rtl="0" eaLnBrk="1" latinLnBrk="0" hangingPunct="1">
        <a:spcBef>
          <a:spcPct val="20000"/>
        </a:spcBef>
        <a:buFont typeface="Courier New" panose="02070309020205020404" pitchFamily="49" charset="0"/>
        <a:buChar char="o"/>
        <a:defRPr sz="1100" kern="1200" baseline="0">
          <a:solidFill>
            <a:schemeClr val="tx1"/>
          </a:solidFill>
          <a:latin typeface="Lato" panose="020F0502020204030203" pitchFamily="34" charset="0"/>
          <a:ea typeface="+mn-ea"/>
          <a:cs typeface="+mn-cs"/>
        </a:defRPr>
      </a:lvl2pPr>
      <a:lvl3pPr marL="1028700" indent="-342900" algn="l" defTabSz="342900" rtl="0" eaLnBrk="1" latinLnBrk="0" hangingPunct="1">
        <a:spcBef>
          <a:spcPct val="20000"/>
        </a:spcBef>
        <a:buFont typeface="Wingdings" pitchFamily="2" charset="2"/>
        <a:buChar char="§"/>
        <a:defRPr sz="1100" kern="1200" baseline="0">
          <a:solidFill>
            <a:schemeClr val="tx1"/>
          </a:solidFill>
          <a:latin typeface="Lato" panose="020F0502020204030203" pitchFamily="34" charset="0"/>
          <a:ea typeface="+mn-ea"/>
          <a:cs typeface="+mn-cs"/>
        </a:defRPr>
      </a:lvl3pPr>
      <a:lvl4pPr marL="1371600" indent="-342900" algn="l" defTabSz="342900" rtl="0" eaLnBrk="1" latinLnBrk="0" hangingPunct="1">
        <a:spcBef>
          <a:spcPct val="20000"/>
        </a:spcBef>
        <a:buFont typeface="Arial" panose="020B0604020202020204" pitchFamily="34" charset="0"/>
        <a:buChar char="•"/>
        <a:defRPr sz="1100" kern="1200" baseline="0">
          <a:solidFill>
            <a:schemeClr val="tx1"/>
          </a:solidFill>
          <a:latin typeface="Lato" panose="020F0502020204030203" pitchFamily="34" charset="0"/>
          <a:ea typeface="+mn-ea"/>
          <a:cs typeface="+mn-cs"/>
        </a:defRPr>
      </a:lvl4pPr>
      <a:lvl5pPr marL="1714500" indent="-342900" algn="l" defTabSz="342900" rtl="0" eaLnBrk="1" latinLnBrk="0" hangingPunct="1">
        <a:spcBef>
          <a:spcPct val="20000"/>
        </a:spcBef>
        <a:buFont typeface="Courier New" panose="02070309020205020404" pitchFamily="49" charset="0"/>
        <a:buChar char="o"/>
        <a:defRPr sz="1100" kern="1200" baseline="0">
          <a:solidFill>
            <a:schemeClr val="tx1"/>
          </a:solidFill>
          <a:latin typeface="Lato" panose="020F0502020204030203" pitchFamily="34" charset="0"/>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3.xml" /><Relationship Id="rId4" Type="http://schemas.openxmlformats.org/officeDocument/2006/relationships/slide" Target="slide5.xml" /><Relationship Id="rId5" Type="http://schemas.openxmlformats.org/officeDocument/2006/relationships/slide" Target="slide5.xml" /><Relationship Id="rId6" Type="http://schemas.openxmlformats.org/officeDocument/2006/relationships/slide" Target="slide18.xml" /><Relationship Id="rId7" Type="http://schemas.openxmlformats.org/officeDocument/2006/relationships/slide" Target="slide18.xml" /><Relationship Id="rId8" Type="http://schemas.openxmlformats.org/officeDocument/2006/relationships/slide" Target="slide20.xml" /><Relationship Id="rId9" Type="http://schemas.openxmlformats.org/officeDocument/2006/relationships/slide" Target="slide20.xml" /><Relationship Id="rId10" Type="http://schemas.openxmlformats.org/officeDocument/2006/relationships/slide" Target="slide20.xml" /><Relationship Id="rId11" Type="http://schemas.openxmlformats.org/officeDocument/2006/relationships/slide" Target="slide21.xml" /><Relationship Id="rId12" Type="http://schemas.openxmlformats.org/officeDocument/2006/relationships/slide" Target="slide21.xml" /><Relationship Id="rId13" Type="http://schemas.openxmlformats.org/officeDocument/2006/relationships/slide" Target="slide2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bin/macosx/big-sur-arm64/base/R-4.4.1-arm64.pkg" TargetMode="External" /><Relationship Id="rId3" Type="http://schemas.openxmlformats.org/officeDocument/2006/relationships/hyperlink" Target="https://cran.r-project.org/bin/macosx/big-sur-x86_64/base/R-4.4.1-x86_64.pkg" TargetMode="External" /><Relationship Id="rId4" Type="http://schemas.openxmlformats.org/officeDocument/2006/relationships/hyperlink" Target="https://cran.r-project.org/bin/windows/base/R-4.4.1-win.exe" TargetMode="External" /><Relationship Id="rId5" Type="http://schemas.openxmlformats.org/officeDocument/2006/relationships/hyperlink" Target="https://cran.r-project.org/"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download/rstudio-desktop/"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studio.com/products/rstudio/older-versions/"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studio.com/products/rstudio/older-versions/" TargetMode="External" /><Relationship Id="rId3" Type="http://schemas.openxmlformats.org/officeDocument/2006/relationships/hyperlink" Target="https://community.rstudio.com/t/rstudio-desktop-crashes-on-startup-with-library-not-loaded/130296"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739774"/>
            <a:ext cx="7772400" cy="1102519"/>
          </a:xfrm>
        </p:spPr>
        <p:txBody>
          <a:bodyPr/>
          <a:lstStyle/>
          <a:p>
            <a:pPr lvl="0" marL="0" indent="0">
              <a:buNone/>
            </a:pPr>
            <a:r>
              <a:rPr/>
              <a:t>R</a:t>
            </a:r>
            <a:r>
              <a:rPr/>
              <a:t> </a:t>
            </a:r>
            <a:r>
              <a:rPr/>
              <a:t>and</a:t>
            </a:r>
            <a:r>
              <a:rPr/>
              <a:t> </a:t>
            </a:r>
            <a:r>
              <a:rPr/>
              <a:t>RStudio</a:t>
            </a:r>
            <a:r>
              <a:rPr/>
              <a:t> </a:t>
            </a:r>
            <a:r>
              <a:rPr/>
              <a:t>Installation</a:t>
            </a:r>
          </a:p>
        </p:txBody>
      </p:sp>
      <p:sp>
        <p:nvSpPr>
          <p:cNvPr id="3" name="Subtitle 2"/>
          <p:cNvSpPr>
            <a:spLocks noGrp="1"/>
          </p:cNvSpPr>
          <p:nvPr>
            <p:ph idx="1" type="subTitle"/>
          </p:nvPr>
        </p:nvSpPr>
        <p:spPr>
          <a:xfrm>
            <a:off x="1371600" y="3881730"/>
            <a:ext cx="6400800" cy="347370"/>
          </a:xfrm>
        </p:spPr>
        <p:txBody>
          <a:bodyPr/>
          <a:lstStyle/>
          <a:p>
            <a:pPr lvl="0" marL="0" indent="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r>
              <a:rPr>
                <a:hlinkClick r:id="rId2" action="ppaction://hlinksldjump"/>
              </a:rPr>
              <a:t>Installing </a:t>
            </a:r>
            <a:r>
              <a:rPr>
                <a:hlinkClick r:id="rId3" action="ppaction://hlinksldjump"/>
                <a:latin typeface="Courier"/>
              </a:rPr>
              <a:t>R</a:t>
            </a:r>
          </a:p>
          <a:p>
            <a:pPr lvl="1"/>
            <a:r>
              <a:rPr>
                <a:hlinkClick r:id="rId4" action="ppaction://hlinksldjump"/>
              </a:rPr>
              <a:t>Installing </a:t>
            </a:r>
            <a:r>
              <a:rPr>
                <a:hlinkClick r:id="rId5" action="ppaction://hlinksldjump"/>
                <a:latin typeface="Courier"/>
              </a:rPr>
              <a:t>RStudio</a:t>
            </a:r>
          </a:p>
          <a:p>
            <a:pPr lvl="1"/>
            <a:r>
              <a:rPr>
                <a:hlinkClick r:id="rId6" action="ppaction://hlinksldjump"/>
                <a:latin typeface="Courier"/>
              </a:rPr>
              <a:t>R</a:t>
            </a:r>
            <a:r>
              <a:rPr>
                <a:hlinkClick r:id="rId7" action="ppaction://hlinksldjump"/>
              </a:rPr>
              <a:t> packages</a:t>
            </a:r>
          </a:p>
          <a:p>
            <a:pPr lvl="2"/>
            <a:r>
              <a:rPr>
                <a:hlinkClick r:id="rId8" action="ppaction://hlinksldjump"/>
              </a:rPr>
              <a:t>Installing </a:t>
            </a:r>
            <a:r>
              <a:rPr>
                <a:hlinkClick r:id="rId9" action="ppaction://hlinksldjump"/>
                <a:latin typeface="Courier"/>
              </a:rPr>
              <a:t>R</a:t>
            </a:r>
            <a:r>
              <a:rPr>
                <a:hlinkClick r:id="rId10" action="ppaction://hlinksldjump"/>
              </a:rPr>
              <a:t> packages</a:t>
            </a:r>
          </a:p>
          <a:p>
            <a:pPr lvl="2"/>
            <a:r>
              <a:rPr>
                <a:hlinkClick r:id="rId11" action="ppaction://hlinksldjump"/>
              </a:rPr>
              <a:t>Exercise: Install </a:t>
            </a:r>
            <a:r>
              <a:rPr>
                <a:hlinkClick r:id="rId12" action="ppaction://hlinksldjump"/>
                <a:latin typeface="Courier"/>
              </a:rPr>
              <a:t>R</a:t>
            </a:r>
            <a:r>
              <a:rPr>
                <a:hlinkClick r:id="rId13" action="ppaction://hlinksldjump"/>
              </a:rPr>
              <a:t> package</a:t>
            </a:r>
          </a:p>
          <a:p>
            <a:pPr lvl="0" marL="0" indent="0">
              <a:buNone/>
            </a:pPr>
            <a:r>
              <a:rPr>
                <a:latin typeface="Courier"/>
              </a:rPr>
              <a:t>R</a:t>
            </a:r>
            <a:r>
              <a:rPr/>
              <a:t> is a powerful analytical language and contains a number of useful packages for analyzing data.</a:t>
            </a:r>
          </a:p>
          <a:p>
            <a:pPr lvl="0" marL="0" indent="0">
              <a:buNone/>
            </a:pPr>
            <a:r>
              <a:rPr>
                <a:latin typeface="Courier"/>
              </a:rPr>
              <a:t>RStudio</a:t>
            </a:r>
            <a:r>
              <a:rPr/>
              <a:t> is a free and open-source integrated development environment (IDE) for R. </a:t>
            </a:r>
            <a:r>
              <a:rPr>
                <a:latin typeface="Courier"/>
              </a:rPr>
              <a:t>RStudio</a:t>
            </a:r>
            <a:r>
              <a:rPr/>
              <a:t> provides comprehensive facilities to </a:t>
            </a:r>
            <a:r>
              <a:rPr>
                <a:latin typeface="Courier"/>
              </a:rPr>
              <a:t>R</a:t>
            </a:r>
            <a:r>
              <a:rPr/>
              <a:t> programmers and is highly recommended in this class.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marL="0" indent="0">
              <a:buNone/>
            </a:pPr>
            <a:r>
              <a:rPr/>
              <a:t>Installing</a:t>
            </a:r>
            <a:r>
              <a:rPr/>
              <a:t> </a:t>
            </a:r>
            <a:r>
              <a:rPr>
                <a:latin typeface="Courier"/>
              </a:rPr>
              <a:t>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We recommend installing the most recent version or </a:t>
            </a:r>
            <a:r>
              <a:rPr>
                <a:latin typeface="Courier"/>
              </a:rPr>
              <a:t>R</a:t>
            </a:r>
            <a:r>
              <a:rPr/>
              <a:t> (4.4.1 (called ‘Race for your Life’) as of June 14, 2024). </a:t>
            </a:r>
            <a:r>
              <a:rPr b="1"/>
              <a:t>If you have had installed </a:t>
            </a:r>
            <a:r>
              <a:rPr b="1">
                <a:latin typeface="Courier"/>
              </a:rPr>
              <a:t>R</a:t>
            </a:r>
            <a:r>
              <a:rPr b="1"/>
              <a:t> already some time ago, we recommend updating/reinstalling it to the most recent version.</a:t>
            </a:r>
            <a:r>
              <a:rPr/>
              <a:t> Use a link below to launch download of </a:t>
            </a:r>
            <a:r>
              <a:rPr>
                <a:latin typeface="Courier"/>
              </a:rPr>
              <a:t>R</a:t>
            </a:r>
            <a:r>
              <a:rPr/>
              <a:t> installers (if the download does not start, a fix may be to copy-paste the below link to your browser):</a:t>
            </a:r>
          </a:p>
          <a:p>
            <a:pPr lvl="1"/>
            <a:r>
              <a:rPr>
                <a:hlinkClick r:id="rId2"/>
              </a:rPr>
              <a:t>Download For Mac users (M1 chip)</a:t>
            </a:r>
          </a:p>
          <a:p>
            <a:pPr lvl="1"/>
            <a:r>
              <a:rPr>
                <a:hlinkClick r:id="rId3"/>
              </a:rPr>
              <a:t>Download For Mac users (Intel chip)</a:t>
            </a:r>
          </a:p>
          <a:p>
            <a:pPr lvl="1"/>
            <a:r>
              <a:rPr>
                <a:hlinkClick r:id="rId4"/>
              </a:rPr>
              <a:t>Download For Windows users</a:t>
            </a:r>
          </a:p>
          <a:p>
            <a:pPr lvl="0" marL="0" indent="0">
              <a:buNone/>
            </a:pPr>
            <a:r>
              <a:rPr/>
              <a:t>For other operating systems, or if you prefer to access the download link from the official website, visit </a:t>
            </a:r>
            <a:r>
              <a:rPr>
                <a:hlinkClick r:id="rId5"/>
              </a:rPr>
              <a:t>https://cran.r-project.org/</a:t>
            </a:r>
            <a:r>
              <a:rPr/>
              <a:t> and select </a:t>
            </a:r>
            <a:r>
              <a:rPr>
                <a:latin typeface="Courier"/>
              </a:rPr>
              <a:t>Download R for Linux</a:t>
            </a:r>
            <a:r>
              <a:rPr/>
              <a:t>, </a:t>
            </a:r>
            <a:r>
              <a:rPr>
                <a:latin typeface="Courier"/>
              </a:rPr>
              <a:t>Download R for macOS</a:t>
            </a:r>
            <a:r>
              <a:rPr/>
              <a:t> or </a:t>
            </a:r>
            <a:r>
              <a:rPr>
                <a:latin typeface="Courier"/>
              </a:rPr>
              <a:t>Download R for Windows</a:t>
            </a:r>
            <a:r>
              <a:rPr/>
              <a:t> based on which device you have.</a:t>
            </a:r>
          </a:p>
          <a:p>
            <a:pPr lvl="0" marL="0" indent="0">
              <a:buNone/>
            </a:pPr>
            <a:r>
              <a:rPr/>
              <a:t>Once the proper installation package has been selected, run the package and follow the on-screen directions. This installation includes the </a:t>
            </a:r>
            <a:r>
              <a:rPr>
                <a:latin typeface="Courier"/>
              </a:rPr>
              <a:t>R</a:t>
            </a:r>
            <a:r>
              <a:rPr/>
              <a:t> language and a graphical user interface (GUI). Rather using the GUI, we recommend installing </a:t>
            </a:r>
            <a:r>
              <a:rPr>
                <a:latin typeface="Courier"/>
              </a:rPr>
              <a:t>RStudio</a:t>
            </a:r>
            <a:r>
              <a:rPr/>
              <a:t> - an integrated development environment (IDE) that lets you interact with </a:t>
            </a:r>
            <a:r>
              <a:rPr>
                <a:latin typeface="Courier"/>
              </a:rPr>
              <a:t>R</a:t>
            </a:r>
            <a:r>
              <a:rPr/>
              <a:t> with some added benefits.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marL="0" indent="0">
              <a:buNone/>
            </a:pPr>
            <a:r>
              <a:rPr/>
              <a:t>Installing</a:t>
            </a:r>
            <a:r>
              <a:rPr/>
              <a:t> </a:t>
            </a:r>
            <a:r>
              <a:rPr>
                <a:latin typeface="Courier"/>
              </a:rPr>
              <a:t>RStudio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To install </a:t>
            </a:r>
            <a:r>
              <a:rPr>
                <a:latin typeface="Courier"/>
              </a:rPr>
              <a:t>RStudio</a:t>
            </a:r>
            <a:r>
              <a:rPr/>
              <a:t>, visit </a:t>
            </a:r>
            <a:r>
              <a:rPr>
                <a:hlinkClick r:id="rId2"/>
              </a:rPr>
              <a:t>https://posit.co/download/rstudio-desktop/</a:t>
            </a:r>
            <a:r>
              <a:rPr/>
              <a:t>. The website should look something like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landing.png" id="0" name="Picture 1"/>
          <p:cNvPicPr>
            <a:picLocks noGrp="1" noChangeAspect="1"/>
          </p:cNvPicPr>
          <p:nvPr/>
        </p:nvPicPr>
        <p:blipFill>
          <a:blip r:embed="rId2"/>
          <a:stretch>
            <a:fillRect/>
          </a:stretch>
        </p:blipFill>
        <p:spPr bwMode="auto">
          <a:xfrm>
            <a:off x="2044700" y="1193800"/>
            <a:ext cx="5054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Once on the website, scroll down and select the proper installation file for your platform (Windows, Mac, etc.). Open up the installer and follow the directions to install RStudio.</a:t>
            </a:r>
          </a:p>
          <a:p>
            <a:pPr lvl="0" marL="0" indent="0">
              <a:buNone/>
            </a:pPr>
            <a:r>
              <a:rPr b="1"/>
              <a:t>Note</a:t>
            </a:r>
            <a:r>
              <a:rPr/>
              <a:t> that your operating system may be </a:t>
            </a:r>
            <a:r>
              <a:rPr b="1"/>
              <a:t>too old</a:t>
            </a:r>
            <a:r>
              <a:rPr/>
              <a:t> to install the current version of RStudio. If this is the case try installing progressively older versions found </a:t>
            </a:r>
            <a:r>
              <a:rPr>
                <a:hlinkClick r:id="rId2"/>
              </a:rPr>
              <a:t>here</a:t>
            </a:r>
            <a:r>
              <a:rPr/>
              <a:t> until it works. You will know if it worked if you try to open RStudio and you see an interface without a message about things going poorly.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platforms.png" id="0" name="Picture 1"/>
          <p:cNvPicPr>
            <a:picLocks noGrp="1" noChangeAspect="1"/>
          </p:cNvPicPr>
          <p:nvPr/>
        </p:nvPicPr>
        <p:blipFill>
          <a:blip r:embed="rId2"/>
          <a:stretch>
            <a:fillRect/>
          </a:stretch>
        </p:blipFill>
        <p:spPr bwMode="auto">
          <a:xfrm>
            <a:off x="2044700" y="1193800"/>
            <a:ext cx="5054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When you open up </a:t>
            </a:r>
            <a:r>
              <a:rPr>
                <a:latin typeface="Courier"/>
              </a:rPr>
              <a:t>RStudio</a:t>
            </a:r>
            <a:r>
              <a:rPr/>
              <a:t>, it should look like this: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console.png" id="0" name="Picture 1"/>
          <p:cNvPicPr>
            <a:picLocks noGrp="1" noChangeAspect="1"/>
          </p:cNvPicPr>
          <p:nvPr/>
        </p:nvPicPr>
        <p:blipFill>
          <a:blip r:embed="rId2"/>
          <a:stretch>
            <a:fillRect/>
          </a:stretch>
        </p:blipFill>
        <p:spPr bwMode="auto">
          <a:xfrm>
            <a:off x="2324100" y="1193800"/>
            <a:ext cx="45085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Click the top left button to create a new script: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New_script_click.png" id="0" name="Picture 1"/>
          <p:cNvPicPr>
            <a:picLocks noGrp="1" noChangeAspect="1"/>
          </p:cNvPicPr>
          <p:nvPr/>
        </p:nvPicPr>
        <p:blipFill>
          <a:blip r:embed="rId2"/>
          <a:stretch>
            <a:fillRect/>
          </a:stretch>
        </p:blipFill>
        <p:spPr bwMode="auto">
          <a:xfrm>
            <a:off x="2324100" y="1193800"/>
            <a:ext cx="45085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latin typeface="Courier"/>
              </a:rPr>
              <a:t>RStudio</a:t>
            </a:r>
            <a:r>
              <a:rPr/>
              <a:t>, should now look like this: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4panes.png" id="0" name="Picture 1"/>
          <p:cNvPicPr>
            <a:picLocks noGrp="1" noChangeAspect="1"/>
          </p:cNvPicPr>
          <p:nvPr/>
        </p:nvPicPr>
        <p:blipFill>
          <a:blip r:embed="rId2"/>
          <a:stretch>
            <a:fillRect/>
          </a:stretch>
        </p:blipFill>
        <p:spPr bwMode="auto">
          <a:xfrm>
            <a:off x="2324100" y="1193800"/>
            <a:ext cx="45085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There are four main windows.</a:t>
            </a:r>
          </a:p>
          <a:p>
            <a:pPr lvl="1"/>
            <a:r>
              <a:rPr/>
              <a:t>The </a:t>
            </a:r>
            <a:r>
              <a:rPr b="1"/>
              <a:t>console</a:t>
            </a:r>
            <a:r>
              <a:rPr/>
              <a:t> is the lower-left window where you can run lines of code and see the output.</a:t>
            </a:r>
          </a:p>
          <a:p>
            <a:pPr lvl="1"/>
            <a:r>
              <a:rPr/>
              <a:t>The </a:t>
            </a:r>
            <a:r>
              <a:rPr b="1"/>
              <a:t>script window</a:t>
            </a:r>
            <a:r>
              <a:rPr/>
              <a:t> is the upper-left window where you can edit and write scripts or markdown documents. From the script window, you can run the current line of code in your script (or multiple lines if you highlight multiple rows) by pressing</a:t>
            </a:r>
          </a:p>
          <a:p>
            <a:pPr lvl="2"/>
            <a:r>
              <a:rPr>
                <a:latin typeface="Courier"/>
              </a:rPr>
              <a:t>CMD</a:t>
            </a:r>
            <a:r>
              <a:rPr/>
              <a:t> + </a:t>
            </a:r>
            <a:r>
              <a:rPr>
                <a:latin typeface="Courier"/>
              </a:rPr>
              <a:t>Return</a:t>
            </a:r>
            <a:r>
              <a:rPr/>
              <a:t> on Mac</a:t>
            </a:r>
          </a:p>
          <a:p>
            <a:pPr lvl="2"/>
            <a:r>
              <a:rPr>
                <a:latin typeface="Courier"/>
              </a:rPr>
              <a:t>CTRL</a:t>
            </a:r>
            <a:r>
              <a:rPr/>
              <a:t> + </a:t>
            </a:r>
            <a:r>
              <a:rPr>
                <a:latin typeface="Courier"/>
              </a:rPr>
              <a:t>Enter</a:t>
            </a:r>
            <a:r>
              <a:rPr/>
              <a:t> on Windows</a:t>
            </a:r>
          </a:p>
          <a:p>
            <a:pPr lvl="1"/>
            <a:r>
              <a:rPr/>
              <a:t>The </a:t>
            </a:r>
            <a:r>
              <a:rPr b="1"/>
              <a:t>workspace</a:t>
            </a:r>
            <a:r>
              <a:rPr/>
              <a:t> is the upper-right window where you can manage your data and variables and see previous commands entered (under the history tab).</a:t>
            </a:r>
          </a:p>
          <a:p>
            <a:pPr lvl="1"/>
            <a:r>
              <a:rPr/>
              <a:t>The </a:t>
            </a:r>
            <a:r>
              <a:rPr b="1"/>
              <a:t>plots</a:t>
            </a:r>
            <a:r>
              <a:rPr/>
              <a:t> window allows you to see the output of plots. On the other tabs, you can also look at directories, install packages, and look at help files for various </a:t>
            </a:r>
            <a:r>
              <a:rPr>
                <a:latin typeface="Courier"/>
              </a:rPr>
              <a:t>R</a:t>
            </a:r>
            <a:r>
              <a:rPr/>
              <a:t> commands.</a:t>
            </a:r>
          </a:p>
          <a:p>
            <a:pPr lvl="0" marL="0" indent="0">
              <a:buNone/>
            </a:pPr>
            <a:r>
              <a:rPr/>
              <a:t>You can customize the look of your RStudio IDE in </a:t>
            </a:r>
            <a:r>
              <a:rPr>
                <a:latin typeface="Courier"/>
              </a:rPr>
              <a:t>Tools &gt; Global Options...</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Troubleshooting</a:t>
            </a:r>
            <a:r>
              <a:rPr/>
              <a:t> </a:t>
            </a:r>
            <a:r>
              <a:rPr/>
              <a:t>the</a:t>
            </a:r>
            <a:r>
              <a:rPr/>
              <a:t> </a:t>
            </a:r>
            <a:r>
              <a:rPr/>
              <a:t>Installation</a:t>
            </a:r>
            <a:r>
              <a:rPr/>
              <a:t> </a:t>
            </a:r>
            <a:r>
              <a:rPr/>
              <a:t>Process</a:t>
            </a:r>
          </a:p>
        </p:txBody>
      </p:sp>
      <p:sp>
        <p:nvSpPr>
          <p:cNvPr id="3" name="Content Placeholder 2"/>
          <p:cNvSpPr>
            <a:spLocks noGrp="1"/>
          </p:cNvSpPr>
          <p:nvPr>
            <p:ph idx="1"/>
          </p:nvPr>
        </p:nvSpPr>
        <p:spPr/>
        <p:txBody>
          <a:bodyPr/>
          <a:lstStyle/>
          <a:p>
            <a:pPr lvl="0" marL="0" indent="0">
              <a:buNone/>
            </a:pPr>
            <a:r>
              <a:rPr/>
              <a:t>If you run into trouble, check the following: - did you install the correct version of software for your operating system? - Check that you installed the version right for your type of system, (</a:t>
            </a:r>
            <a:r>
              <a:rPr>
                <a:latin typeface="Courier"/>
              </a:rPr>
              <a:t>macOS</a:t>
            </a:r>
            <a:r>
              <a:rPr/>
              <a:t> vs </a:t>
            </a:r>
            <a:r>
              <a:rPr>
                <a:latin typeface="Courier"/>
              </a:rPr>
              <a:t>Windows</a:t>
            </a:r>
            <a:r>
              <a:rPr/>
              <a:t> for example) - Check if maybe you need a different version for the age of your system. First check that your version of R was right - there are multiple versions for different </a:t>
            </a:r>
            <a:r>
              <a:rPr>
                <a:latin typeface="Courier"/>
              </a:rPr>
              <a:t>macOS</a:t>
            </a:r>
            <a:r>
              <a:rPr/>
              <a:t> systems for example. You can check the apple icon (top left corner) and “About This Mac” to learn more about the age of your operating system. If your operating system is older (and you can’t update it), try installing progressively older versions found </a:t>
            </a:r>
            <a:r>
              <a:rPr>
                <a:hlinkClick r:id="rId2"/>
              </a:rPr>
              <a:t>here</a:t>
            </a:r>
            <a:r>
              <a:rPr/>
              <a:t> until it works. You will know if it worked if you try to open RStudio and you see an interface without a message about things going poorly. Here you can see an </a:t>
            </a:r>
            <a:r>
              <a:rPr>
                <a:hlinkClick r:id="rId3"/>
              </a:rPr>
              <a:t>example</a:t>
            </a:r>
            <a:r>
              <a:rPr/>
              <a:t> of this. Unfortunately, the documentation is poor about what older versions work for which operating systems.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marL="0" indent="0">
              <a:buNone/>
            </a:pPr>
            <a:r>
              <a:rPr>
                <a:latin typeface="Courier"/>
              </a:rPr>
              <a:t>R</a:t>
            </a:r>
            <a:r>
              <a:rPr/>
              <a:t> </a:t>
            </a:r>
            <a:r>
              <a:rPr/>
              <a:t>packages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Packages are the fundamental units of reproducible </a:t>
            </a:r>
            <a:r>
              <a:rPr>
                <a:latin typeface="Courier"/>
              </a:rPr>
              <a:t>R</a:t>
            </a:r>
            <a:r>
              <a:rPr/>
              <a:t> code. They are collections of </a:t>
            </a:r>
            <a:r>
              <a:rPr>
                <a:latin typeface="Courier"/>
              </a:rPr>
              <a:t>R</a:t>
            </a:r>
            <a:r>
              <a:rPr/>
              <a:t> code that typically share some common purpose. Examples:</a:t>
            </a:r>
          </a:p>
          <a:p>
            <a:pPr lvl="1"/>
            <a:r>
              <a:rPr>
                <a:latin typeface="Courier"/>
              </a:rPr>
              <a:t>dplyr</a:t>
            </a:r>
            <a:r>
              <a:rPr/>
              <a:t> - package of functions for fast data set manipulation (subsetting, summarizing, rearranging, and joining together data sets);</a:t>
            </a:r>
          </a:p>
          <a:p>
            <a:pPr lvl="1"/>
            <a:r>
              <a:rPr>
                <a:latin typeface="Courier"/>
              </a:rPr>
              <a:t>ggplot2</a:t>
            </a:r>
            <a:r>
              <a:rPr/>
              <a:t> - “R’s famous package for making beautiful graphics”; allows to build multiple-layers, highly customizable plots.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Installing</a:t>
            </a:r>
            <a:r>
              <a:rPr/>
              <a:t> </a:t>
            </a:r>
            <a:r>
              <a:rPr>
                <a:latin typeface="Courier"/>
              </a:rPr>
              <a:t>R</a:t>
            </a:r>
            <a:r>
              <a:rPr/>
              <a:t> </a:t>
            </a:r>
            <a:r>
              <a:rPr/>
              <a:t>package</a:t>
            </a:r>
          </a:p>
        </p:txBody>
      </p:sp>
      <p:sp>
        <p:nvSpPr>
          <p:cNvPr id="3" name="Content Placeholder 2"/>
          <p:cNvSpPr>
            <a:spLocks noGrp="1"/>
          </p:cNvSpPr>
          <p:nvPr>
            <p:ph idx="1"/>
          </p:nvPr>
        </p:nvSpPr>
        <p:spPr/>
        <p:txBody>
          <a:bodyPr/>
          <a:lstStyle/>
          <a:p>
            <a:pPr lvl="1"/>
            <a:r>
              <a:rPr/>
              <a:t>To install an </a:t>
            </a:r>
            <a:r>
              <a:rPr>
                <a:latin typeface="Courier"/>
              </a:rPr>
              <a:t>R</a:t>
            </a:r>
            <a:r>
              <a:rPr/>
              <a:t> package, type in the </a:t>
            </a:r>
            <a:r>
              <a:rPr>
                <a:latin typeface="Courier"/>
              </a:rPr>
              <a:t>RStudio</a:t>
            </a:r>
            <a:r>
              <a:rPr/>
              <a:t> console</a:t>
            </a:r>
          </a:p>
          <a:p>
            <a:pPr lvl="1" indent="0">
              <a:buNone/>
            </a:pPr>
            <a:r>
              <a:rPr>
                <a:latin typeface="Courier"/>
              </a:rPr>
              <a:t>install.packages("replace_with_package_name")</a:t>
            </a:r>
          </a:p>
          <a:p>
            <a:pPr lvl="1">
              <a:buNone/>
            </a:pPr>
            <a:r>
              <a:rPr/>
              <a:t>and press enter to execute the command.</a:t>
            </a:r>
          </a:p>
          <a:p>
            <a:pPr lvl="1"/>
            <a:r>
              <a:rPr/>
              <a:t>Once a package is installed, to use its contents in current </a:t>
            </a:r>
            <a:r>
              <a:rPr>
                <a:latin typeface="Courier"/>
              </a:rPr>
              <a:t>R</a:t>
            </a:r>
            <a:r>
              <a:rPr/>
              <a:t> session, we run in the </a:t>
            </a:r>
            <a:r>
              <a:rPr>
                <a:latin typeface="Courier"/>
              </a:rPr>
              <a:t>RStudio</a:t>
            </a:r>
            <a:r>
              <a:rPr/>
              <a:t> console the command</a:t>
            </a:r>
          </a:p>
          <a:p>
            <a:pPr lvl="1" indent="0">
              <a:buNone/>
            </a:pPr>
            <a:r>
              <a:rPr>
                <a:latin typeface="Courier"/>
              </a:rPr>
              <a:t>library(replace_with_package_name)</a:t>
            </a:r>
          </a:p>
          <a:p>
            <a:pPr lvl="0" marL="0" indent="0">
              <a:buNone/>
            </a:pPr>
            <a:r>
              <a:rPr/>
              <a:t>(Note the difference in presence of the quotation mark in the two above commands.)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Exercise:</a:t>
            </a:r>
            <a:r>
              <a:rPr/>
              <a:t> </a:t>
            </a:r>
            <a:r>
              <a:rPr/>
              <a:t>Install</a:t>
            </a:r>
            <a:r>
              <a:rPr/>
              <a:t> </a:t>
            </a:r>
            <a:r>
              <a:rPr>
                <a:latin typeface="Courier"/>
              </a:rPr>
              <a:t>R</a:t>
            </a:r>
            <a:r>
              <a:rPr/>
              <a:t> </a:t>
            </a:r>
            <a:r>
              <a:rPr/>
              <a:t>package</a:t>
            </a:r>
          </a:p>
        </p:txBody>
      </p:sp>
      <p:sp>
        <p:nvSpPr>
          <p:cNvPr id="3" name="Content Placeholder 2"/>
          <p:cNvSpPr>
            <a:spLocks noGrp="1"/>
          </p:cNvSpPr>
          <p:nvPr>
            <p:ph idx="1"/>
          </p:nvPr>
        </p:nvSpPr>
        <p:spPr/>
        <p:txBody>
          <a:bodyPr/>
          <a:lstStyle/>
          <a:p>
            <a:pPr lvl="0" marL="0" indent="0">
              <a:buNone/>
            </a:pPr>
            <a:r>
              <a:rPr/>
              <a:t>Use the above to install </a:t>
            </a:r>
            <a:r>
              <a:rPr>
                <a:latin typeface="Courier"/>
              </a:rPr>
              <a:t>knitr</a:t>
            </a:r>
            <a:r>
              <a:rPr/>
              <a:t> package. Execute the </a:t>
            </a:r>
            <a:r>
              <a:rPr>
                <a:latin typeface="Courier"/>
              </a:rPr>
              <a:t>library(...)</a:t>
            </a:r>
            <a:r>
              <a:rPr/>
              <a:t> command to check if the package loads successfully.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4</Words>
  <Application>Microsoft Macintosh PowerPoint</Application>
  <PresentationFormat>On-screen Show (16:9)</PresentationFormat>
  <Paragraphs>2</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Courier New</vt:lpstr>
      <vt:lpstr>Lato</vt:lpstr>
      <vt:lpstr>Montserrat</vt:lpstr>
      <vt:lpstr>Wingdings</vt:lpstr>
      <vt:lpstr>Office Theme</vt:lpstr>
      <vt:lpstr>Basic 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 and RStudio Installation</dc:title>
  <dc:creator/>
  <cp:keywords/>
  <dcterms:created xsi:type="dcterms:W3CDTF">2026-05-12T20:11:26Z</dcterms:created>
  <dcterms:modified xsi:type="dcterms:W3CDTF">2026-05-12T20:11:26Z</dcterms:modified>
</cp:coreProperties>
</file>

<file path=docProps/custom.xml><?xml version="1.0" encoding="utf-8"?>
<Properties xmlns="http://schemas.openxmlformats.org/officeDocument/2006/custom-properties" xmlns:vt="http://schemas.openxmlformats.org/officeDocument/2006/docPropsVTypes"/>
</file>