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2100"/>
    <p:restoredTop autoAdjust="0" sz="94752"/>
  </p:normalViewPr>
  <p:slideViewPr>
    <p:cSldViewPr snapToGrid="0" snapToObjects="1">
      <p:cViewPr varScale="1">
        <p:scale>
          <a:sx d="100" n="198"/>
          <a:sy d="100" n="198"/>
        </p:scale>
        <p:origin x="1208" y="184"/>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presProps" Target="presProps.xml" /><Relationship Id="rId1" Type="http://schemas.openxmlformats.org/officeDocument/2006/relationships/slideMaster" Target="slideMasters/slideMaster1.xml" /><Relationship Id="rId26" Type="http://schemas.openxmlformats.org/officeDocument/2006/relationships/tableStyles" Target="tableStyles.xml" /><Relationship Id="rId25" Type="http://schemas.openxmlformats.org/officeDocument/2006/relationships/theme" Target="theme/theme1.xml" /><Relationship Id="rId24" Type="http://schemas.openxmlformats.org/officeDocument/2006/relationships/viewProps" Target="viewProps.xml" /></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739774"/>
            <a:ext cx="7772400" cy="1102519"/>
          </a:xfrm>
        </p:spPr>
        <p:txBody>
          <a:bodyPr/>
          <a:lstStyle>
            <a:lvl1pPr algn="ctr">
              <a:defRPr sz="4000" baseline="0"/>
            </a:lvl1pPr>
          </a:lstStyle>
          <a:p>
            <a:r>
              <a:rPr lang="en-US" dirty="0"/>
              <a:t>Click to edit Master title style</a:t>
            </a:r>
          </a:p>
        </p:txBody>
      </p:sp>
      <p:sp>
        <p:nvSpPr>
          <p:cNvPr id="3" name="Subtitle 2"/>
          <p:cNvSpPr>
            <a:spLocks noGrp="1"/>
          </p:cNvSpPr>
          <p:nvPr>
            <p:ph type="subTitle" idx="1"/>
          </p:nvPr>
        </p:nvSpPr>
        <p:spPr>
          <a:xfrm>
            <a:off x="1371600" y="3881730"/>
            <a:ext cx="6400800" cy="34737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5/12/26</a:t>
            </a:fld>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pic>
        <p:nvPicPr>
          <p:cNvPr id="1026" name="Picture 2">
            <a:extLst>
              <a:ext uri="{FF2B5EF4-FFF2-40B4-BE49-F238E27FC236}">
                <a16:creationId xmlns:a16="http://schemas.microsoft.com/office/drawing/2014/main" id="{CE918C2E-CA3D-3E7E-792D-7E5EF1245971}"/>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252696" y="289937"/>
            <a:ext cx="4638608" cy="25979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5/12/26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5/12/26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5/12/26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5/12/26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5/12/26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5/12/26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5/12/26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5/12/26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5/12/26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5/12/26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241EB5C9-1307-BA42-ABA2-0BC069CD8E7F}" type="datetimeFigureOut">
              <a:rPr lang="en-US" smtClean="0"/>
              <a:t>5/12/26</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C5EF2332-01BF-834F-8236-50238282D533}" type="slidenum">
              <a:rPr lang="en-US" smtClean="0"/>
              <a:t>‹#›</a:t>
            </a:fld>
            <a:endParaRPr lang="en-US" dirty="0"/>
          </a:p>
        </p:txBody>
      </p:sp>
    </p:spTree>
    <p:extLst>
      <p:ext uri="{BB962C8B-B14F-4D97-AF65-F5344CB8AC3E}">
        <p14:creationId xmlns:p14="http://schemas.microsoft.com/office/powerpoint/2010/main" val="36762008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342900" rtl="0" eaLnBrk="1" latinLnBrk="0" hangingPunct="1">
        <a:spcBef>
          <a:spcPct val="0"/>
        </a:spcBef>
        <a:buNone/>
        <a:defRPr sz="3300" kern="1200" baseline="0">
          <a:solidFill>
            <a:schemeClr val="tx1"/>
          </a:solidFill>
          <a:latin typeface="Montserrat" panose="00000500000000000000" pitchFamily="2" charset="77"/>
          <a:ea typeface="+mj-ea"/>
          <a:cs typeface="+mj-cs"/>
        </a:defRPr>
      </a:lvl1pPr>
    </p:titleStyle>
    <p:bodyStyle>
      <a:lvl1pPr marL="342900" indent="-342900" algn="l" defTabSz="342900" rtl="0" eaLnBrk="1" latinLnBrk="0" hangingPunct="1">
        <a:spcBef>
          <a:spcPct val="20000"/>
        </a:spcBef>
        <a:buFont typeface="Arial"/>
        <a:buChar char="•"/>
        <a:defRPr sz="1300" kern="1200" baseline="0">
          <a:solidFill>
            <a:schemeClr val="tx1"/>
          </a:solidFill>
          <a:latin typeface="Lato" panose="020F0502020204030203" pitchFamily="34" charset="0"/>
          <a:ea typeface="+mn-ea"/>
          <a:cs typeface="+mn-cs"/>
        </a:defRPr>
      </a:lvl1pPr>
      <a:lvl2pPr marL="685800" indent="-342900" algn="l" defTabSz="342900" rtl="0" eaLnBrk="1" latinLnBrk="0" hangingPunct="1">
        <a:spcBef>
          <a:spcPct val="20000"/>
        </a:spcBef>
        <a:buFont typeface="Courier New" panose="02070309020205020404" pitchFamily="49" charset="0"/>
        <a:buChar char="o"/>
        <a:defRPr sz="1100" kern="1200" baseline="0">
          <a:solidFill>
            <a:schemeClr val="tx1"/>
          </a:solidFill>
          <a:latin typeface="Lato" panose="020F0502020204030203" pitchFamily="34" charset="0"/>
          <a:ea typeface="+mn-ea"/>
          <a:cs typeface="+mn-cs"/>
        </a:defRPr>
      </a:lvl2pPr>
      <a:lvl3pPr marL="1028700" indent="-342900" algn="l" defTabSz="342900" rtl="0" eaLnBrk="1" latinLnBrk="0" hangingPunct="1">
        <a:spcBef>
          <a:spcPct val="20000"/>
        </a:spcBef>
        <a:buFont typeface="Wingdings" pitchFamily="2" charset="2"/>
        <a:buChar char="§"/>
        <a:defRPr sz="1100" kern="1200" baseline="0">
          <a:solidFill>
            <a:schemeClr val="tx1"/>
          </a:solidFill>
          <a:latin typeface="Lato" panose="020F0502020204030203" pitchFamily="34" charset="0"/>
          <a:ea typeface="+mn-ea"/>
          <a:cs typeface="+mn-cs"/>
        </a:defRPr>
      </a:lvl3pPr>
      <a:lvl4pPr marL="1371600" indent="-342900" algn="l" defTabSz="342900" rtl="0" eaLnBrk="1" latinLnBrk="0" hangingPunct="1">
        <a:spcBef>
          <a:spcPct val="20000"/>
        </a:spcBef>
        <a:buFont typeface="Arial" panose="020B0604020202020204" pitchFamily="34" charset="0"/>
        <a:buChar char="•"/>
        <a:defRPr sz="1100" kern="1200" baseline="0">
          <a:solidFill>
            <a:schemeClr val="tx1"/>
          </a:solidFill>
          <a:latin typeface="Lato" panose="020F0502020204030203" pitchFamily="34" charset="0"/>
          <a:ea typeface="+mn-ea"/>
          <a:cs typeface="+mn-cs"/>
        </a:defRPr>
      </a:lvl4pPr>
      <a:lvl5pPr marL="1714500" indent="-342900" algn="l" defTabSz="342900" rtl="0" eaLnBrk="1" latinLnBrk="0" hangingPunct="1">
        <a:spcBef>
          <a:spcPct val="20000"/>
        </a:spcBef>
        <a:buFont typeface="Courier New" panose="02070309020205020404" pitchFamily="49" charset="0"/>
        <a:buChar char="o"/>
        <a:defRPr sz="1100" kern="1200" baseline="0">
          <a:solidFill>
            <a:schemeClr val="tx1"/>
          </a:solidFill>
          <a:latin typeface="Lato" panose="020F0502020204030203" pitchFamily="34" charset="0"/>
          <a:ea typeface="+mn-ea"/>
          <a:cs typeface="+mn-cs"/>
        </a:defRPr>
      </a:lvl5pPr>
      <a:lvl6pPr marL="2057400" indent="-34290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400300" indent="-34290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743200" indent="-342900" algn="l" defTabSz="342900" rtl="0" eaLnBrk="1" latinLnBrk="0" hangingPunct="1">
        <a:spcBef>
          <a:spcPct val="20000"/>
        </a:spcBef>
        <a:buFont typeface="Arial"/>
        <a:buChar char="•"/>
        <a:defRPr sz="1500" kern="1200">
          <a:solidFill>
            <a:schemeClr val="tx1"/>
          </a:solidFill>
          <a:latin typeface="+mn-lt"/>
          <a:ea typeface="+mn-ea"/>
          <a:cs typeface="+mn-cs"/>
        </a:defRPr>
      </a:lvl8pPr>
      <a:lvl9pPr marL="3086100" indent="-34290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slide" Target="slide3.xml" /><Relationship Id="rId3" Type="http://schemas.openxmlformats.org/officeDocument/2006/relationships/slide" Target="slide3.xml" /><Relationship Id="rId4" Type="http://schemas.openxmlformats.org/officeDocument/2006/relationships/slide" Target="slide4.xml" /><Relationship Id="rId5" Type="http://schemas.openxmlformats.org/officeDocument/2006/relationships/slide" Target="slide4.xml" /><Relationship Id="rId6" Type="http://schemas.openxmlformats.org/officeDocument/2006/relationships/slide" Target="slide11.xml" /><Relationship Id="rId7" Type="http://schemas.openxmlformats.org/officeDocument/2006/relationships/slide" Target="slide11.xml" /><Relationship Id="rId8" Type="http://schemas.openxmlformats.org/officeDocument/2006/relationships/slide" Target="slide11.xml" /><Relationship Id="rId9" Type="http://schemas.openxmlformats.org/officeDocument/2006/relationships/slide" Target="slide11.xml" /><Relationship Id="rId10" Type="http://schemas.openxmlformats.org/officeDocument/2006/relationships/slide" Target="slide11.xml" /><Relationship Id="rId11" Type="http://schemas.openxmlformats.org/officeDocument/2006/relationships/slide" Target="slide17.xml" /><Relationship Id="rId12" Type="http://schemas.openxmlformats.org/officeDocument/2006/relationships/slide" Target="slide17.xml" /><Relationship Id="rId13" Type="http://schemas.openxmlformats.org/officeDocument/2006/relationships/slide" Target="slide17.xml" /><Relationship Id="rId14" Type="http://schemas.openxmlformats.org/officeDocument/2006/relationships/slide" Target="slide17.xml" /><Relationship Id="rId15" Type="http://schemas.openxmlformats.org/officeDocument/2006/relationships/slide" Target="slide17.xml" /><Relationship Id="rId16" Type="http://schemas.openxmlformats.org/officeDocument/2006/relationships/slide" Target="slide17.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cran.r-project.org/bin/macosx/sonoma-arm64/base/R-4.6.0-arm64.pkg" TargetMode="External" /><Relationship Id="rId3" Type="http://schemas.openxmlformats.org/officeDocument/2006/relationships/hyperlink" Target="https://cran.r-project.org/bin/macosx/big-sur-x86_64/base/R-4.6.0-x86_64.pkg" TargetMode="External" /><Relationship Id="rId4" Type="http://schemas.openxmlformats.org/officeDocument/2006/relationships/hyperlink" Target="https://cran.r-project.org/bin/windows/base/R-4.6.0-win.exe" TargetMode="External" /><Relationship Id="rId5" Type="http://schemas.openxmlformats.org/officeDocument/2006/relationships/hyperlink" Target="https://cran.r-project.org/" TargetMode="Externa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posit.co/download/rstudio-desktop/" TargetMode="Externa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png"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www.rstudio.com/products/rstudio/older-versions/" TargetMode="Externa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3.png"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4.png"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www.rstudio.com/products/rstudio/older-versions/" TargetMode="External" /><Relationship Id="rId3" Type="http://schemas.openxmlformats.org/officeDocument/2006/relationships/hyperlink" Target="https://community.rstudio.com/t/rstudio-desktop-crashes-on-startup-with-library-not-loaded/130296" TargetMode="External" /><Relationship Id="rId4" Type="http://schemas.openxmlformats.org/officeDocument/2006/relationships/hyperlink" Target="https://docs.google.com/viewer?url=https://raw.githubusercontent.com/jhudsl/intro_to_r/main/resources/rtools_windows.pdf" TargetMode="Externa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5.png"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6.png"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7.png"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8.png"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9.png"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0.png"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739774"/>
            <a:ext cx="7772400" cy="1102519"/>
          </a:xfrm>
        </p:spPr>
        <p:txBody>
          <a:bodyPr/>
          <a:lstStyle/>
          <a:p>
            <a:pPr lvl="0" marL="0" indent="0">
              <a:buNone/>
            </a:pPr>
            <a:r>
              <a:rPr/>
              <a:t>R</a:t>
            </a:r>
            <a:r>
              <a:rPr/>
              <a:t> </a:t>
            </a:r>
            <a:r>
              <a:rPr/>
              <a:t>and</a:t>
            </a:r>
            <a:r>
              <a:rPr/>
              <a:t> </a:t>
            </a:r>
            <a:r>
              <a:rPr/>
              <a:t>RStudio</a:t>
            </a:r>
            <a:r>
              <a:rPr/>
              <a:t> </a:t>
            </a:r>
            <a:r>
              <a:rPr/>
              <a:t>Installation</a:t>
            </a:r>
          </a:p>
        </p:txBody>
      </p:sp>
      <p:sp>
        <p:nvSpPr>
          <p:cNvPr id="3" name="Subtitle 2"/>
          <p:cNvSpPr>
            <a:spLocks noGrp="1"/>
          </p:cNvSpPr>
          <p:nvPr>
            <p:ph idx="1" type="subTitle"/>
          </p:nvPr>
        </p:nvSpPr>
        <p:spPr>
          <a:xfrm>
            <a:off x="1371600" y="3881730"/>
            <a:ext cx="6400800" cy="347370"/>
          </a:xfrm>
        </p:spPr>
        <p:txBody>
          <a:bodyPr/>
          <a:lstStyle/>
          <a:p>
            <a:pPr lvl="0" marL="0" indent="0">
              <a:buNone/>
            </a:pPr>
            <a:br/>
            <a:b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marL="0" indent="0">
              <a:buNone/>
            </a:pPr>
            <a:r>
              <a:rPr>
                <a:latin typeface="Courier"/>
              </a:rPr>
              <a:t>R</a:t>
            </a:r>
            <a:r>
              <a:rPr/>
              <a:t> is a powerful analytical language and contains a number of useful packages for analyzing data.</a:t>
            </a:r>
          </a:p>
          <a:p>
            <a:pPr lvl="0" marL="0" indent="0">
              <a:buNone/>
            </a:pPr>
            <a:r>
              <a:rPr>
                <a:latin typeface="Courier"/>
              </a:rPr>
              <a:t>RStudio</a:t>
            </a:r>
            <a:r>
              <a:rPr/>
              <a:t> is a free and open-source integrated development environment (IDE) for R. </a:t>
            </a:r>
            <a:r>
              <a:rPr>
                <a:latin typeface="Courier"/>
              </a:rPr>
              <a:t>RStudio</a:t>
            </a:r>
            <a:r>
              <a:rPr/>
              <a:t> provides comprehensive facilities to </a:t>
            </a:r>
            <a:r>
              <a:rPr>
                <a:latin typeface="Courier"/>
              </a:rPr>
              <a:t>R</a:t>
            </a:r>
            <a:r>
              <a:rPr/>
              <a:t> programmers and is highly recommended in this class.</a:t>
            </a:r>
          </a:p>
          <a:p>
            <a:pPr lvl="0" marL="0" indent="0">
              <a:buNone/>
            </a:pPr>
            <a:r>
              <a:rPr/>
              <a:t>Please complete the following before the start of the class to hit the ground running.</a:t>
            </a:r>
          </a:p>
          <a:p>
            <a:pPr lvl="0" marL="0" indent="0">
              <a:buNone/>
            </a:pPr>
            <a:r>
              <a:rPr/>
              <a:t>Sections:</a:t>
            </a:r>
          </a:p>
          <a:p>
            <a:pPr lvl="1"/>
            <a:r>
              <a:rPr>
                <a:hlinkClick r:id="rId2" action="ppaction://hlinksldjump"/>
              </a:rPr>
              <a:t>Installing </a:t>
            </a:r>
            <a:r>
              <a:rPr>
                <a:hlinkClick r:id="rId3" action="ppaction://hlinksldjump"/>
                <a:latin typeface="Courier"/>
              </a:rPr>
              <a:t>R</a:t>
            </a:r>
          </a:p>
          <a:p>
            <a:pPr lvl="1"/>
            <a:r>
              <a:rPr>
                <a:hlinkClick r:id="rId4" action="ppaction://hlinksldjump"/>
              </a:rPr>
              <a:t>Installing </a:t>
            </a:r>
            <a:r>
              <a:rPr>
                <a:hlinkClick r:id="rId5" action="ppaction://hlinksldjump"/>
                <a:latin typeface="Courier"/>
              </a:rPr>
              <a:t>RStudio</a:t>
            </a:r>
          </a:p>
          <a:p>
            <a:pPr lvl="1"/>
            <a:r>
              <a:rPr>
                <a:hlinkClick r:id="rId6" action="ppaction://hlinksldjump"/>
                <a:latin typeface="Courier"/>
              </a:rPr>
              <a:t>R</a:t>
            </a:r>
            <a:r>
              <a:rPr>
                <a:hlinkClick r:id="rId7" action="ppaction://hlinksldjump"/>
              </a:rPr>
              <a:t> packages</a:t>
            </a:r>
          </a:p>
          <a:p>
            <a:pPr lvl="2"/>
            <a:r>
              <a:rPr>
                <a:hlinkClick r:id="rId8" action="ppaction://hlinksldjump"/>
              </a:rPr>
              <a:t>Installing </a:t>
            </a:r>
            <a:r>
              <a:rPr>
                <a:hlinkClick r:id="rId9" action="ppaction://hlinksldjump"/>
                <a:latin typeface="Courier"/>
              </a:rPr>
              <a:t>R</a:t>
            </a:r>
            <a:r>
              <a:rPr>
                <a:hlinkClick r:id="rId10" action="ppaction://hlinksldjump"/>
              </a:rPr>
              <a:t> Packages (Point and Click)</a:t>
            </a:r>
          </a:p>
          <a:p>
            <a:pPr lvl="2"/>
            <a:r>
              <a:rPr>
                <a:hlinkClick r:id="rId11" action="ppaction://hlinksldjump"/>
              </a:rPr>
              <a:t>Installing </a:t>
            </a:r>
            <a:r>
              <a:rPr>
                <a:hlinkClick r:id="rId12" action="ppaction://hlinksldjump"/>
                <a:latin typeface="Courier"/>
              </a:rPr>
              <a:t>R</a:t>
            </a:r>
            <a:r>
              <a:rPr>
                <a:hlinkClick r:id="rId13" action="ppaction://hlinksldjump"/>
              </a:rPr>
              <a:t> Packages (Code)</a:t>
            </a:r>
          </a:p>
          <a:p>
            <a:pPr lvl="2"/>
            <a:r>
              <a:rPr>
                <a:hlinkClick r:id="rId14" action="ppaction://hlinksldjump"/>
              </a:rPr>
              <a:t>Exercise: Install an </a:t>
            </a:r>
            <a:r>
              <a:rPr>
                <a:hlinkClick r:id="rId15" action="ppaction://hlinksldjump"/>
                <a:latin typeface="Courier"/>
              </a:rPr>
              <a:t>R</a:t>
            </a:r>
            <a:r>
              <a:rPr>
                <a:hlinkClick r:id="rId16" action="ppaction://hlinksldjump"/>
              </a:rPr>
              <a:t> package</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marL="0" indent="0">
              <a:buNone/>
            </a:pPr>
            <a:r>
              <a:rPr/>
              <a:t>Installing</a:t>
            </a:r>
            <a:r>
              <a:rPr/>
              <a:t> </a:t>
            </a:r>
            <a:r>
              <a:rPr>
                <a:latin typeface="Courier"/>
              </a:rPr>
              <a:t>R</a:t>
            </a:r>
          </a:p>
        </p:txBody>
      </p:sp>
      <p:sp>
        <p:nvSpPr>
          <p:cNvPr id="3" name="Content Placeholder 2"/>
          <p:cNvSpPr>
            <a:spLocks noGrp="1"/>
          </p:cNvSpPr>
          <p:nvPr>
            <p:ph idx="1"/>
          </p:nvPr>
        </p:nvSpPr>
        <p:spPr/>
        <p:txBody>
          <a:bodyPr/>
          <a:lstStyle/>
          <a:p>
            <a:pPr lvl="0" marL="0" indent="0">
              <a:buNone/>
            </a:pPr>
            <a:r>
              <a:rPr/>
              <a:t>We recommend installing the most recent version or </a:t>
            </a:r>
            <a:r>
              <a:rPr>
                <a:latin typeface="Courier"/>
              </a:rPr>
              <a:t>R</a:t>
            </a:r>
            <a:r>
              <a:rPr/>
              <a:t> (4.6.0 (called ‘Because it was There’) as of April 24, 2026). </a:t>
            </a:r>
            <a:r>
              <a:rPr b="1"/>
              <a:t>If you have had installed </a:t>
            </a:r>
            <a:r>
              <a:rPr b="1">
                <a:latin typeface="Courier"/>
              </a:rPr>
              <a:t>R</a:t>
            </a:r>
            <a:r>
              <a:rPr b="1"/>
              <a:t> already some time ago, we recommend updating/reinstalling it to the most recent version.</a:t>
            </a:r>
            <a:r>
              <a:rPr/>
              <a:t> Use a link below to launch download of </a:t>
            </a:r>
            <a:r>
              <a:rPr>
                <a:latin typeface="Courier"/>
              </a:rPr>
              <a:t>R</a:t>
            </a:r>
            <a:r>
              <a:rPr/>
              <a:t> installers (if the download does not start, a fix may be to copy-paste the below link to your browser):</a:t>
            </a:r>
          </a:p>
          <a:p>
            <a:pPr lvl="1"/>
            <a:r>
              <a:rPr>
                <a:hlinkClick r:id="rId2"/>
              </a:rPr>
              <a:t>Download For Mac users (M1 chip)</a:t>
            </a:r>
          </a:p>
          <a:p>
            <a:pPr lvl="1"/>
            <a:r>
              <a:rPr>
                <a:hlinkClick r:id="rId3"/>
              </a:rPr>
              <a:t>Download For Mac users (Intel chip)</a:t>
            </a:r>
          </a:p>
          <a:p>
            <a:pPr lvl="1"/>
            <a:r>
              <a:rPr>
                <a:hlinkClick r:id="rId4"/>
              </a:rPr>
              <a:t>Download For Windows users</a:t>
            </a:r>
          </a:p>
          <a:p>
            <a:pPr lvl="0" marL="0" indent="0">
              <a:buNone/>
            </a:pPr>
            <a:r>
              <a:rPr/>
              <a:t>For other operating systems, or if you prefer to access the download link from the official website, visit </a:t>
            </a:r>
            <a:r>
              <a:rPr>
                <a:hlinkClick r:id="rId5"/>
              </a:rPr>
              <a:t>https://cran.r-project.org/</a:t>
            </a:r>
            <a:r>
              <a:rPr/>
              <a:t> and select </a:t>
            </a:r>
            <a:r>
              <a:rPr>
                <a:latin typeface="Courier"/>
              </a:rPr>
              <a:t>Download R for Linux</a:t>
            </a:r>
            <a:r>
              <a:rPr/>
              <a:t>, </a:t>
            </a:r>
            <a:r>
              <a:rPr>
                <a:latin typeface="Courier"/>
              </a:rPr>
              <a:t>Download R for macOS</a:t>
            </a:r>
            <a:r>
              <a:rPr/>
              <a:t> or </a:t>
            </a:r>
            <a:r>
              <a:rPr>
                <a:latin typeface="Courier"/>
              </a:rPr>
              <a:t>Download R for Windows</a:t>
            </a:r>
            <a:r>
              <a:rPr/>
              <a:t> based on which device you have.</a:t>
            </a:r>
          </a:p>
          <a:p>
            <a:pPr lvl="0" marL="0" indent="0">
              <a:buNone/>
            </a:pPr>
            <a:r>
              <a:rPr/>
              <a:t>Once the proper installer has been selected, run the installer and follow the on-screen directions. This installation includes the </a:t>
            </a:r>
            <a:r>
              <a:rPr>
                <a:latin typeface="Courier"/>
              </a:rPr>
              <a:t>R</a:t>
            </a:r>
            <a:r>
              <a:rPr/>
              <a:t> language and a basic graphical user interface (GUI). Rather using the basic GUI, we recommend installing </a:t>
            </a:r>
            <a:r>
              <a:rPr>
                <a:latin typeface="Courier"/>
              </a:rPr>
              <a:t>RStudio</a:t>
            </a:r>
            <a:r>
              <a:rPr/>
              <a:t> - an integrated development environment (IDE) that lets you interact with </a:t>
            </a:r>
            <a:r>
              <a:rPr>
                <a:latin typeface="Courier"/>
              </a:rPr>
              <a:t>R</a:t>
            </a:r>
            <a:r>
              <a:rPr/>
              <a:t> with some added benefits.</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marL="0" indent="0">
              <a:buNone/>
            </a:pPr>
            <a:r>
              <a:rPr/>
              <a:t>Installing</a:t>
            </a:r>
            <a:r>
              <a:rPr/>
              <a:t> </a:t>
            </a:r>
            <a:r>
              <a:rPr>
                <a:latin typeface="Courier"/>
              </a:rPr>
              <a:t>RStudio</a:t>
            </a:r>
          </a:p>
        </p:txBody>
      </p:sp>
      <p:sp>
        <p:nvSpPr>
          <p:cNvPr id="3" name="Content Placeholder 2"/>
          <p:cNvSpPr>
            <a:spLocks noGrp="1"/>
          </p:cNvSpPr>
          <p:nvPr>
            <p:ph idx="1"/>
          </p:nvPr>
        </p:nvSpPr>
        <p:spPr/>
        <p:txBody>
          <a:bodyPr/>
          <a:lstStyle/>
          <a:p>
            <a:pPr lvl="0" marL="0" indent="0">
              <a:buNone/>
            </a:pPr>
            <a:r>
              <a:rPr/>
              <a:t>To install </a:t>
            </a:r>
            <a:r>
              <a:rPr>
                <a:latin typeface="Courier"/>
              </a:rPr>
              <a:t>RStudio</a:t>
            </a:r>
            <a:r>
              <a:rPr/>
              <a:t>, visit </a:t>
            </a:r>
            <a:r>
              <a:rPr>
                <a:hlinkClick r:id="rId2"/>
              </a:rPr>
              <a:t>https://posit.co/download/rstudio-desktop/</a:t>
            </a:r>
            <a:r>
              <a:rPr/>
              <a:t>. The website should look something like this:</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mages/RStudio_landing.png" id="0" name="Picture 1"/>
          <p:cNvPicPr>
            <a:picLocks noGrp="1" noChangeAspect="1"/>
          </p:cNvPicPr>
          <p:nvPr/>
        </p:nvPicPr>
        <p:blipFill>
          <a:blip r:embed="rId2"/>
          <a:stretch>
            <a:fillRect/>
          </a:stretch>
        </p:blipFill>
        <p:spPr bwMode="auto">
          <a:xfrm>
            <a:off x="1841500" y="1193800"/>
            <a:ext cx="5448300" cy="3390900"/>
          </a:xfrm>
          <a:prstGeom prst="rect">
            <a:avLst/>
          </a:prstGeom>
          <a:noFill/>
          <a:ln w="9525">
            <a:noFill/>
            <a:headEnd/>
            <a:tailEnd/>
          </a:ln>
        </p:spPr>
      </p:pic>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marL="0" indent="0">
              <a:buNone/>
            </a:pPr>
            <a:r>
              <a:rPr/>
              <a:t>Once on the website, scroll down and select the proper installation file for your platform (Windows, Mac, etc.). Open up the installer and follow the directions to install RStudio.</a:t>
            </a:r>
          </a:p>
          <a:p>
            <a:pPr lvl="0" marL="0" indent="0">
              <a:buNone/>
            </a:pPr>
            <a:r>
              <a:rPr b="1"/>
              <a:t>Note</a:t>
            </a:r>
            <a:r>
              <a:rPr/>
              <a:t> that your operating system may be </a:t>
            </a:r>
            <a:r>
              <a:rPr b="1"/>
              <a:t>too old</a:t>
            </a:r>
            <a:r>
              <a:rPr/>
              <a:t> to install the current version of RStudio. If this is the case try installing progressively older versions found </a:t>
            </a:r>
            <a:r>
              <a:rPr>
                <a:hlinkClick r:id="rId2"/>
              </a:rPr>
              <a:t>here</a:t>
            </a:r>
            <a:r>
              <a:rPr/>
              <a:t> until it works. You will know if it worked if you try to open RStudio and you see an interface without a message about things going poorly.</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mages/RStudio_platforms.png" id="0" name="Picture 1"/>
          <p:cNvPicPr>
            <a:picLocks noGrp="1" noChangeAspect="1"/>
          </p:cNvPicPr>
          <p:nvPr/>
        </p:nvPicPr>
        <p:blipFill>
          <a:blip r:embed="rId2"/>
          <a:stretch>
            <a:fillRect/>
          </a:stretch>
        </p:blipFill>
        <p:spPr bwMode="auto">
          <a:xfrm>
            <a:off x="1790700" y="1193800"/>
            <a:ext cx="5562600" cy="3390900"/>
          </a:xfrm>
          <a:prstGeom prst="rect">
            <a:avLst/>
          </a:prstGeom>
          <a:noFill/>
          <a:ln w="9525">
            <a:noFill/>
            <a:headEnd/>
            <a:tailEnd/>
          </a:ln>
        </p:spPr>
      </p:pic>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marL="0" indent="0">
              <a:buNone/>
            </a:pPr>
            <a:r>
              <a:rPr/>
              <a:t>When you open up </a:t>
            </a:r>
            <a:r>
              <a:rPr>
                <a:latin typeface="Courier"/>
              </a:rPr>
              <a:t>RStudio</a:t>
            </a:r>
            <a:r>
              <a:rPr/>
              <a:t>, it should look like this:</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mages/RStudio_console.png" id="0" name="Picture 1"/>
          <p:cNvPicPr>
            <a:picLocks noGrp="1" noChangeAspect="1"/>
          </p:cNvPicPr>
          <p:nvPr/>
        </p:nvPicPr>
        <p:blipFill>
          <a:blip r:embed="rId2"/>
          <a:stretch>
            <a:fillRect/>
          </a:stretch>
        </p:blipFill>
        <p:spPr bwMode="auto">
          <a:xfrm>
            <a:off x="1739900" y="1193800"/>
            <a:ext cx="5664200" cy="3390900"/>
          </a:xfrm>
          <a:prstGeom prst="rect">
            <a:avLst/>
          </a:prstGeom>
          <a:noFill/>
          <a:ln w="9525">
            <a:noFill/>
            <a:headEnd/>
            <a:tailEnd/>
          </a:ln>
        </p:spPr>
      </p:pic>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marL="0" indent="0">
              <a:buNone/>
            </a:pPr>
            <a:r>
              <a:rPr/>
              <a:t>When you open RStudio for the first time, there are three main windows.</a:t>
            </a:r>
          </a:p>
          <a:p>
            <a:pPr lvl="1"/>
            <a:r>
              <a:rPr/>
              <a:t>The </a:t>
            </a:r>
            <a:r>
              <a:rPr b="1"/>
              <a:t>Console</a:t>
            </a:r>
            <a:r>
              <a:rPr/>
              <a:t> is the left window where you can run lines of code and see the output.</a:t>
            </a:r>
          </a:p>
          <a:p>
            <a:pPr lvl="1"/>
            <a:r>
              <a:rPr/>
              <a:t>The </a:t>
            </a:r>
            <a:r>
              <a:rPr b="1"/>
              <a:t>Environment</a:t>
            </a:r>
            <a:r>
              <a:rPr/>
              <a:t> is the upper-right window where you can manage your data and variables and see previous commands entered (under the “History” tab).</a:t>
            </a:r>
          </a:p>
          <a:p>
            <a:pPr lvl="1"/>
            <a:r>
              <a:rPr/>
              <a:t>The </a:t>
            </a:r>
            <a:r>
              <a:rPr b="1"/>
              <a:t>Files</a:t>
            </a:r>
            <a:r>
              <a:rPr/>
              <a:t> is the bottom-right window where you can look at directories, install packages, see plots, and look at help files for various </a:t>
            </a:r>
            <a:r>
              <a:rPr>
                <a:latin typeface="Courier"/>
              </a:rPr>
              <a:t>R</a:t>
            </a:r>
            <a:r>
              <a:rPr/>
              <a:t> commands.</a:t>
            </a:r>
          </a:p>
          <a:p>
            <a:pPr lvl="0" marL="0" indent="0">
              <a:buNone/>
            </a:pPr>
            <a:r>
              <a:rPr/>
              <a:t>You can customize the look of your RStudio IDE in </a:t>
            </a:r>
            <a:r>
              <a:rPr>
                <a:latin typeface="Courier"/>
              </a:rPr>
              <a:t>Tools &gt; Global Options...</a:t>
            </a:r>
            <a:r>
              <a:rPr/>
              <a:t>.</a:t>
            </a:r>
          </a:p>
          <a:p>
            <a:pPr lvl="0" marL="0" indent="0">
              <a:spcBef>
                <a:spcPts val="3000"/>
              </a:spcBef>
              <a:buNone/>
            </a:pPr>
            <a:r>
              <a:rPr b="1"/>
              <a:t>Troubleshooting the Installation Process</a:t>
            </a:r>
          </a:p>
          <a:p>
            <a:pPr lvl="0" marL="0" indent="0">
              <a:buNone/>
            </a:pPr>
            <a:r>
              <a:rPr/>
              <a:t>If you run into trouble, did you install the correct version of software for your operating system?</a:t>
            </a:r>
          </a:p>
          <a:p>
            <a:pPr lvl="1"/>
            <a:r>
              <a:rPr/>
              <a:t>Check that you installed the version right for your type of system, (</a:t>
            </a:r>
            <a:r>
              <a:rPr>
                <a:latin typeface="Courier"/>
              </a:rPr>
              <a:t>macOS</a:t>
            </a:r>
            <a:r>
              <a:rPr/>
              <a:t> vs </a:t>
            </a:r>
            <a:r>
              <a:rPr>
                <a:latin typeface="Courier"/>
              </a:rPr>
              <a:t>Windows</a:t>
            </a:r>
            <a:r>
              <a:rPr/>
              <a:t> for example).</a:t>
            </a:r>
          </a:p>
          <a:p>
            <a:pPr lvl="1"/>
            <a:r>
              <a:rPr/>
              <a:t>Check if maybe you need a different version for the age of your system. First, check that your version of R was suitable.</a:t>
            </a:r>
          </a:p>
          <a:p>
            <a:pPr lvl="1"/>
            <a:r>
              <a:rPr/>
              <a:t>There are multiple versions for different </a:t>
            </a:r>
            <a:r>
              <a:rPr>
                <a:latin typeface="Courier"/>
              </a:rPr>
              <a:t>macOS</a:t>
            </a:r>
            <a:r>
              <a:rPr/>
              <a:t> systems. You can check the apple icon (top left corner) and “About This Mac” to learn more about the age of your operating system. If your operating system is older (and you can’t update it), try installing progressively older versions found </a:t>
            </a:r>
            <a:r>
              <a:rPr>
                <a:hlinkClick r:id="rId2"/>
              </a:rPr>
              <a:t>here</a:t>
            </a:r>
            <a:r>
              <a:rPr/>
              <a:t> until it works. You will know if it worked if you try to open RStudio and you see an interface without a message about things going poorly. Here you can see an </a:t>
            </a:r>
            <a:r>
              <a:rPr>
                <a:hlinkClick r:id="rId3"/>
              </a:rPr>
              <a:t>example</a:t>
            </a:r>
            <a:r>
              <a:rPr/>
              <a:t> of this. Unfortunately, the documentation is poor about what older versions work for which operating systems.</a:t>
            </a:r>
          </a:p>
          <a:p>
            <a:pPr lvl="1"/>
            <a:r>
              <a:rPr/>
              <a:t>If you get an error about something called “Rtools”, You probably need some add-on software for a Windows machine. Note that this is not an additional R package to install. Here is a quick guide to installing Rtools: </a:t>
            </a:r>
            <a:r>
              <a:rPr>
                <a:hlinkClick r:id="rId4"/>
              </a:rPr>
              <a:t>link</a:t>
            </a:r>
            <a:r>
              <a:rPr/>
              <a:t>.</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marL="0" indent="0">
              <a:buNone/>
            </a:pPr>
            <a:r>
              <a:rPr>
                <a:latin typeface="Courier"/>
              </a:rPr>
              <a:t>R</a:t>
            </a:r>
            <a:r>
              <a:rPr/>
              <a:t> </a:t>
            </a:r>
            <a:r>
              <a:rPr/>
              <a:t>packages</a:t>
            </a:r>
          </a:p>
        </p:txBody>
      </p:sp>
      <p:sp>
        <p:nvSpPr>
          <p:cNvPr id="3" name="Content Placeholder 2"/>
          <p:cNvSpPr>
            <a:spLocks noGrp="1"/>
          </p:cNvSpPr>
          <p:nvPr>
            <p:ph idx="1"/>
          </p:nvPr>
        </p:nvSpPr>
        <p:spPr/>
        <p:txBody>
          <a:bodyPr/>
          <a:lstStyle/>
          <a:p>
            <a:pPr lvl="0" marL="0" indent="0">
              <a:buNone/>
            </a:pPr>
            <a:r>
              <a:rPr/>
              <a:t>Packages are the fundamental units of reproducible </a:t>
            </a:r>
            <a:r>
              <a:rPr>
                <a:latin typeface="Courier"/>
              </a:rPr>
              <a:t>R</a:t>
            </a:r>
            <a:r>
              <a:rPr/>
              <a:t> code. They are collections of </a:t>
            </a:r>
            <a:r>
              <a:rPr>
                <a:latin typeface="Courier"/>
              </a:rPr>
              <a:t>R</a:t>
            </a:r>
            <a:r>
              <a:rPr/>
              <a:t> code that typically share some common purpose.</a:t>
            </a:r>
          </a:p>
          <a:p>
            <a:pPr lvl="0" marL="0" indent="0">
              <a:buNone/>
            </a:pPr>
            <a:r>
              <a:rPr/>
              <a:t>Examples:</a:t>
            </a:r>
          </a:p>
          <a:p>
            <a:pPr lvl="1"/>
            <a:r>
              <a:rPr>
                <a:latin typeface="Courier"/>
              </a:rPr>
              <a:t>dplyr</a:t>
            </a:r>
            <a:r>
              <a:rPr/>
              <a:t> - package of functions for fast data set manipulation (subsetting, summarizing, rearranging, and joining together data sets);</a:t>
            </a:r>
          </a:p>
          <a:p>
            <a:pPr lvl="1"/>
            <a:r>
              <a:rPr>
                <a:latin typeface="Courier"/>
              </a:rPr>
              <a:t>ggplot2</a:t>
            </a:r>
            <a:r>
              <a:rPr/>
              <a:t> - “R’s famous package for making beautiful graphics”; allows to build multiple-layers, highly customizable plots.</a:t>
            </a:r>
          </a:p>
          <a:p>
            <a:pPr lvl="0" marL="0" indent="0">
              <a:buNone/>
            </a:pPr>
            <a:r>
              <a:rPr/>
              <a:t>You can install a package via point-and-click methods or with code.</a:t>
            </a:r>
          </a:p>
          <a:p>
            <a:pPr lvl="0" marL="0" indent="0">
              <a:spcBef>
                <a:spcPts val="3000"/>
              </a:spcBef>
              <a:buNone/>
            </a:pPr>
            <a:r>
              <a:rPr b="1"/>
              <a:t>Installing </a:t>
            </a:r>
            <a:r>
              <a:rPr b="1">
                <a:latin typeface="Courier"/>
              </a:rPr>
              <a:t>R</a:t>
            </a:r>
            <a:r>
              <a:rPr b="1"/>
              <a:t> Package (Point and Click)</a:t>
            </a:r>
          </a:p>
          <a:p>
            <a:pPr lvl="0" marL="0" indent="0">
              <a:buNone/>
            </a:pPr>
            <a:r>
              <a:rPr/>
              <a:t>First, click on the “Packages” tab, followed by the “Install” Button.</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mages/Packages_install.png" id="0" name="Picture 1"/>
          <p:cNvPicPr>
            <a:picLocks noGrp="1" noChangeAspect="1"/>
          </p:cNvPicPr>
          <p:nvPr/>
        </p:nvPicPr>
        <p:blipFill>
          <a:blip r:embed="rId2"/>
          <a:stretch>
            <a:fillRect/>
          </a:stretch>
        </p:blipFill>
        <p:spPr bwMode="auto">
          <a:xfrm>
            <a:off x="1676400" y="1193800"/>
            <a:ext cx="5791200" cy="3390900"/>
          </a:xfrm>
          <a:prstGeom prst="rect">
            <a:avLst/>
          </a:prstGeom>
          <a:noFill/>
          <a:ln w="9525">
            <a:noFill/>
            <a:headEnd/>
            <a:tailEnd/>
          </a:ln>
        </p:spPr>
      </p:pic>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marL="0" indent="0">
              <a:buNone/>
            </a:pPr>
            <a:r>
              <a:rPr/>
              <a:t> Select “Package Repository (CRAN)” and type in the name of the package you want to install.</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mages/CRAN_install.png" id="0" name="Picture 1"/>
          <p:cNvPicPr>
            <a:picLocks noGrp="1" noChangeAspect="1"/>
          </p:cNvPicPr>
          <p:nvPr/>
        </p:nvPicPr>
        <p:blipFill>
          <a:blip r:embed="rId2"/>
          <a:stretch>
            <a:fillRect/>
          </a:stretch>
        </p:blipFill>
        <p:spPr bwMode="auto">
          <a:xfrm>
            <a:off x="1739900" y="1193800"/>
            <a:ext cx="5664200" cy="3390900"/>
          </a:xfrm>
          <a:prstGeom prst="rect">
            <a:avLst/>
          </a:prstGeom>
          <a:noFill/>
          <a:ln w="9525">
            <a:noFill/>
            <a:headEnd/>
            <a:tailEnd/>
          </a:ln>
        </p:spPr>
      </p:pic>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marL="0" indent="0">
              <a:buNone/>
            </a:pPr>
            <a:r>
              <a:rPr/>
              <a:t> To load the package, check the box next to the package name.</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mages/Load_package.png" id="0" name="Picture 1"/>
          <p:cNvPicPr>
            <a:picLocks noGrp="1" noChangeAspect="1"/>
          </p:cNvPicPr>
          <p:nvPr/>
        </p:nvPicPr>
        <p:blipFill>
          <a:blip r:embed="rId2"/>
          <a:stretch>
            <a:fillRect/>
          </a:stretch>
        </p:blipFill>
        <p:spPr bwMode="auto">
          <a:xfrm>
            <a:off x="1739900" y="1193800"/>
            <a:ext cx="5664200" cy="3390900"/>
          </a:xfrm>
          <a:prstGeom prst="rect">
            <a:avLst/>
          </a:prstGeom>
          <a:noFill/>
          <a:ln w="9525">
            <a:noFill/>
            <a:headEnd/>
            <a:tailEnd/>
          </a:ln>
        </p:spPr>
      </p:pic>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marL="0" indent="0">
              <a:spcBef>
                <a:spcPts val="3000"/>
              </a:spcBef>
              <a:buNone/>
            </a:pPr>
            <a:r>
              <a:rPr b="1"/>
              <a:t>Installing </a:t>
            </a:r>
            <a:r>
              <a:rPr b="1">
                <a:latin typeface="Courier"/>
              </a:rPr>
              <a:t>R</a:t>
            </a:r>
            <a:r>
              <a:rPr b="1"/>
              <a:t> Package (Code)</a:t>
            </a:r>
          </a:p>
          <a:p>
            <a:pPr lvl="0" marL="0" indent="0">
              <a:buNone/>
            </a:pPr>
            <a:r>
              <a:rPr/>
              <a:t>To install an </a:t>
            </a:r>
            <a:r>
              <a:rPr>
                <a:latin typeface="Courier"/>
              </a:rPr>
              <a:t>R</a:t>
            </a:r>
            <a:r>
              <a:rPr/>
              <a:t> package, type in the </a:t>
            </a:r>
            <a:r>
              <a:rPr>
                <a:latin typeface="Courier"/>
              </a:rPr>
              <a:t>RStudio</a:t>
            </a:r>
            <a:r>
              <a:rPr/>
              <a:t> console</a:t>
            </a:r>
          </a:p>
          <a:p>
            <a:pPr lvl="0" indent="0">
              <a:buNone/>
            </a:pPr>
            <a:r>
              <a:rPr>
                <a:latin typeface="Courier"/>
              </a:rPr>
              <a:t>install.packages("replace_with_package_name")</a:t>
            </a:r>
          </a:p>
          <a:p>
            <a:pPr lvl="0" marL="0" indent="0">
              <a:buNone/>
            </a:pPr>
            <a:r>
              <a:rPr/>
              <a:t>Press enter to execute the command.</a:t>
            </a:r>
          </a:p>
          <a:p>
            <a:pPr lvl="0" marL="0" indent="0">
              <a:buNone/>
            </a:pPr>
            <a:r>
              <a:rPr/>
              <a:t>Once a package is installed, to use its contents in current </a:t>
            </a:r>
            <a:r>
              <a:rPr>
                <a:latin typeface="Courier"/>
              </a:rPr>
              <a:t>R</a:t>
            </a:r>
            <a:r>
              <a:rPr/>
              <a:t> session, we run in the </a:t>
            </a:r>
            <a:r>
              <a:rPr>
                <a:latin typeface="Courier"/>
              </a:rPr>
              <a:t>RStudio</a:t>
            </a:r>
            <a:r>
              <a:rPr/>
              <a:t> console the command</a:t>
            </a:r>
          </a:p>
          <a:p>
            <a:pPr lvl="0" indent="0">
              <a:buNone/>
            </a:pPr>
            <a:r>
              <a:rPr>
                <a:latin typeface="Courier"/>
              </a:rPr>
              <a:t>library(replace_with_package_name)</a:t>
            </a:r>
          </a:p>
          <a:p>
            <a:pPr lvl="0" marL="0" indent="0">
              <a:buNone/>
            </a:pPr>
            <a:r>
              <a:rPr/>
              <a:t>(Note the difference in presence of the quotation mark in the two above commands.)</a:t>
            </a:r>
          </a:p>
          <a:p>
            <a:pPr lvl="0" marL="0" indent="0">
              <a:spcBef>
                <a:spcPts val="3000"/>
              </a:spcBef>
              <a:buNone/>
            </a:pPr>
            <a:r>
              <a:rPr b="1"/>
              <a:t>Exercise: Install an </a:t>
            </a:r>
            <a:r>
              <a:rPr b="1">
                <a:latin typeface="Courier"/>
              </a:rPr>
              <a:t>R</a:t>
            </a:r>
            <a:r>
              <a:rPr b="1"/>
              <a:t> package</a:t>
            </a:r>
          </a:p>
          <a:p>
            <a:pPr lvl="0" marL="0" indent="0">
              <a:buNone/>
            </a:pPr>
            <a:r>
              <a:rPr/>
              <a:t>Use the above to install the </a:t>
            </a:r>
            <a:r>
              <a:rPr>
                <a:latin typeface="Courier"/>
              </a:rPr>
              <a:t>tidyverse</a:t>
            </a:r>
            <a:r>
              <a:rPr/>
              <a:t> package. Execute the </a:t>
            </a:r>
            <a:r>
              <a:rPr>
                <a:latin typeface="Courier"/>
              </a:rPr>
              <a:t>library(...)</a:t>
            </a:r>
            <a:r>
              <a:rPr/>
              <a:t> command above to check if the package loads successfully.</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mages/install_tidyverse.png" id="0" name="Picture 1"/>
          <p:cNvPicPr>
            <a:picLocks noGrp="1" noChangeAspect="1"/>
          </p:cNvPicPr>
          <p:nvPr/>
        </p:nvPicPr>
        <p:blipFill>
          <a:blip r:embed="rId2"/>
          <a:stretch>
            <a:fillRect/>
          </a:stretch>
        </p:blipFill>
        <p:spPr bwMode="auto">
          <a:xfrm>
            <a:off x="1739900" y="1193800"/>
            <a:ext cx="5664200" cy="3390900"/>
          </a:xfrm>
          <a:prstGeom prst="rect">
            <a:avLst/>
          </a:prstGeom>
          <a:noFill/>
          <a:ln w="9525">
            <a:noFill/>
            <a:headEnd/>
            <a:tailEnd/>
          </a:ln>
        </p:spPr>
      </p:pic>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mages/load_tidyverse.png" id="0" name="Picture 1"/>
          <p:cNvPicPr>
            <a:picLocks noGrp="1" noChangeAspect="1"/>
          </p:cNvPicPr>
          <p:nvPr/>
        </p:nvPicPr>
        <p:blipFill>
          <a:blip r:embed="rId2"/>
          <a:stretch>
            <a:fillRect/>
          </a:stretch>
        </p:blipFill>
        <p:spPr bwMode="auto">
          <a:xfrm>
            <a:off x="1739900" y="1193800"/>
            <a:ext cx="5664200" cy="3390900"/>
          </a:xfrm>
          <a:prstGeom prst="rect">
            <a:avLst/>
          </a:prstGeom>
          <a:noFill/>
          <a:ln w="9525">
            <a:noFill/>
            <a:headEnd/>
            <a:tailEnd/>
          </a:ln>
        </p:spPr>
      </p:pic>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mages/tidyverse_loaded.png" id="0" name="Picture 1"/>
          <p:cNvPicPr>
            <a:picLocks noGrp="1" noChangeAspect="1"/>
          </p:cNvPicPr>
          <p:nvPr/>
        </p:nvPicPr>
        <p:blipFill>
          <a:blip r:embed="rId2"/>
          <a:stretch>
            <a:fillRect/>
          </a:stretch>
        </p:blipFill>
        <p:spPr bwMode="auto">
          <a:xfrm>
            <a:off x="1739900" y="1193800"/>
            <a:ext cx="5664200" cy="3390900"/>
          </a:xfrm>
          <a:prstGeom prst="rect">
            <a:avLst/>
          </a:prstGeom>
          <a:noFill/>
          <a:ln w="9525">
            <a:noFill/>
            <a:headEnd/>
            <a:tailEnd/>
          </a:ln>
        </p:spPr>
      </p:pic>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marL="0" indent="0">
              <a:buNone/>
            </a:pPr>
            <a:r>
              <a:rPr/>
              <a:t>If you want extra practice, we will also be using the packages </a:t>
            </a:r>
            <a:r>
              <a:rPr>
                <a:latin typeface="Courier"/>
              </a:rPr>
              <a:t>rmarkdown</a:t>
            </a:r>
            <a:r>
              <a:rPr/>
              <a:t>, </a:t>
            </a:r>
            <a:r>
              <a:rPr>
                <a:latin typeface="Courier"/>
              </a:rPr>
              <a:t>naniar</a:t>
            </a:r>
            <a:r>
              <a:rPr/>
              <a:t>, and </a:t>
            </a:r>
            <a:r>
              <a:rPr>
                <a:latin typeface="Courier"/>
              </a:rPr>
              <a:t>janitor</a:t>
            </a:r>
            <a:r>
              <a:rPr/>
              <a:t>.</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TotalTime>
  <Words>4</Words>
  <Application>Microsoft Macintosh PowerPoint</Application>
  <PresentationFormat>On-screen Show (16:9)</PresentationFormat>
  <Paragraphs>2</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Courier New</vt:lpstr>
      <vt:lpstr>Lato</vt:lpstr>
      <vt:lpstr>Montserrat</vt:lpstr>
      <vt:lpstr>Wingdings</vt:lpstr>
      <vt:lpstr>Office Theme</vt:lpstr>
      <vt:lpstr>Basic 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 and RStudio Installation</dc:title>
  <dc:creator/>
  <cp:keywords/>
  <dcterms:created xsi:type="dcterms:W3CDTF">2026-06-12T16:57:47Z</dcterms:created>
  <dcterms:modified xsi:type="dcterms:W3CDTF">2026-06-12T16:57:47Z</dcterms:modified>
</cp:coreProperties>
</file>

<file path=docProps/custom.xml><?xml version="1.0" encoding="utf-8"?>
<Properties xmlns="http://schemas.openxmlformats.org/officeDocument/2006/custom-properties" xmlns:vt="http://schemas.openxmlformats.org/officeDocument/2006/docPropsVTypes"/>
</file>